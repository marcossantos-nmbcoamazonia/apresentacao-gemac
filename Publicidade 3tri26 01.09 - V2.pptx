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12192000" cy="6858000"/>
  <p:embeddedFontLst>
    <p:embeddedFont>
      <p:font typeface="Tahom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9f32be380_0_6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9f32be380_0_6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9f32be380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9f32be380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9f32be380_0_13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f9f32be380_0_13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9f32be380_0_17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f9f32be380_0_17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2A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99595" y="110236"/>
            <a:ext cx="626744" cy="97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997" y="1607033"/>
            <a:ext cx="4198253" cy="724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type="ctrTitle"/>
          </p:nvPr>
        </p:nvSpPr>
        <p:spPr>
          <a:xfrm>
            <a:off x="183895" y="2475102"/>
            <a:ext cx="5691505" cy="188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83895" y="4550816"/>
            <a:ext cx="3989070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E0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99596" y="110236"/>
            <a:ext cx="626744" cy="9702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306730" y="-13781"/>
            <a:ext cx="10750550" cy="13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970145" y="1914601"/>
            <a:ext cx="6704330" cy="148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E0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99596" y="110236"/>
            <a:ext cx="626744" cy="97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8750" y="-2"/>
            <a:ext cx="441325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45772" y="173445"/>
            <a:ext cx="371195" cy="29927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>
            <p:ph type="title"/>
          </p:nvPr>
        </p:nvSpPr>
        <p:spPr>
          <a:xfrm>
            <a:off x="306730" y="-13781"/>
            <a:ext cx="10750550" cy="13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06730" y="-13781"/>
            <a:ext cx="10750550" cy="13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06730" y="-13781"/>
            <a:ext cx="10750550" cy="13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970145" y="1914601"/>
            <a:ext cx="6704330" cy="148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0.jp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17.jpg"/><Relationship Id="rId5" Type="http://schemas.openxmlformats.org/officeDocument/2006/relationships/image" Target="../media/image19.jpg"/><Relationship Id="rId6" Type="http://schemas.openxmlformats.org/officeDocument/2006/relationships/image" Target="../media/image23.jpg"/><Relationship Id="rId7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10" Type="http://schemas.openxmlformats.org/officeDocument/2006/relationships/image" Target="../media/image30.png"/><Relationship Id="rId9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jpg"/><Relationship Id="rId4" Type="http://schemas.openxmlformats.org/officeDocument/2006/relationships/image" Target="../media/image38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9.jpg"/><Relationship Id="rId8" Type="http://schemas.openxmlformats.org/officeDocument/2006/relationships/image" Target="../media/image4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90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09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jpg"/><Relationship Id="rId10" Type="http://schemas.openxmlformats.org/officeDocument/2006/relationships/image" Target="../media/image50.jpg"/><Relationship Id="rId13" Type="http://schemas.openxmlformats.org/officeDocument/2006/relationships/image" Target="../media/image52.jpg"/><Relationship Id="rId12" Type="http://schemas.openxmlformats.org/officeDocument/2006/relationships/image" Target="../media/image51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47.jpg"/><Relationship Id="rId5" Type="http://schemas.openxmlformats.org/officeDocument/2006/relationships/image" Target="../media/image43.png"/><Relationship Id="rId6" Type="http://schemas.openxmlformats.org/officeDocument/2006/relationships/image" Target="../media/image45.png"/><Relationship Id="rId7" Type="http://schemas.openxmlformats.org/officeDocument/2006/relationships/image" Target="../media/image108.png"/><Relationship Id="rId8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54.png"/><Relationship Id="rId13" Type="http://schemas.openxmlformats.org/officeDocument/2006/relationships/image" Target="../media/image62.png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64.jpg"/><Relationship Id="rId9" Type="http://schemas.openxmlformats.org/officeDocument/2006/relationships/image" Target="../media/image58.png"/><Relationship Id="rId15" Type="http://schemas.openxmlformats.org/officeDocument/2006/relationships/image" Target="../media/image63.png"/><Relationship Id="rId14" Type="http://schemas.openxmlformats.org/officeDocument/2006/relationships/image" Target="../media/image61.png"/><Relationship Id="rId5" Type="http://schemas.openxmlformats.org/officeDocument/2006/relationships/image" Target="../media/image2.png"/><Relationship Id="rId6" Type="http://schemas.openxmlformats.org/officeDocument/2006/relationships/image" Target="../media/image55.png"/><Relationship Id="rId7" Type="http://schemas.openxmlformats.org/officeDocument/2006/relationships/image" Target="../media/image53.png"/><Relationship Id="rId8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71.png"/><Relationship Id="rId13" Type="http://schemas.openxmlformats.org/officeDocument/2006/relationships/image" Target="../media/image70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8.jpg"/><Relationship Id="rId15" Type="http://schemas.openxmlformats.org/officeDocument/2006/relationships/image" Target="../media/image72.png"/><Relationship Id="rId14" Type="http://schemas.openxmlformats.org/officeDocument/2006/relationships/image" Target="../media/image78.png"/><Relationship Id="rId5" Type="http://schemas.openxmlformats.org/officeDocument/2006/relationships/image" Target="../media/image66.jpg"/><Relationship Id="rId6" Type="http://schemas.openxmlformats.org/officeDocument/2006/relationships/image" Target="../media/image65.jpg"/><Relationship Id="rId7" Type="http://schemas.openxmlformats.org/officeDocument/2006/relationships/image" Target="../media/image69.jpg"/><Relationship Id="rId8" Type="http://schemas.openxmlformats.org/officeDocument/2006/relationships/image" Target="../media/image6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84.png"/></Relationships>
</file>

<file path=ppt/slides/_rels/slide22.xml.rels><?xml version="1.0" encoding="UTF-8" standalone="yes"?><Relationships xmlns="http://schemas.openxmlformats.org/package/2006/relationships"><Relationship Id="rId20" Type="http://schemas.openxmlformats.org/officeDocument/2006/relationships/image" Target="../media/image96.png"/><Relationship Id="rId22" Type="http://schemas.openxmlformats.org/officeDocument/2006/relationships/image" Target="../media/image105.png"/><Relationship Id="rId21" Type="http://schemas.openxmlformats.org/officeDocument/2006/relationships/image" Target="../media/image92.png"/><Relationship Id="rId24" Type="http://schemas.openxmlformats.org/officeDocument/2006/relationships/image" Target="../media/image95.png"/><Relationship Id="rId23" Type="http://schemas.openxmlformats.org/officeDocument/2006/relationships/image" Target="../media/image9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6.png"/><Relationship Id="rId26" Type="http://schemas.openxmlformats.org/officeDocument/2006/relationships/image" Target="../media/image101.png"/><Relationship Id="rId25" Type="http://schemas.openxmlformats.org/officeDocument/2006/relationships/image" Target="../media/image110.png"/><Relationship Id="rId28" Type="http://schemas.openxmlformats.org/officeDocument/2006/relationships/image" Target="../media/image98.png"/><Relationship Id="rId27" Type="http://schemas.openxmlformats.org/officeDocument/2006/relationships/image" Target="../media/image97.png"/><Relationship Id="rId5" Type="http://schemas.openxmlformats.org/officeDocument/2006/relationships/image" Target="../media/image75.png"/><Relationship Id="rId6" Type="http://schemas.openxmlformats.org/officeDocument/2006/relationships/image" Target="../media/image77.png"/><Relationship Id="rId29" Type="http://schemas.openxmlformats.org/officeDocument/2006/relationships/image" Target="../media/image102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31" Type="http://schemas.openxmlformats.org/officeDocument/2006/relationships/image" Target="../media/image103.png"/><Relationship Id="rId30" Type="http://schemas.openxmlformats.org/officeDocument/2006/relationships/image" Target="../media/image99.png"/><Relationship Id="rId11" Type="http://schemas.openxmlformats.org/officeDocument/2006/relationships/image" Target="../media/image85.png"/><Relationship Id="rId33" Type="http://schemas.openxmlformats.org/officeDocument/2006/relationships/image" Target="../media/image104.png"/><Relationship Id="rId10" Type="http://schemas.openxmlformats.org/officeDocument/2006/relationships/image" Target="../media/image81.png"/><Relationship Id="rId32" Type="http://schemas.openxmlformats.org/officeDocument/2006/relationships/image" Target="../media/image78.png"/><Relationship Id="rId13" Type="http://schemas.openxmlformats.org/officeDocument/2006/relationships/image" Target="../media/image82.png"/><Relationship Id="rId12" Type="http://schemas.openxmlformats.org/officeDocument/2006/relationships/image" Target="../media/image87.png"/><Relationship Id="rId15" Type="http://schemas.openxmlformats.org/officeDocument/2006/relationships/image" Target="../media/image83.png"/><Relationship Id="rId14" Type="http://schemas.openxmlformats.org/officeDocument/2006/relationships/image" Target="../media/image86.png"/><Relationship Id="rId17" Type="http://schemas.openxmlformats.org/officeDocument/2006/relationships/image" Target="../media/image89.png"/><Relationship Id="rId16" Type="http://schemas.openxmlformats.org/officeDocument/2006/relationships/image" Target="../media/image88.png"/><Relationship Id="rId19" Type="http://schemas.openxmlformats.org/officeDocument/2006/relationships/image" Target="../media/image91.png"/><Relationship Id="rId18" Type="http://schemas.openxmlformats.org/officeDocument/2006/relationships/image" Target="../media/image9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10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idx="1" type="subTitle"/>
          </p:nvPr>
        </p:nvSpPr>
        <p:spPr>
          <a:xfrm>
            <a:off x="183895" y="4550816"/>
            <a:ext cx="39891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Gerência Executiva de Marketing – GEMAC </a:t>
            </a:r>
            <a:r>
              <a:rPr b="0" lang="en-US" sz="1600">
                <a:solidFill>
                  <a:srgbClr val="00E02C"/>
                </a:solidFill>
              </a:rPr>
              <a:t>28</a:t>
            </a:r>
            <a:r>
              <a:rPr b="0" lang="en-US" sz="16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/0</a:t>
            </a:r>
            <a:r>
              <a:rPr b="0" lang="en-US" sz="1600">
                <a:solidFill>
                  <a:srgbClr val="00E02C"/>
                </a:solidFill>
              </a:rPr>
              <a:t>8</a:t>
            </a:r>
            <a:r>
              <a:rPr b="0" lang="en-US" sz="16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/2026 | DIREX / CONSAD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183895" y="6385052"/>
            <a:ext cx="74891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Fortalecendo negócios, reputação e presença institucional do Banco da Amazônia.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54" name="Google Shape;54;p7"/>
          <p:cNvSpPr txBox="1"/>
          <p:nvPr>
            <p:ph type="ctrTitle"/>
          </p:nvPr>
        </p:nvSpPr>
        <p:spPr>
          <a:xfrm>
            <a:off x="183895" y="2475102"/>
            <a:ext cx="56916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Marketing e Comunicação Resultados Estratégicos </a:t>
            </a:r>
            <a:r>
              <a:rPr lang="en-US" sz="36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Jan – </a:t>
            </a:r>
            <a:r>
              <a:rPr lang="en-US" sz="3600">
                <a:solidFill>
                  <a:srgbClr val="E2FF6A"/>
                </a:solidFill>
              </a:rPr>
              <a:t>Ago </a:t>
            </a:r>
            <a:r>
              <a:rPr lang="en-US" sz="36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8"/>
          <p:cNvGrpSpPr/>
          <p:nvPr/>
        </p:nvGrpSpPr>
        <p:grpSpPr>
          <a:xfrm>
            <a:off x="0" y="1607669"/>
            <a:ext cx="12191999" cy="5250329"/>
            <a:chOff x="0" y="1607669"/>
            <a:chExt cx="12191999" cy="5250329"/>
          </a:xfrm>
        </p:grpSpPr>
        <p:pic>
          <p:nvPicPr>
            <p:cNvPr id="60" name="Google Shape;6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646555"/>
              <a:ext cx="12191999" cy="52114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6047" y="1607669"/>
              <a:ext cx="4198253" cy="7247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8"/>
          <p:cNvSpPr txBox="1"/>
          <p:nvPr/>
        </p:nvSpPr>
        <p:spPr>
          <a:xfrm>
            <a:off x="183895" y="2942082"/>
            <a:ext cx="6426835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0" lvl="0" marL="12700" marR="508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rPr>
              <a:t>Um semestre desafiador para a comunicação pública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E0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9"/>
          <p:cNvGrpSpPr/>
          <p:nvPr/>
        </p:nvGrpSpPr>
        <p:grpSpPr>
          <a:xfrm>
            <a:off x="2485135" y="-2"/>
            <a:ext cx="9706864" cy="6858000"/>
            <a:chOff x="2485135" y="-2"/>
            <a:chExt cx="9706864" cy="6858000"/>
          </a:xfrm>
        </p:grpSpPr>
        <p:pic>
          <p:nvPicPr>
            <p:cNvPr id="69" name="Google Shape;69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99595" y="110236"/>
              <a:ext cx="626744" cy="97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639169" y="179169"/>
              <a:ext cx="371195" cy="2992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85135" y="-2"/>
              <a:ext cx="9706864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9"/>
          <p:cNvSpPr txBox="1"/>
          <p:nvPr/>
        </p:nvSpPr>
        <p:spPr>
          <a:xfrm>
            <a:off x="219557" y="1916125"/>
            <a:ext cx="8681085" cy="3989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43510" lvl="0" marL="1562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rPr>
              <a:t>Ano eleitoral com severas restrições legais e operacionais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43510" lvl="0" marL="1562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rPr>
              <a:t>Ambiente de fiscalização ampliada pela SECOM/PR e órgãos de controle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6845" lvl="0" marL="16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rPr>
              <a:t>Necessidade de fortalecer produtos mercadológicos e geração de negócios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7480" lvl="0" marL="170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rPr>
              <a:t>Competição crescente dos bancos digitais e fintechs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7480" lvl="0" marL="170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rPr>
              <a:t>Necessidade de presença regional forte na Amazônia Legal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7480" lvl="0" marL="17018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rPr>
              <a:t>Pressão por eficiência, rastreabilidade e mensuração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7480" lvl="0" marL="17018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2A2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rPr>
              <a:t>Necessidade de proteção reputacional e aderência normativa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73" name="Google Shape;73;p9"/>
          <p:cNvSpPr txBox="1"/>
          <p:nvPr>
            <p:ph type="title"/>
          </p:nvPr>
        </p:nvSpPr>
        <p:spPr>
          <a:xfrm>
            <a:off x="306730" y="-13781"/>
            <a:ext cx="10750550" cy="13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075">
            <a:spAutoFit/>
          </a:bodyPr>
          <a:lstStyle/>
          <a:p>
            <a:pPr indent="-2583815" lvl="0" marL="34188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O Banco precisou equilibrar governança pública rigorosa com competitividade de mercado.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9595" y="110236"/>
            <a:ext cx="626744" cy="97028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80" name="Google Shape;80;p10"/>
          <p:cNvSpPr txBox="1"/>
          <p:nvPr>
            <p:ph type="title"/>
          </p:nvPr>
        </p:nvSpPr>
        <p:spPr>
          <a:xfrm>
            <a:off x="306730" y="-13781"/>
            <a:ext cx="107505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5575">
            <a:spAutoFit/>
          </a:bodyPr>
          <a:lstStyle/>
          <a:p>
            <a:pPr indent="0" lvl="0" marL="210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COMUNICAÇÃO EM NÚMEROS</a:t>
            </a:r>
            <a:endParaRPr sz="3200"/>
          </a:p>
          <a:p>
            <a:pPr indent="0" lvl="0" marL="21082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rPr lang="en-US" sz="1200" u="sng"/>
              <a:t>Jan – Ago 2026 | Resultados Consolidados</a:t>
            </a:r>
            <a:endParaRPr sz="1200"/>
          </a:p>
        </p:txBody>
      </p:sp>
      <p:grpSp>
        <p:nvGrpSpPr>
          <p:cNvPr id="81" name="Google Shape;81;p10"/>
          <p:cNvGrpSpPr/>
          <p:nvPr/>
        </p:nvGrpSpPr>
        <p:grpSpPr>
          <a:xfrm>
            <a:off x="211836" y="1028700"/>
            <a:ext cx="3907536" cy="2627376"/>
            <a:chOff x="211836" y="1028700"/>
            <a:chExt cx="3907536" cy="2627376"/>
          </a:xfrm>
        </p:grpSpPr>
        <p:pic>
          <p:nvPicPr>
            <p:cNvPr id="82" name="Google Shape;8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1836" y="1028700"/>
              <a:ext cx="3907536" cy="2627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0"/>
            <p:cNvSpPr/>
            <p:nvPr/>
          </p:nvSpPr>
          <p:spPr>
            <a:xfrm>
              <a:off x="304800" y="1121664"/>
              <a:ext cx="3657600" cy="2377440"/>
            </a:xfrm>
            <a:custGeom>
              <a:rect b="b" l="l" r="r" t="t"/>
              <a:pathLst>
                <a:path extrusionOk="0" h="2377440" w="3657600">
                  <a:moveTo>
                    <a:pt x="3499104" y="0"/>
                  </a:moveTo>
                  <a:lnTo>
                    <a:pt x="158508" y="0"/>
                  </a:lnTo>
                  <a:lnTo>
                    <a:pt x="108408" y="8083"/>
                  </a:lnTo>
                  <a:lnTo>
                    <a:pt x="64895" y="30589"/>
                  </a:lnTo>
                  <a:lnTo>
                    <a:pt x="30583" y="64904"/>
                  </a:lnTo>
                  <a:lnTo>
                    <a:pt x="8080" y="108411"/>
                  </a:lnTo>
                  <a:lnTo>
                    <a:pt x="0" y="158496"/>
                  </a:lnTo>
                  <a:lnTo>
                    <a:pt x="0" y="2218944"/>
                  </a:lnTo>
                  <a:lnTo>
                    <a:pt x="8080" y="2269028"/>
                  </a:lnTo>
                  <a:lnTo>
                    <a:pt x="30583" y="2312535"/>
                  </a:lnTo>
                  <a:lnTo>
                    <a:pt x="64895" y="2346850"/>
                  </a:lnTo>
                  <a:lnTo>
                    <a:pt x="108408" y="2369356"/>
                  </a:lnTo>
                  <a:lnTo>
                    <a:pt x="158508" y="2377440"/>
                  </a:lnTo>
                  <a:lnTo>
                    <a:pt x="3499104" y="2377440"/>
                  </a:lnTo>
                  <a:lnTo>
                    <a:pt x="3549188" y="2369356"/>
                  </a:lnTo>
                  <a:lnTo>
                    <a:pt x="3592695" y="2346850"/>
                  </a:lnTo>
                  <a:lnTo>
                    <a:pt x="3627010" y="2312535"/>
                  </a:lnTo>
                  <a:lnTo>
                    <a:pt x="3649516" y="2269028"/>
                  </a:lnTo>
                  <a:lnTo>
                    <a:pt x="3657600" y="2218944"/>
                  </a:lnTo>
                  <a:lnTo>
                    <a:pt x="3657600" y="158496"/>
                  </a:lnTo>
                  <a:lnTo>
                    <a:pt x="3649516" y="108411"/>
                  </a:lnTo>
                  <a:lnTo>
                    <a:pt x="3627010" y="64904"/>
                  </a:lnTo>
                  <a:lnTo>
                    <a:pt x="3592695" y="30589"/>
                  </a:lnTo>
                  <a:lnTo>
                    <a:pt x="3549188" y="8083"/>
                  </a:lnTo>
                  <a:lnTo>
                    <a:pt x="349910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10"/>
          <p:cNvSpPr txBox="1"/>
          <p:nvPr/>
        </p:nvSpPr>
        <p:spPr>
          <a:xfrm>
            <a:off x="1135176" y="1746348"/>
            <a:ext cx="1995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2FF6A"/>
                </a:solidFill>
              </a:rPr>
              <a:t>56 </a:t>
            </a:r>
            <a:r>
              <a:rPr b="1" lang="en-US" sz="4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MIL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Leads Gerados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85" name="Google Shape;85;p10"/>
          <p:cNvGrpSpPr/>
          <p:nvPr/>
        </p:nvGrpSpPr>
        <p:grpSpPr>
          <a:xfrm>
            <a:off x="4137659" y="1028700"/>
            <a:ext cx="3907536" cy="2627376"/>
            <a:chOff x="4137659" y="1028700"/>
            <a:chExt cx="3907536" cy="2627376"/>
          </a:xfrm>
        </p:grpSpPr>
        <p:pic>
          <p:nvPicPr>
            <p:cNvPr id="86" name="Google Shape;86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37659" y="1028700"/>
              <a:ext cx="3907536" cy="2627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0"/>
            <p:cNvSpPr/>
            <p:nvPr/>
          </p:nvSpPr>
          <p:spPr>
            <a:xfrm>
              <a:off x="4230623" y="1121664"/>
              <a:ext cx="3657600" cy="2377440"/>
            </a:xfrm>
            <a:custGeom>
              <a:rect b="b" l="l" r="r" t="t"/>
              <a:pathLst>
                <a:path extrusionOk="0" h="2377440" w="3657600">
                  <a:moveTo>
                    <a:pt x="3499104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2218944"/>
                  </a:lnTo>
                  <a:lnTo>
                    <a:pt x="8083" y="2269028"/>
                  </a:lnTo>
                  <a:lnTo>
                    <a:pt x="30589" y="2312535"/>
                  </a:lnTo>
                  <a:lnTo>
                    <a:pt x="64904" y="2346850"/>
                  </a:lnTo>
                  <a:lnTo>
                    <a:pt x="108411" y="2369356"/>
                  </a:lnTo>
                  <a:lnTo>
                    <a:pt x="158496" y="2377440"/>
                  </a:lnTo>
                  <a:lnTo>
                    <a:pt x="3499104" y="2377440"/>
                  </a:lnTo>
                  <a:lnTo>
                    <a:pt x="3549188" y="2369356"/>
                  </a:lnTo>
                  <a:lnTo>
                    <a:pt x="3592695" y="2346850"/>
                  </a:lnTo>
                  <a:lnTo>
                    <a:pt x="3627010" y="2312535"/>
                  </a:lnTo>
                  <a:lnTo>
                    <a:pt x="3649516" y="2269028"/>
                  </a:lnTo>
                  <a:lnTo>
                    <a:pt x="3657600" y="2218944"/>
                  </a:lnTo>
                  <a:lnTo>
                    <a:pt x="3657600" y="158496"/>
                  </a:lnTo>
                  <a:lnTo>
                    <a:pt x="3649516" y="108411"/>
                  </a:lnTo>
                  <a:lnTo>
                    <a:pt x="3627010" y="64904"/>
                  </a:lnTo>
                  <a:lnTo>
                    <a:pt x="3592695" y="30589"/>
                  </a:lnTo>
                  <a:lnTo>
                    <a:pt x="3549188" y="8083"/>
                  </a:lnTo>
                  <a:lnTo>
                    <a:pt x="349910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0"/>
          <p:cNvSpPr txBox="1"/>
          <p:nvPr/>
        </p:nvSpPr>
        <p:spPr>
          <a:xfrm>
            <a:off x="4755007" y="1746348"/>
            <a:ext cx="26142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2FF6A"/>
                </a:solidFill>
              </a:rPr>
              <a:t>317 </a:t>
            </a:r>
            <a:r>
              <a:rPr b="1" lang="en-US" sz="4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Mi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Impressões Digitais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89" name="Google Shape;89;p10"/>
          <p:cNvGrpSpPr/>
          <p:nvPr/>
        </p:nvGrpSpPr>
        <p:grpSpPr>
          <a:xfrm>
            <a:off x="8063483" y="1028700"/>
            <a:ext cx="3907535" cy="2627376"/>
            <a:chOff x="8063483" y="1028700"/>
            <a:chExt cx="3907535" cy="2627376"/>
          </a:xfrm>
        </p:grpSpPr>
        <p:pic>
          <p:nvPicPr>
            <p:cNvPr id="90" name="Google Shape;90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63483" y="1028700"/>
              <a:ext cx="3907535" cy="2627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0"/>
            <p:cNvSpPr/>
            <p:nvPr/>
          </p:nvSpPr>
          <p:spPr>
            <a:xfrm>
              <a:off x="8156447" y="1121664"/>
              <a:ext cx="3657600" cy="2377440"/>
            </a:xfrm>
            <a:custGeom>
              <a:rect b="b" l="l" r="r" t="t"/>
              <a:pathLst>
                <a:path extrusionOk="0" h="2377440" w="3657600">
                  <a:moveTo>
                    <a:pt x="3499104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2218944"/>
                  </a:lnTo>
                  <a:lnTo>
                    <a:pt x="8083" y="2269028"/>
                  </a:lnTo>
                  <a:lnTo>
                    <a:pt x="30589" y="2312535"/>
                  </a:lnTo>
                  <a:lnTo>
                    <a:pt x="64904" y="2346850"/>
                  </a:lnTo>
                  <a:lnTo>
                    <a:pt x="108411" y="2369356"/>
                  </a:lnTo>
                  <a:lnTo>
                    <a:pt x="158496" y="2377440"/>
                  </a:lnTo>
                  <a:lnTo>
                    <a:pt x="3499104" y="2377440"/>
                  </a:lnTo>
                  <a:lnTo>
                    <a:pt x="3549188" y="2369356"/>
                  </a:lnTo>
                  <a:lnTo>
                    <a:pt x="3592695" y="2346850"/>
                  </a:lnTo>
                  <a:lnTo>
                    <a:pt x="3627010" y="2312535"/>
                  </a:lnTo>
                  <a:lnTo>
                    <a:pt x="3649516" y="2269028"/>
                  </a:lnTo>
                  <a:lnTo>
                    <a:pt x="3657600" y="2218944"/>
                  </a:lnTo>
                  <a:lnTo>
                    <a:pt x="3657600" y="158496"/>
                  </a:lnTo>
                  <a:lnTo>
                    <a:pt x="3649516" y="108411"/>
                  </a:lnTo>
                  <a:lnTo>
                    <a:pt x="3627010" y="64904"/>
                  </a:lnTo>
                  <a:lnTo>
                    <a:pt x="3592695" y="30589"/>
                  </a:lnTo>
                  <a:lnTo>
                    <a:pt x="3549188" y="8083"/>
                  </a:lnTo>
                  <a:lnTo>
                    <a:pt x="349910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0"/>
          <p:cNvSpPr txBox="1"/>
          <p:nvPr/>
        </p:nvSpPr>
        <p:spPr>
          <a:xfrm>
            <a:off x="8990838" y="1746348"/>
            <a:ext cx="1992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2FF6A"/>
                </a:solidFill>
              </a:rPr>
              <a:t>648 </a:t>
            </a:r>
            <a:r>
              <a:rPr b="1" lang="en-US" sz="4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Mi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Impactos OOH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3" name="Google Shape;93;p10"/>
          <p:cNvGrpSpPr/>
          <p:nvPr/>
        </p:nvGrpSpPr>
        <p:grpSpPr>
          <a:xfrm>
            <a:off x="211836" y="3710927"/>
            <a:ext cx="3907536" cy="2627376"/>
            <a:chOff x="211836" y="3710927"/>
            <a:chExt cx="3907536" cy="2627376"/>
          </a:xfrm>
        </p:grpSpPr>
        <p:pic>
          <p:nvPicPr>
            <p:cNvPr id="94" name="Google Shape;9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1836" y="3710927"/>
              <a:ext cx="3907536" cy="2627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0"/>
            <p:cNvSpPr/>
            <p:nvPr/>
          </p:nvSpPr>
          <p:spPr>
            <a:xfrm>
              <a:off x="304800" y="3803904"/>
              <a:ext cx="3657600" cy="2377440"/>
            </a:xfrm>
            <a:custGeom>
              <a:rect b="b" l="l" r="r" t="t"/>
              <a:pathLst>
                <a:path extrusionOk="0" h="2377440" w="3657600">
                  <a:moveTo>
                    <a:pt x="3499104" y="0"/>
                  </a:moveTo>
                  <a:lnTo>
                    <a:pt x="158508" y="0"/>
                  </a:lnTo>
                  <a:lnTo>
                    <a:pt x="108408" y="8083"/>
                  </a:lnTo>
                  <a:lnTo>
                    <a:pt x="64895" y="30589"/>
                  </a:lnTo>
                  <a:lnTo>
                    <a:pt x="30583" y="64904"/>
                  </a:lnTo>
                  <a:lnTo>
                    <a:pt x="8080" y="108411"/>
                  </a:lnTo>
                  <a:lnTo>
                    <a:pt x="0" y="158496"/>
                  </a:lnTo>
                  <a:lnTo>
                    <a:pt x="0" y="2218931"/>
                  </a:lnTo>
                  <a:lnTo>
                    <a:pt x="8080" y="2269031"/>
                  </a:lnTo>
                  <a:lnTo>
                    <a:pt x="30583" y="2312544"/>
                  </a:lnTo>
                  <a:lnTo>
                    <a:pt x="64895" y="2346856"/>
                  </a:lnTo>
                  <a:lnTo>
                    <a:pt x="108408" y="2369359"/>
                  </a:lnTo>
                  <a:lnTo>
                    <a:pt x="158508" y="2377440"/>
                  </a:lnTo>
                  <a:lnTo>
                    <a:pt x="3499104" y="2377440"/>
                  </a:lnTo>
                  <a:lnTo>
                    <a:pt x="3549188" y="2369359"/>
                  </a:lnTo>
                  <a:lnTo>
                    <a:pt x="3592695" y="2346856"/>
                  </a:lnTo>
                  <a:lnTo>
                    <a:pt x="3627010" y="2312544"/>
                  </a:lnTo>
                  <a:lnTo>
                    <a:pt x="3649516" y="2269031"/>
                  </a:lnTo>
                  <a:lnTo>
                    <a:pt x="3657600" y="2218931"/>
                  </a:lnTo>
                  <a:lnTo>
                    <a:pt x="3657600" y="158496"/>
                  </a:lnTo>
                  <a:lnTo>
                    <a:pt x="3649516" y="108411"/>
                  </a:lnTo>
                  <a:lnTo>
                    <a:pt x="3627010" y="64904"/>
                  </a:lnTo>
                  <a:lnTo>
                    <a:pt x="3592695" y="30589"/>
                  </a:lnTo>
                  <a:lnTo>
                    <a:pt x="3549188" y="8083"/>
                  </a:lnTo>
                  <a:lnTo>
                    <a:pt x="349910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0"/>
          <p:cNvSpPr txBox="1"/>
          <p:nvPr/>
        </p:nvSpPr>
        <p:spPr>
          <a:xfrm>
            <a:off x="606348" y="4429222"/>
            <a:ext cx="3054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2FF6A"/>
                </a:solidFill>
              </a:rPr>
              <a:t>x 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Impactos Espontâneos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7" name="Google Shape;97;p10"/>
          <p:cNvGrpSpPr/>
          <p:nvPr/>
        </p:nvGrpSpPr>
        <p:grpSpPr>
          <a:xfrm>
            <a:off x="4049734" y="3693702"/>
            <a:ext cx="3907536" cy="2627376"/>
            <a:chOff x="4137659" y="3710927"/>
            <a:chExt cx="3907536" cy="2627376"/>
          </a:xfrm>
        </p:grpSpPr>
        <p:pic>
          <p:nvPicPr>
            <p:cNvPr id="98" name="Google Shape;98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37659" y="3710927"/>
              <a:ext cx="3907536" cy="2627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0"/>
            <p:cNvSpPr/>
            <p:nvPr/>
          </p:nvSpPr>
          <p:spPr>
            <a:xfrm>
              <a:off x="4230623" y="3803904"/>
              <a:ext cx="3657600" cy="2377440"/>
            </a:xfrm>
            <a:custGeom>
              <a:rect b="b" l="l" r="r" t="t"/>
              <a:pathLst>
                <a:path extrusionOk="0" h="2377440" w="3657600">
                  <a:moveTo>
                    <a:pt x="3499104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2218931"/>
                  </a:lnTo>
                  <a:lnTo>
                    <a:pt x="8083" y="2269031"/>
                  </a:lnTo>
                  <a:lnTo>
                    <a:pt x="30589" y="2312544"/>
                  </a:lnTo>
                  <a:lnTo>
                    <a:pt x="64904" y="2346856"/>
                  </a:lnTo>
                  <a:lnTo>
                    <a:pt x="108411" y="2369359"/>
                  </a:lnTo>
                  <a:lnTo>
                    <a:pt x="158496" y="2377440"/>
                  </a:lnTo>
                  <a:lnTo>
                    <a:pt x="3499104" y="2377440"/>
                  </a:lnTo>
                  <a:lnTo>
                    <a:pt x="3549188" y="2369359"/>
                  </a:lnTo>
                  <a:lnTo>
                    <a:pt x="3592695" y="2346856"/>
                  </a:lnTo>
                  <a:lnTo>
                    <a:pt x="3627010" y="2312544"/>
                  </a:lnTo>
                  <a:lnTo>
                    <a:pt x="3649516" y="2269031"/>
                  </a:lnTo>
                  <a:lnTo>
                    <a:pt x="3657600" y="2218931"/>
                  </a:lnTo>
                  <a:lnTo>
                    <a:pt x="3657600" y="158496"/>
                  </a:lnTo>
                  <a:lnTo>
                    <a:pt x="3649516" y="108411"/>
                  </a:lnTo>
                  <a:lnTo>
                    <a:pt x="3627010" y="64904"/>
                  </a:lnTo>
                  <a:lnTo>
                    <a:pt x="3592695" y="30589"/>
                  </a:lnTo>
                  <a:lnTo>
                    <a:pt x="3549188" y="8083"/>
                  </a:lnTo>
                  <a:lnTo>
                    <a:pt x="349910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0"/>
          <p:cNvSpPr txBox="1"/>
          <p:nvPr/>
        </p:nvSpPr>
        <p:spPr>
          <a:xfrm>
            <a:off x="4137650" y="4447413"/>
            <a:ext cx="3593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R$ </a:t>
            </a:r>
            <a:r>
              <a:rPr b="1" lang="en-US" sz="4000">
                <a:solidFill>
                  <a:srgbClr val="E2FF6A"/>
                </a:solidFill>
              </a:rPr>
              <a:t>11,843</a:t>
            </a:r>
            <a:r>
              <a:rPr b="1" lang="en-US" sz="4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 Mi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6096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Valor Midiático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8063483" y="3710927"/>
            <a:ext cx="3907535" cy="2627376"/>
            <a:chOff x="8063483" y="3710927"/>
            <a:chExt cx="3907535" cy="2627376"/>
          </a:xfrm>
        </p:grpSpPr>
        <p:pic>
          <p:nvPicPr>
            <p:cNvPr id="102" name="Google Shape;10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63483" y="3710927"/>
              <a:ext cx="3907535" cy="2627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0"/>
            <p:cNvSpPr/>
            <p:nvPr/>
          </p:nvSpPr>
          <p:spPr>
            <a:xfrm>
              <a:off x="8156447" y="3803904"/>
              <a:ext cx="3657600" cy="2377440"/>
            </a:xfrm>
            <a:custGeom>
              <a:rect b="b" l="l" r="r" t="t"/>
              <a:pathLst>
                <a:path extrusionOk="0" h="2377440" w="3657600">
                  <a:moveTo>
                    <a:pt x="3499104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2218931"/>
                  </a:lnTo>
                  <a:lnTo>
                    <a:pt x="8083" y="2269031"/>
                  </a:lnTo>
                  <a:lnTo>
                    <a:pt x="30589" y="2312544"/>
                  </a:lnTo>
                  <a:lnTo>
                    <a:pt x="64904" y="2346856"/>
                  </a:lnTo>
                  <a:lnTo>
                    <a:pt x="108411" y="2369359"/>
                  </a:lnTo>
                  <a:lnTo>
                    <a:pt x="158496" y="2377440"/>
                  </a:lnTo>
                  <a:lnTo>
                    <a:pt x="3499104" y="2377440"/>
                  </a:lnTo>
                  <a:lnTo>
                    <a:pt x="3549188" y="2369359"/>
                  </a:lnTo>
                  <a:lnTo>
                    <a:pt x="3592695" y="2346856"/>
                  </a:lnTo>
                  <a:lnTo>
                    <a:pt x="3627010" y="2312544"/>
                  </a:lnTo>
                  <a:lnTo>
                    <a:pt x="3649516" y="2269031"/>
                  </a:lnTo>
                  <a:lnTo>
                    <a:pt x="3657600" y="2218931"/>
                  </a:lnTo>
                  <a:lnTo>
                    <a:pt x="3657600" y="158496"/>
                  </a:lnTo>
                  <a:lnTo>
                    <a:pt x="3649516" y="108411"/>
                  </a:lnTo>
                  <a:lnTo>
                    <a:pt x="3627010" y="64904"/>
                  </a:lnTo>
                  <a:lnTo>
                    <a:pt x="3592695" y="30589"/>
                  </a:lnTo>
                  <a:lnTo>
                    <a:pt x="3549188" y="8083"/>
                  </a:lnTo>
                  <a:lnTo>
                    <a:pt x="3499104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0"/>
          <p:cNvSpPr txBox="1"/>
          <p:nvPr/>
        </p:nvSpPr>
        <p:spPr>
          <a:xfrm>
            <a:off x="8664702" y="4429222"/>
            <a:ext cx="2642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E02C"/>
                </a:solidFill>
              </a:rPr>
              <a:t>x</a:t>
            </a:r>
            <a:r>
              <a:rPr b="1" lang="en-US" sz="40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Sentimento Positivo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9595" y="110236"/>
            <a:ext cx="626744" cy="97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4389120" y="1828800"/>
            <a:ext cx="3413760" cy="3413760"/>
          </a:xfrm>
          <a:custGeom>
            <a:rect b="b" l="l" r="r" t="t"/>
            <a:pathLst>
              <a:path extrusionOk="0" h="3413760" w="3413759">
                <a:moveTo>
                  <a:pt x="1706879" y="0"/>
                </a:moveTo>
                <a:lnTo>
                  <a:pt x="1658280" y="678"/>
                </a:lnTo>
                <a:lnTo>
                  <a:pt x="1610018" y="2701"/>
                </a:lnTo>
                <a:lnTo>
                  <a:pt x="1562109" y="6052"/>
                </a:lnTo>
                <a:lnTo>
                  <a:pt x="1514574" y="10711"/>
                </a:lnTo>
                <a:lnTo>
                  <a:pt x="1467429" y="16661"/>
                </a:lnTo>
                <a:lnTo>
                  <a:pt x="1420692" y="23884"/>
                </a:lnTo>
                <a:lnTo>
                  <a:pt x="1374382" y="32362"/>
                </a:lnTo>
                <a:lnTo>
                  <a:pt x="1328516" y="42077"/>
                </a:lnTo>
                <a:lnTo>
                  <a:pt x="1283113" y="53011"/>
                </a:lnTo>
                <a:lnTo>
                  <a:pt x="1238191" y="65146"/>
                </a:lnTo>
                <a:lnTo>
                  <a:pt x="1193767" y="78463"/>
                </a:lnTo>
                <a:lnTo>
                  <a:pt x="1149859" y="92945"/>
                </a:lnTo>
                <a:lnTo>
                  <a:pt x="1106487" y="108575"/>
                </a:lnTo>
                <a:lnTo>
                  <a:pt x="1063666" y="125333"/>
                </a:lnTo>
                <a:lnTo>
                  <a:pt x="1021417" y="143202"/>
                </a:lnTo>
                <a:lnTo>
                  <a:pt x="979756" y="162163"/>
                </a:lnTo>
                <a:lnTo>
                  <a:pt x="938701" y="182200"/>
                </a:lnTo>
                <a:lnTo>
                  <a:pt x="898272" y="203293"/>
                </a:lnTo>
                <a:lnTo>
                  <a:pt x="858484" y="225425"/>
                </a:lnTo>
                <a:lnTo>
                  <a:pt x="819358" y="248578"/>
                </a:lnTo>
                <a:lnTo>
                  <a:pt x="780910" y="272734"/>
                </a:lnTo>
                <a:lnTo>
                  <a:pt x="743159" y="297874"/>
                </a:lnTo>
                <a:lnTo>
                  <a:pt x="706122" y="323982"/>
                </a:lnTo>
                <a:lnTo>
                  <a:pt x="669818" y="351038"/>
                </a:lnTo>
                <a:lnTo>
                  <a:pt x="634265" y="379025"/>
                </a:lnTo>
                <a:lnTo>
                  <a:pt x="599481" y="407924"/>
                </a:lnTo>
                <a:lnTo>
                  <a:pt x="565483" y="437718"/>
                </a:lnTo>
                <a:lnTo>
                  <a:pt x="532290" y="468389"/>
                </a:lnTo>
                <a:lnTo>
                  <a:pt x="499919" y="499919"/>
                </a:lnTo>
                <a:lnTo>
                  <a:pt x="468389" y="532290"/>
                </a:lnTo>
                <a:lnTo>
                  <a:pt x="437718" y="565483"/>
                </a:lnTo>
                <a:lnTo>
                  <a:pt x="407924" y="599481"/>
                </a:lnTo>
                <a:lnTo>
                  <a:pt x="379025" y="634265"/>
                </a:lnTo>
                <a:lnTo>
                  <a:pt x="351038" y="669818"/>
                </a:lnTo>
                <a:lnTo>
                  <a:pt x="323982" y="706122"/>
                </a:lnTo>
                <a:lnTo>
                  <a:pt x="297874" y="743159"/>
                </a:lnTo>
                <a:lnTo>
                  <a:pt x="272734" y="780910"/>
                </a:lnTo>
                <a:lnTo>
                  <a:pt x="248578" y="819358"/>
                </a:lnTo>
                <a:lnTo>
                  <a:pt x="225425" y="858484"/>
                </a:lnTo>
                <a:lnTo>
                  <a:pt x="203293" y="898272"/>
                </a:lnTo>
                <a:lnTo>
                  <a:pt x="182200" y="938701"/>
                </a:lnTo>
                <a:lnTo>
                  <a:pt x="162163" y="979756"/>
                </a:lnTo>
                <a:lnTo>
                  <a:pt x="143202" y="1021417"/>
                </a:lnTo>
                <a:lnTo>
                  <a:pt x="125333" y="1063666"/>
                </a:lnTo>
                <a:lnTo>
                  <a:pt x="108575" y="1106487"/>
                </a:lnTo>
                <a:lnTo>
                  <a:pt x="92945" y="1149859"/>
                </a:lnTo>
                <a:lnTo>
                  <a:pt x="78463" y="1193767"/>
                </a:lnTo>
                <a:lnTo>
                  <a:pt x="65146" y="1238191"/>
                </a:lnTo>
                <a:lnTo>
                  <a:pt x="53011" y="1283113"/>
                </a:lnTo>
                <a:lnTo>
                  <a:pt x="42077" y="1328516"/>
                </a:lnTo>
                <a:lnTo>
                  <a:pt x="32362" y="1374382"/>
                </a:lnTo>
                <a:lnTo>
                  <a:pt x="23884" y="1420692"/>
                </a:lnTo>
                <a:lnTo>
                  <a:pt x="16661" y="1467429"/>
                </a:lnTo>
                <a:lnTo>
                  <a:pt x="10711" y="1514574"/>
                </a:lnTo>
                <a:lnTo>
                  <a:pt x="6052" y="1562109"/>
                </a:lnTo>
                <a:lnTo>
                  <a:pt x="2701" y="1610018"/>
                </a:lnTo>
                <a:lnTo>
                  <a:pt x="678" y="1658280"/>
                </a:lnTo>
                <a:lnTo>
                  <a:pt x="0" y="1706879"/>
                </a:lnTo>
                <a:lnTo>
                  <a:pt x="678" y="1755479"/>
                </a:lnTo>
                <a:lnTo>
                  <a:pt x="2701" y="1803741"/>
                </a:lnTo>
                <a:lnTo>
                  <a:pt x="6052" y="1851650"/>
                </a:lnTo>
                <a:lnTo>
                  <a:pt x="10711" y="1899185"/>
                </a:lnTo>
                <a:lnTo>
                  <a:pt x="16661" y="1946330"/>
                </a:lnTo>
                <a:lnTo>
                  <a:pt x="23884" y="1993067"/>
                </a:lnTo>
                <a:lnTo>
                  <a:pt x="32362" y="2039377"/>
                </a:lnTo>
                <a:lnTo>
                  <a:pt x="42077" y="2085243"/>
                </a:lnTo>
                <a:lnTo>
                  <a:pt x="53011" y="2130646"/>
                </a:lnTo>
                <a:lnTo>
                  <a:pt x="65146" y="2175568"/>
                </a:lnTo>
                <a:lnTo>
                  <a:pt x="78463" y="2219992"/>
                </a:lnTo>
                <a:lnTo>
                  <a:pt x="92945" y="2263900"/>
                </a:lnTo>
                <a:lnTo>
                  <a:pt x="108575" y="2307272"/>
                </a:lnTo>
                <a:lnTo>
                  <a:pt x="125333" y="2350093"/>
                </a:lnTo>
                <a:lnTo>
                  <a:pt x="143202" y="2392342"/>
                </a:lnTo>
                <a:lnTo>
                  <a:pt x="162163" y="2434003"/>
                </a:lnTo>
                <a:lnTo>
                  <a:pt x="182200" y="2475058"/>
                </a:lnTo>
                <a:lnTo>
                  <a:pt x="203293" y="2515487"/>
                </a:lnTo>
                <a:lnTo>
                  <a:pt x="225425" y="2555275"/>
                </a:lnTo>
                <a:lnTo>
                  <a:pt x="248578" y="2594401"/>
                </a:lnTo>
                <a:lnTo>
                  <a:pt x="272734" y="2632849"/>
                </a:lnTo>
                <a:lnTo>
                  <a:pt x="297874" y="2670600"/>
                </a:lnTo>
                <a:lnTo>
                  <a:pt x="323982" y="2707637"/>
                </a:lnTo>
                <a:lnTo>
                  <a:pt x="351038" y="2743941"/>
                </a:lnTo>
                <a:lnTo>
                  <a:pt x="379025" y="2779494"/>
                </a:lnTo>
                <a:lnTo>
                  <a:pt x="407924" y="2814278"/>
                </a:lnTo>
                <a:lnTo>
                  <a:pt x="437718" y="2848276"/>
                </a:lnTo>
                <a:lnTo>
                  <a:pt x="468389" y="2881469"/>
                </a:lnTo>
                <a:lnTo>
                  <a:pt x="499919" y="2913840"/>
                </a:lnTo>
                <a:lnTo>
                  <a:pt x="532290" y="2945370"/>
                </a:lnTo>
                <a:lnTo>
                  <a:pt x="565483" y="2976041"/>
                </a:lnTo>
                <a:lnTo>
                  <a:pt x="599481" y="3005835"/>
                </a:lnTo>
                <a:lnTo>
                  <a:pt x="634265" y="3034734"/>
                </a:lnTo>
                <a:lnTo>
                  <a:pt x="669818" y="3062721"/>
                </a:lnTo>
                <a:lnTo>
                  <a:pt x="706122" y="3089777"/>
                </a:lnTo>
                <a:lnTo>
                  <a:pt x="743159" y="3115885"/>
                </a:lnTo>
                <a:lnTo>
                  <a:pt x="780910" y="3141025"/>
                </a:lnTo>
                <a:lnTo>
                  <a:pt x="819358" y="3165181"/>
                </a:lnTo>
                <a:lnTo>
                  <a:pt x="858484" y="3188334"/>
                </a:lnTo>
                <a:lnTo>
                  <a:pt x="898272" y="3210466"/>
                </a:lnTo>
                <a:lnTo>
                  <a:pt x="938701" y="3231559"/>
                </a:lnTo>
                <a:lnTo>
                  <a:pt x="979756" y="3251596"/>
                </a:lnTo>
                <a:lnTo>
                  <a:pt x="1021417" y="3270557"/>
                </a:lnTo>
                <a:lnTo>
                  <a:pt x="1063666" y="3288426"/>
                </a:lnTo>
                <a:lnTo>
                  <a:pt x="1106487" y="3305184"/>
                </a:lnTo>
                <a:lnTo>
                  <a:pt x="1149859" y="3320814"/>
                </a:lnTo>
                <a:lnTo>
                  <a:pt x="1193767" y="3335296"/>
                </a:lnTo>
                <a:lnTo>
                  <a:pt x="1238191" y="3348613"/>
                </a:lnTo>
                <a:lnTo>
                  <a:pt x="1283113" y="3360748"/>
                </a:lnTo>
                <a:lnTo>
                  <a:pt x="1328516" y="3371682"/>
                </a:lnTo>
                <a:lnTo>
                  <a:pt x="1374382" y="3381397"/>
                </a:lnTo>
                <a:lnTo>
                  <a:pt x="1420692" y="3389875"/>
                </a:lnTo>
                <a:lnTo>
                  <a:pt x="1467429" y="3397098"/>
                </a:lnTo>
                <a:lnTo>
                  <a:pt x="1514574" y="3403048"/>
                </a:lnTo>
                <a:lnTo>
                  <a:pt x="1562109" y="3407707"/>
                </a:lnTo>
                <a:lnTo>
                  <a:pt x="1610018" y="3411058"/>
                </a:lnTo>
                <a:lnTo>
                  <a:pt x="1658280" y="3413081"/>
                </a:lnTo>
                <a:lnTo>
                  <a:pt x="1706879" y="3413760"/>
                </a:lnTo>
                <a:lnTo>
                  <a:pt x="1755479" y="3413081"/>
                </a:lnTo>
                <a:lnTo>
                  <a:pt x="1803741" y="3411058"/>
                </a:lnTo>
                <a:lnTo>
                  <a:pt x="1851650" y="3407707"/>
                </a:lnTo>
                <a:lnTo>
                  <a:pt x="1899185" y="3403048"/>
                </a:lnTo>
                <a:lnTo>
                  <a:pt x="1946330" y="3397098"/>
                </a:lnTo>
                <a:lnTo>
                  <a:pt x="1993067" y="3389875"/>
                </a:lnTo>
                <a:lnTo>
                  <a:pt x="2039377" y="3381397"/>
                </a:lnTo>
                <a:lnTo>
                  <a:pt x="2085243" y="3371682"/>
                </a:lnTo>
                <a:lnTo>
                  <a:pt x="2130646" y="3360748"/>
                </a:lnTo>
                <a:lnTo>
                  <a:pt x="2175568" y="3348613"/>
                </a:lnTo>
                <a:lnTo>
                  <a:pt x="2219992" y="3335296"/>
                </a:lnTo>
                <a:lnTo>
                  <a:pt x="2263900" y="3320814"/>
                </a:lnTo>
                <a:lnTo>
                  <a:pt x="2307272" y="3305184"/>
                </a:lnTo>
                <a:lnTo>
                  <a:pt x="2350093" y="3288426"/>
                </a:lnTo>
                <a:lnTo>
                  <a:pt x="2392342" y="3270557"/>
                </a:lnTo>
                <a:lnTo>
                  <a:pt x="2434003" y="3251596"/>
                </a:lnTo>
                <a:lnTo>
                  <a:pt x="2475058" y="3231559"/>
                </a:lnTo>
                <a:lnTo>
                  <a:pt x="2515487" y="3210466"/>
                </a:lnTo>
                <a:lnTo>
                  <a:pt x="2555275" y="3188334"/>
                </a:lnTo>
                <a:lnTo>
                  <a:pt x="2594401" y="3165181"/>
                </a:lnTo>
                <a:lnTo>
                  <a:pt x="2632849" y="3141025"/>
                </a:lnTo>
                <a:lnTo>
                  <a:pt x="2670600" y="3115885"/>
                </a:lnTo>
                <a:lnTo>
                  <a:pt x="2707637" y="3089777"/>
                </a:lnTo>
                <a:lnTo>
                  <a:pt x="2743941" y="3062721"/>
                </a:lnTo>
                <a:lnTo>
                  <a:pt x="2779494" y="3034734"/>
                </a:lnTo>
                <a:lnTo>
                  <a:pt x="2814278" y="3005835"/>
                </a:lnTo>
                <a:lnTo>
                  <a:pt x="2848276" y="2976041"/>
                </a:lnTo>
                <a:lnTo>
                  <a:pt x="2881469" y="2945370"/>
                </a:lnTo>
                <a:lnTo>
                  <a:pt x="2913840" y="2913840"/>
                </a:lnTo>
                <a:lnTo>
                  <a:pt x="2945370" y="2881469"/>
                </a:lnTo>
                <a:lnTo>
                  <a:pt x="2976041" y="2848276"/>
                </a:lnTo>
                <a:lnTo>
                  <a:pt x="3005835" y="2814278"/>
                </a:lnTo>
                <a:lnTo>
                  <a:pt x="3034734" y="2779494"/>
                </a:lnTo>
                <a:lnTo>
                  <a:pt x="3062721" y="2743941"/>
                </a:lnTo>
                <a:lnTo>
                  <a:pt x="3089777" y="2707637"/>
                </a:lnTo>
                <a:lnTo>
                  <a:pt x="3115885" y="2670600"/>
                </a:lnTo>
                <a:lnTo>
                  <a:pt x="3141025" y="2632849"/>
                </a:lnTo>
                <a:lnTo>
                  <a:pt x="3165181" y="2594401"/>
                </a:lnTo>
                <a:lnTo>
                  <a:pt x="3188334" y="2555275"/>
                </a:lnTo>
                <a:lnTo>
                  <a:pt x="3210466" y="2515487"/>
                </a:lnTo>
                <a:lnTo>
                  <a:pt x="3231559" y="2475058"/>
                </a:lnTo>
                <a:lnTo>
                  <a:pt x="3251596" y="2434003"/>
                </a:lnTo>
                <a:lnTo>
                  <a:pt x="3270557" y="2392342"/>
                </a:lnTo>
                <a:lnTo>
                  <a:pt x="3288426" y="2350093"/>
                </a:lnTo>
                <a:lnTo>
                  <a:pt x="3305184" y="2307272"/>
                </a:lnTo>
                <a:lnTo>
                  <a:pt x="3320814" y="2263900"/>
                </a:lnTo>
                <a:lnTo>
                  <a:pt x="3335296" y="2219992"/>
                </a:lnTo>
                <a:lnTo>
                  <a:pt x="3348613" y="2175568"/>
                </a:lnTo>
                <a:lnTo>
                  <a:pt x="3360748" y="2130646"/>
                </a:lnTo>
                <a:lnTo>
                  <a:pt x="3371682" y="2085243"/>
                </a:lnTo>
                <a:lnTo>
                  <a:pt x="3381397" y="2039377"/>
                </a:lnTo>
                <a:lnTo>
                  <a:pt x="3389875" y="1993067"/>
                </a:lnTo>
                <a:lnTo>
                  <a:pt x="3397098" y="1946330"/>
                </a:lnTo>
                <a:lnTo>
                  <a:pt x="3403048" y="1899185"/>
                </a:lnTo>
                <a:lnTo>
                  <a:pt x="3407707" y="1851650"/>
                </a:lnTo>
                <a:lnTo>
                  <a:pt x="3411058" y="1803741"/>
                </a:lnTo>
                <a:lnTo>
                  <a:pt x="3413081" y="1755479"/>
                </a:lnTo>
                <a:lnTo>
                  <a:pt x="3413759" y="1706879"/>
                </a:lnTo>
                <a:lnTo>
                  <a:pt x="3413081" y="1658280"/>
                </a:lnTo>
                <a:lnTo>
                  <a:pt x="3411058" y="1610018"/>
                </a:lnTo>
                <a:lnTo>
                  <a:pt x="3407707" y="1562109"/>
                </a:lnTo>
                <a:lnTo>
                  <a:pt x="3403048" y="1514574"/>
                </a:lnTo>
                <a:lnTo>
                  <a:pt x="3397098" y="1467429"/>
                </a:lnTo>
                <a:lnTo>
                  <a:pt x="3389875" y="1420692"/>
                </a:lnTo>
                <a:lnTo>
                  <a:pt x="3381397" y="1374382"/>
                </a:lnTo>
                <a:lnTo>
                  <a:pt x="3371682" y="1328516"/>
                </a:lnTo>
                <a:lnTo>
                  <a:pt x="3360748" y="1283113"/>
                </a:lnTo>
                <a:lnTo>
                  <a:pt x="3348613" y="1238191"/>
                </a:lnTo>
                <a:lnTo>
                  <a:pt x="3335296" y="1193767"/>
                </a:lnTo>
                <a:lnTo>
                  <a:pt x="3320814" y="1149859"/>
                </a:lnTo>
                <a:lnTo>
                  <a:pt x="3305184" y="1106487"/>
                </a:lnTo>
                <a:lnTo>
                  <a:pt x="3288426" y="1063666"/>
                </a:lnTo>
                <a:lnTo>
                  <a:pt x="3270557" y="1021417"/>
                </a:lnTo>
                <a:lnTo>
                  <a:pt x="3251596" y="979756"/>
                </a:lnTo>
                <a:lnTo>
                  <a:pt x="3231559" y="938701"/>
                </a:lnTo>
                <a:lnTo>
                  <a:pt x="3210466" y="898272"/>
                </a:lnTo>
                <a:lnTo>
                  <a:pt x="3188334" y="858484"/>
                </a:lnTo>
                <a:lnTo>
                  <a:pt x="3165181" y="819358"/>
                </a:lnTo>
                <a:lnTo>
                  <a:pt x="3141025" y="780910"/>
                </a:lnTo>
                <a:lnTo>
                  <a:pt x="3115885" y="743159"/>
                </a:lnTo>
                <a:lnTo>
                  <a:pt x="3089777" y="706122"/>
                </a:lnTo>
                <a:lnTo>
                  <a:pt x="3062721" y="669818"/>
                </a:lnTo>
                <a:lnTo>
                  <a:pt x="3034734" y="634265"/>
                </a:lnTo>
                <a:lnTo>
                  <a:pt x="3005835" y="599481"/>
                </a:lnTo>
                <a:lnTo>
                  <a:pt x="2976041" y="565483"/>
                </a:lnTo>
                <a:lnTo>
                  <a:pt x="2945370" y="532290"/>
                </a:lnTo>
                <a:lnTo>
                  <a:pt x="2913840" y="499919"/>
                </a:lnTo>
                <a:lnTo>
                  <a:pt x="2881469" y="468389"/>
                </a:lnTo>
                <a:lnTo>
                  <a:pt x="2848276" y="437718"/>
                </a:lnTo>
                <a:lnTo>
                  <a:pt x="2814278" y="407924"/>
                </a:lnTo>
                <a:lnTo>
                  <a:pt x="2779494" y="379025"/>
                </a:lnTo>
                <a:lnTo>
                  <a:pt x="2743941" y="351038"/>
                </a:lnTo>
                <a:lnTo>
                  <a:pt x="2707637" y="323982"/>
                </a:lnTo>
                <a:lnTo>
                  <a:pt x="2670600" y="297874"/>
                </a:lnTo>
                <a:lnTo>
                  <a:pt x="2632849" y="272734"/>
                </a:lnTo>
                <a:lnTo>
                  <a:pt x="2594401" y="248578"/>
                </a:lnTo>
                <a:lnTo>
                  <a:pt x="2555275" y="225425"/>
                </a:lnTo>
                <a:lnTo>
                  <a:pt x="2515487" y="203293"/>
                </a:lnTo>
                <a:lnTo>
                  <a:pt x="2475058" y="182200"/>
                </a:lnTo>
                <a:lnTo>
                  <a:pt x="2434003" y="162163"/>
                </a:lnTo>
                <a:lnTo>
                  <a:pt x="2392342" y="143202"/>
                </a:lnTo>
                <a:lnTo>
                  <a:pt x="2350093" y="125333"/>
                </a:lnTo>
                <a:lnTo>
                  <a:pt x="2307272" y="108575"/>
                </a:lnTo>
                <a:lnTo>
                  <a:pt x="2263900" y="92945"/>
                </a:lnTo>
                <a:lnTo>
                  <a:pt x="2219992" y="78463"/>
                </a:lnTo>
                <a:lnTo>
                  <a:pt x="2175568" y="65146"/>
                </a:lnTo>
                <a:lnTo>
                  <a:pt x="2130646" y="53011"/>
                </a:lnTo>
                <a:lnTo>
                  <a:pt x="2085243" y="42077"/>
                </a:lnTo>
                <a:lnTo>
                  <a:pt x="2039377" y="32362"/>
                </a:lnTo>
                <a:lnTo>
                  <a:pt x="1993067" y="23884"/>
                </a:lnTo>
                <a:lnTo>
                  <a:pt x="1946330" y="16661"/>
                </a:lnTo>
                <a:lnTo>
                  <a:pt x="1899185" y="10711"/>
                </a:lnTo>
                <a:lnTo>
                  <a:pt x="1851650" y="6052"/>
                </a:lnTo>
                <a:lnTo>
                  <a:pt x="1803741" y="2701"/>
                </a:lnTo>
                <a:lnTo>
                  <a:pt x="1755479" y="678"/>
                </a:lnTo>
                <a:lnTo>
                  <a:pt x="1706879" y="0"/>
                </a:lnTo>
                <a:close/>
              </a:path>
            </a:pathLst>
          </a:custGeom>
          <a:solidFill>
            <a:srgbClr val="00E0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"/>
          <p:cNvSpPr txBox="1"/>
          <p:nvPr/>
        </p:nvSpPr>
        <p:spPr>
          <a:xfrm>
            <a:off x="4389100" y="3374600"/>
            <a:ext cx="34137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1E13"/>
                </a:solidFill>
                <a:latin typeface="Arial"/>
                <a:ea typeface="Arial"/>
                <a:cs typeface="Arial"/>
                <a:sym typeface="Arial"/>
              </a:rPr>
              <a:t>GERAÇÃO DE NEGÓCIOS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11"/>
          <p:cNvGrpSpPr/>
          <p:nvPr/>
        </p:nvGrpSpPr>
        <p:grpSpPr>
          <a:xfrm>
            <a:off x="272795" y="1735861"/>
            <a:ext cx="2139696" cy="1164310"/>
            <a:chOff x="272795" y="1735861"/>
            <a:chExt cx="2139696" cy="1164310"/>
          </a:xfrm>
        </p:grpSpPr>
        <p:pic>
          <p:nvPicPr>
            <p:cNvPr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2795" y="1735861"/>
              <a:ext cx="2139696" cy="11643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1"/>
            <p:cNvSpPr/>
            <p:nvPr/>
          </p:nvSpPr>
          <p:spPr>
            <a:xfrm>
              <a:off x="365759" y="1828800"/>
              <a:ext cx="1889760" cy="914400"/>
            </a:xfrm>
            <a:custGeom>
              <a:rect b="b" l="l" r="r" t="t"/>
              <a:pathLst>
                <a:path extrusionOk="0" h="914400" w="1889760">
                  <a:moveTo>
                    <a:pt x="944880" y="0"/>
                  </a:moveTo>
                  <a:lnTo>
                    <a:pt x="880187" y="1054"/>
                  </a:lnTo>
                  <a:lnTo>
                    <a:pt x="816665" y="4174"/>
                  </a:lnTo>
                  <a:lnTo>
                    <a:pt x="754453" y="9289"/>
                  </a:lnTo>
                  <a:lnTo>
                    <a:pt x="693693" y="16333"/>
                  </a:lnTo>
                  <a:lnTo>
                    <a:pt x="634525" y="25237"/>
                  </a:lnTo>
                  <a:lnTo>
                    <a:pt x="577089" y="35933"/>
                  </a:lnTo>
                  <a:lnTo>
                    <a:pt x="521528" y="48352"/>
                  </a:lnTo>
                  <a:lnTo>
                    <a:pt x="467980" y="62427"/>
                  </a:lnTo>
                  <a:lnTo>
                    <a:pt x="416588" y="78090"/>
                  </a:lnTo>
                  <a:lnTo>
                    <a:pt x="367491" y="95272"/>
                  </a:lnTo>
                  <a:lnTo>
                    <a:pt x="320831" y="113905"/>
                  </a:lnTo>
                  <a:lnTo>
                    <a:pt x="276748" y="133921"/>
                  </a:lnTo>
                  <a:lnTo>
                    <a:pt x="235383" y="155252"/>
                  </a:lnTo>
                  <a:lnTo>
                    <a:pt x="196877" y="177830"/>
                  </a:lnTo>
                  <a:lnTo>
                    <a:pt x="161370" y="201587"/>
                  </a:lnTo>
                  <a:lnTo>
                    <a:pt x="129003" y="226455"/>
                  </a:lnTo>
                  <a:lnTo>
                    <a:pt x="99917" y="252364"/>
                  </a:lnTo>
                  <a:lnTo>
                    <a:pt x="52151" y="307039"/>
                  </a:lnTo>
                  <a:lnTo>
                    <a:pt x="19196" y="365066"/>
                  </a:lnTo>
                  <a:lnTo>
                    <a:pt x="2179" y="425900"/>
                  </a:lnTo>
                  <a:lnTo>
                    <a:pt x="0" y="457200"/>
                  </a:lnTo>
                  <a:lnTo>
                    <a:pt x="2179" y="488499"/>
                  </a:lnTo>
                  <a:lnTo>
                    <a:pt x="19196" y="549333"/>
                  </a:lnTo>
                  <a:lnTo>
                    <a:pt x="52151" y="607360"/>
                  </a:lnTo>
                  <a:lnTo>
                    <a:pt x="99917" y="662035"/>
                  </a:lnTo>
                  <a:lnTo>
                    <a:pt x="129003" y="687944"/>
                  </a:lnTo>
                  <a:lnTo>
                    <a:pt x="161370" y="712812"/>
                  </a:lnTo>
                  <a:lnTo>
                    <a:pt x="196877" y="736569"/>
                  </a:lnTo>
                  <a:lnTo>
                    <a:pt x="235383" y="759147"/>
                  </a:lnTo>
                  <a:lnTo>
                    <a:pt x="276748" y="780478"/>
                  </a:lnTo>
                  <a:lnTo>
                    <a:pt x="320831" y="800494"/>
                  </a:lnTo>
                  <a:lnTo>
                    <a:pt x="367491" y="819127"/>
                  </a:lnTo>
                  <a:lnTo>
                    <a:pt x="416588" y="836309"/>
                  </a:lnTo>
                  <a:lnTo>
                    <a:pt x="467980" y="851972"/>
                  </a:lnTo>
                  <a:lnTo>
                    <a:pt x="521528" y="866047"/>
                  </a:lnTo>
                  <a:lnTo>
                    <a:pt x="577089" y="878466"/>
                  </a:lnTo>
                  <a:lnTo>
                    <a:pt x="634525" y="889162"/>
                  </a:lnTo>
                  <a:lnTo>
                    <a:pt x="693693" y="898066"/>
                  </a:lnTo>
                  <a:lnTo>
                    <a:pt x="754453" y="905110"/>
                  </a:lnTo>
                  <a:lnTo>
                    <a:pt x="816665" y="910225"/>
                  </a:lnTo>
                  <a:lnTo>
                    <a:pt x="880187" y="913345"/>
                  </a:lnTo>
                  <a:lnTo>
                    <a:pt x="944880" y="914400"/>
                  </a:lnTo>
                  <a:lnTo>
                    <a:pt x="1009572" y="913345"/>
                  </a:lnTo>
                  <a:lnTo>
                    <a:pt x="1073094" y="910225"/>
                  </a:lnTo>
                  <a:lnTo>
                    <a:pt x="1135306" y="905110"/>
                  </a:lnTo>
                  <a:lnTo>
                    <a:pt x="1196066" y="898066"/>
                  </a:lnTo>
                  <a:lnTo>
                    <a:pt x="1255234" y="889162"/>
                  </a:lnTo>
                  <a:lnTo>
                    <a:pt x="1312670" y="878466"/>
                  </a:lnTo>
                  <a:lnTo>
                    <a:pt x="1368231" y="866047"/>
                  </a:lnTo>
                  <a:lnTo>
                    <a:pt x="1421779" y="851972"/>
                  </a:lnTo>
                  <a:lnTo>
                    <a:pt x="1473171" y="836309"/>
                  </a:lnTo>
                  <a:lnTo>
                    <a:pt x="1522268" y="819127"/>
                  </a:lnTo>
                  <a:lnTo>
                    <a:pt x="1568928" y="800494"/>
                  </a:lnTo>
                  <a:lnTo>
                    <a:pt x="1613011" y="780478"/>
                  </a:lnTo>
                  <a:lnTo>
                    <a:pt x="1654376" y="759147"/>
                  </a:lnTo>
                  <a:lnTo>
                    <a:pt x="1692882" y="736569"/>
                  </a:lnTo>
                  <a:lnTo>
                    <a:pt x="1728389" y="712812"/>
                  </a:lnTo>
                  <a:lnTo>
                    <a:pt x="1760756" y="687944"/>
                  </a:lnTo>
                  <a:lnTo>
                    <a:pt x="1789842" y="662035"/>
                  </a:lnTo>
                  <a:lnTo>
                    <a:pt x="1837608" y="607360"/>
                  </a:lnTo>
                  <a:lnTo>
                    <a:pt x="1870563" y="549333"/>
                  </a:lnTo>
                  <a:lnTo>
                    <a:pt x="1887580" y="488499"/>
                  </a:lnTo>
                  <a:lnTo>
                    <a:pt x="1889759" y="457200"/>
                  </a:lnTo>
                  <a:lnTo>
                    <a:pt x="1887580" y="425900"/>
                  </a:lnTo>
                  <a:lnTo>
                    <a:pt x="1870563" y="365066"/>
                  </a:lnTo>
                  <a:lnTo>
                    <a:pt x="1837608" y="307039"/>
                  </a:lnTo>
                  <a:lnTo>
                    <a:pt x="1789842" y="252364"/>
                  </a:lnTo>
                  <a:lnTo>
                    <a:pt x="1760756" y="226455"/>
                  </a:lnTo>
                  <a:lnTo>
                    <a:pt x="1728389" y="201587"/>
                  </a:lnTo>
                  <a:lnTo>
                    <a:pt x="1692882" y="177830"/>
                  </a:lnTo>
                  <a:lnTo>
                    <a:pt x="1654376" y="155252"/>
                  </a:lnTo>
                  <a:lnTo>
                    <a:pt x="1613011" y="133921"/>
                  </a:lnTo>
                  <a:lnTo>
                    <a:pt x="1568928" y="113905"/>
                  </a:lnTo>
                  <a:lnTo>
                    <a:pt x="1522268" y="95272"/>
                  </a:lnTo>
                  <a:lnTo>
                    <a:pt x="1473171" y="78090"/>
                  </a:lnTo>
                  <a:lnTo>
                    <a:pt x="1421779" y="62427"/>
                  </a:lnTo>
                  <a:lnTo>
                    <a:pt x="1368231" y="48352"/>
                  </a:lnTo>
                  <a:lnTo>
                    <a:pt x="1312670" y="35933"/>
                  </a:lnTo>
                  <a:lnTo>
                    <a:pt x="1255234" y="25237"/>
                  </a:lnTo>
                  <a:lnTo>
                    <a:pt x="1196066" y="16333"/>
                  </a:lnTo>
                  <a:lnTo>
                    <a:pt x="1135306" y="9289"/>
                  </a:lnTo>
                  <a:lnTo>
                    <a:pt x="1073094" y="4174"/>
                  </a:lnTo>
                  <a:lnTo>
                    <a:pt x="1009572" y="1054"/>
                  </a:lnTo>
                  <a:lnTo>
                    <a:pt x="944880" y="0"/>
                  </a:lnTo>
                  <a:close/>
                </a:path>
              </a:pathLst>
            </a:custGeom>
            <a:solidFill>
              <a:srgbClr val="003B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1"/>
          <p:cNvSpPr txBox="1"/>
          <p:nvPr/>
        </p:nvSpPr>
        <p:spPr>
          <a:xfrm>
            <a:off x="566800" y="2136775"/>
            <a:ext cx="1545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Negócios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11"/>
          <p:cNvGrpSpPr/>
          <p:nvPr/>
        </p:nvGrpSpPr>
        <p:grpSpPr>
          <a:xfrm>
            <a:off x="760476" y="2377440"/>
            <a:ext cx="3628644" cy="2961131"/>
            <a:chOff x="760476" y="2377440"/>
            <a:chExt cx="3628644" cy="2961131"/>
          </a:xfrm>
        </p:grpSpPr>
        <p:sp>
          <p:nvSpPr>
            <p:cNvPr id="118" name="Google Shape;118;p11"/>
            <p:cNvSpPr/>
            <p:nvPr/>
          </p:nvSpPr>
          <p:spPr>
            <a:xfrm>
              <a:off x="2255520" y="2377440"/>
              <a:ext cx="2133600" cy="701040"/>
            </a:xfrm>
            <a:custGeom>
              <a:rect b="b" l="l" r="r" t="t"/>
              <a:pathLst>
                <a:path extrusionOk="0" h="701039" w="2133600">
                  <a:moveTo>
                    <a:pt x="2133600" y="701039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00E02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9" name="Google Shape;11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0476" y="4174261"/>
              <a:ext cx="2139696" cy="11643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11"/>
            <p:cNvSpPr/>
            <p:nvPr/>
          </p:nvSpPr>
          <p:spPr>
            <a:xfrm>
              <a:off x="853440" y="4267200"/>
              <a:ext cx="1889760" cy="914400"/>
            </a:xfrm>
            <a:custGeom>
              <a:rect b="b" l="l" r="r" t="t"/>
              <a:pathLst>
                <a:path extrusionOk="0" h="914400" w="1889760">
                  <a:moveTo>
                    <a:pt x="944879" y="0"/>
                  </a:moveTo>
                  <a:lnTo>
                    <a:pt x="880187" y="1054"/>
                  </a:lnTo>
                  <a:lnTo>
                    <a:pt x="816665" y="4174"/>
                  </a:lnTo>
                  <a:lnTo>
                    <a:pt x="754453" y="9289"/>
                  </a:lnTo>
                  <a:lnTo>
                    <a:pt x="693693" y="16333"/>
                  </a:lnTo>
                  <a:lnTo>
                    <a:pt x="634525" y="25237"/>
                  </a:lnTo>
                  <a:lnTo>
                    <a:pt x="577089" y="35933"/>
                  </a:lnTo>
                  <a:lnTo>
                    <a:pt x="521528" y="48352"/>
                  </a:lnTo>
                  <a:lnTo>
                    <a:pt x="467980" y="62427"/>
                  </a:lnTo>
                  <a:lnTo>
                    <a:pt x="416588" y="78090"/>
                  </a:lnTo>
                  <a:lnTo>
                    <a:pt x="367491" y="95272"/>
                  </a:lnTo>
                  <a:lnTo>
                    <a:pt x="320831" y="113905"/>
                  </a:lnTo>
                  <a:lnTo>
                    <a:pt x="276748" y="133921"/>
                  </a:lnTo>
                  <a:lnTo>
                    <a:pt x="235383" y="155252"/>
                  </a:lnTo>
                  <a:lnTo>
                    <a:pt x="196877" y="177830"/>
                  </a:lnTo>
                  <a:lnTo>
                    <a:pt x="161370" y="201587"/>
                  </a:lnTo>
                  <a:lnTo>
                    <a:pt x="129003" y="226455"/>
                  </a:lnTo>
                  <a:lnTo>
                    <a:pt x="99917" y="252364"/>
                  </a:lnTo>
                  <a:lnTo>
                    <a:pt x="52151" y="307039"/>
                  </a:lnTo>
                  <a:lnTo>
                    <a:pt x="19196" y="365066"/>
                  </a:lnTo>
                  <a:lnTo>
                    <a:pt x="2179" y="425900"/>
                  </a:lnTo>
                  <a:lnTo>
                    <a:pt x="0" y="457200"/>
                  </a:lnTo>
                  <a:lnTo>
                    <a:pt x="2179" y="488499"/>
                  </a:lnTo>
                  <a:lnTo>
                    <a:pt x="19196" y="549333"/>
                  </a:lnTo>
                  <a:lnTo>
                    <a:pt x="52151" y="607360"/>
                  </a:lnTo>
                  <a:lnTo>
                    <a:pt x="99917" y="662035"/>
                  </a:lnTo>
                  <a:lnTo>
                    <a:pt x="129003" y="687944"/>
                  </a:lnTo>
                  <a:lnTo>
                    <a:pt x="161370" y="712812"/>
                  </a:lnTo>
                  <a:lnTo>
                    <a:pt x="196877" y="736569"/>
                  </a:lnTo>
                  <a:lnTo>
                    <a:pt x="235383" y="759147"/>
                  </a:lnTo>
                  <a:lnTo>
                    <a:pt x="276748" y="780478"/>
                  </a:lnTo>
                  <a:lnTo>
                    <a:pt x="320831" y="800494"/>
                  </a:lnTo>
                  <a:lnTo>
                    <a:pt x="367491" y="819127"/>
                  </a:lnTo>
                  <a:lnTo>
                    <a:pt x="416588" y="836309"/>
                  </a:lnTo>
                  <a:lnTo>
                    <a:pt x="467980" y="851972"/>
                  </a:lnTo>
                  <a:lnTo>
                    <a:pt x="521528" y="866047"/>
                  </a:lnTo>
                  <a:lnTo>
                    <a:pt x="577089" y="878466"/>
                  </a:lnTo>
                  <a:lnTo>
                    <a:pt x="634525" y="889162"/>
                  </a:lnTo>
                  <a:lnTo>
                    <a:pt x="693693" y="898066"/>
                  </a:lnTo>
                  <a:lnTo>
                    <a:pt x="754453" y="905110"/>
                  </a:lnTo>
                  <a:lnTo>
                    <a:pt x="816665" y="910225"/>
                  </a:lnTo>
                  <a:lnTo>
                    <a:pt x="880187" y="913345"/>
                  </a:lnTo>
                  <a:lnTo>
                    <a:pt x="944879" y="914400"/>
                  </a:lnTo>
                  <a:lnTo>
                    <a:pt x="1009572" y="913345"/>
                  </a:lnTo>
                  <a:lnTo>
                    <a:pt x="1073094" y="910225"/>
                  </a:lnTo>
                  <a:lnTo>
                    <a:pt x="1135306" y="905110"/>
                  </a:lnTo>
                  <a:lnTo>
                    <a:pt x="1196066" y="898066"/>
                  </a:lnTo>
                  <a:lnTo>
                    <a:pt x="1255234" y="889162"/>
                  </a:lnTo>
                  <a:lnTo>
                    <a:pt x="1312670" y="878466"/>
                  </a:lnTo>
                  <a:lnTo>
                    <a:pt x="1368231" y="866047"/>
                  </a:lnTo>
                  <a:lnTo>
                    <a:pt x="1421779" y="851972"/>
                  </a:lnTo>
                  <a:lnTo>
                    <a:pt x="1473171" y="836309"/>
                  </a:lnTo>
                  <a:lnTo>
                    <a:pt x="1522268" y="819127"/>
                  </a:lnTo>
                  <a:lnTo>
                    <a:pt x="1568928" y="800494"/>
                  </a:lnTo>
                  <a:lnTo>
                    <a:pt x="1613011" y="780478"/>
                  </a:lnTo>
                  <a:lnTo>
                    <a:pt x="1654376" y="759147"/>
                  </a:lnTo>
                  <a:lnTo>
                    <a:pt x="1692882" y="736569"/>
                  </a:lnTo>
                  <a:lnTo>
                    <a:pt x="1728389" y="712812"/>
                  </a:lnTo>
                  <a:lnTo>
                    <a:pt x="1760756" y="687944"/>
                  </a:lnTo>
                  <a:lnTo>
                    <a:pt x="1789842" y="662035"/>
                  </a:lnTo>
                  <a:lnTo>
                    <a:pt x="1837608" y="607360"/>
                  </a:lnTo>
                  <a:lnTo>
                    <a:pt x="1870563" y="549333"/>
                  </a:lnTo>
                  <a:lnTo>
                    <a:pt x="1887580" y="488499"/>
                  </a:lnTo>
                  <a:lnTo>
                    <a:pt x="1889760" y="457200"/>
                  </a:lnTo>
                  <a:lnTo>
                    <a:pt x="1887580" y="425900"/>
                  </a:lnTo>
                  <a:lnTo>
                    <a:pt x="1870563" y="365066"/>
                  </a:lnTo>
                  <a:lnTo>
                    <a:pt x="1837608" y="307039"/>
                  </a:lnTo>
                  <a:lnTo>
                    <a:pt x="1789842" y="252364"/>
                  </a:lnTo>
                  <a:lnTo>
                    <a:pt x="1760756" y="226455"/>
                  </a:lnTo>
                  <a:lnTo>
                    <a:pt x="1728389" y="201587"/>
                  </a:lnTo>
                  <a:lnTo>
                    <a:pt x="1692882" y="177830"/>
                  </a:lnTo>
                  <a:lnTo>
                    <a:pt x="1654376" y="155252"/>
                  </a:lnTo>
                  <a:lnTo>
                    <a:pt x="1613011" y="133921"/>
                  </a:lnTo>
                  <a:lnTo>
                    <a:pt x="1568928" y="113905"/>
                  </a:lnTo>
                  <a:lnTo>
                    <a:pt x="1522268" y="95272"/>
                  </a:lnTo>
                  <a:lnTo>
                    <a:pt x="1473171" y="78090"/>
                  </a:lnTo>
                  <a:lnTo>
                    <a:pt x="1421779" y="62427"/>
                  </a:lnTo>
                  <a:lnTo>
                    <a:pt x="1368231" y="48352"/>
                  </a:lnTo>
                  <a:lnTo>
                    <a:pt x="1312670" y="35933"/>
                  </a:lnTo>
                  <a:lnTo>
                    <a:pt x="1255234" y="25237"/>
                  </a:lnTo>
                  <a:lnTo>
                    <a:pt x="1196066" y="16333"/>
                  </a:lnTo>
                  <a:lnTo>
                    <a:pt x="1135306" y="9289"/>
                  </a:lnTo>
                  <a:lnTo>
                    <a:pt x="1073094" y="4174"/>
                  </a:lnTo>
                  <a:lnTo>
                    <a:pt x="1009572" y="1054"/>
                  </a:lnTo>
                  <a:lnTo>
                    <a:pt x="944879" y="0"/>
                  </a:lnTo>
                  <a:close/>
                </a:path>
              </a:pathLst>
            </a:custGeom>
            <a:solidFill>
              <a:srgbClr val="003B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11"/>
          <p:cNvSpPr txBox="1"/>
          <p:nvPr/>
        </p:nvSpPr>
        <p:spPr>
          <a:xfrm>
            <a:off x="1499361" y="4575809"/>
            <a:ext cx="59753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Marca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p11"/>
          <p:cNvGrpSpPr/>
          <p:nvPr/>
        </p:nvGrpSpPr>
        <p:grpSpPr>
          <a:xfrm>
            <a:off x="2682240" y="3901440"/>
            <a:ext cx="4485132" cy="2778226"/>
            <a:chOff x="2682240" y="3901440"/>
            <a:chExt cx="4485132" cy="2778226"/>
          </a:xfrm>
        </p:grpSpPr>
        <p:sp>
          <p:nvSpPr>
            <p:cNvPr id="123" name="Google Shape;123;p11"/>
            <p:cNvSpPr/>
            <p:nvPr/>
          </p:nvSpPr>
          <p:spPr>
            <a:xfrm>
              <a:off x="2682240" y="3901440"/>
              <a:ext cx="1767839" cy="609600"/>
            </a:xfrm>
            <a:custGeom>
              <a:rect b="b" l="l" r="r" t="t"/>
              <a:pathLst>
                <a:path extrusionOk="0" h="609600" w="1767839">
                  <a:moveTo>
                    <a:pt x="1767839" y="0"/>
                  </a:moveTo>
                  <a:lnTo>
                    <a:pt x="0" y="609600"/>
                  </a:lnTo>
                </a:path>
              </a:pathLst>
            </a:custGeom>
            <a:noFill/>
            <a:ln cap="flat" cmpd="sng" w="15225">
              <a:solidFill>
                <a:srgbClr val="00E02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4" name="Google Shape;12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27676" y="5515356"/>
              <a:ext cx="2139696" cy="11643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1"/>
            <p:cNvSpPr/>
            <p:nvPr/>
          </p:nvSpPr>
          <p:spPr>
            <a:xfrm>
              <a:off x="5120640" y="5608320"/>
              <a:ext cx="1889760" cy="914400"/>
            </a:xfrm>
            <a:custGeom>
              <a:rect b="b" l="l" r="r" t="t"/>
              <a:pathLst>
                <a:path extrusionOk="0" h="914400" w="1889759">
                  <a:moveTo>
                    <a:pt x="944880" y="0"/>
                  </a:moveTo>
                  <a:lnTo>
                    <a:pt x="880187" y="1054"/>
                  </a:lnTo>
                  <a:lnTo>
                    <a:pt x="816665" y="4173"/>
                  </a:lnTo>
                  <a:lnTo>
                    <a:pt x="754453" y="9288"/>
                  </a:lnTo>
                  <a:lnTo>
                    <a:pt x="693693" y="16331"/>
                  </a:lnTo>
                  <a:lnTo>
                    <a:pt x="634525" y="25234"/>
                  </a:lnTo>
                  <a:lnTo>
                    <a:pt x="577089" y="35929"/>
                  </a:lnTo>
                  <a:lnTo>
                    <a:pt x="521528" y="48347"/>
                  </a:lnTo>
                  <a:lnTo>
                    <a:pt x="467980" y="62421"/>
                  </a:lnTo>
                  <a:lnTo>
                    <a:pt x="416588" y="78083"/>
                  </a:lnTo>
                  <a:lnTo>
                    <a:pt x="367491" y="95264"/>
                  </a:lnTo>
                  <a:lnTo>
                    <a:pt x="320831" y="113896"/>
                  </a:lnTo>
                  <a:lnTo>
                    <a:pt x="276748" y="133911"/>
                  </a:lnTo>
                  <a:lnTo>
                    <a:pt x="235383" y="155242"/>
                  </a:lnTo>
                  <a:lnTo>
                    <a:pt x="196877" y="177820"/>
                  </a:lnTo>
                  <a:lnTo>
                    <a:pt x="161370" y="201576"/>
                  </a:lnTo>
                  <a:lnTo>
                    <a:pt x="129003" y="226443"/>
                  </a:lnTo>
                  <a:lnTo>
                    <a:pt x="99917" y="252353"/>
                  </a:lnTo>
                  <a:lnTo>
                    <a:pt x="52151" y="307029"/>
                  </a:lnTo>
                  <a:lnTo>
                    <a:pt x="19196" y="365059"/>
                  </a:lnTo>
                  <a:lnTo>
                    <a:pt x="2179" y="425897"/>
                  </a:lnTo>
                  <a:lnTo>
                    <a:pt x="0" y="457199"/>
                  </a:lnTo>
                  <a:lnTo>
                    <a:pt x="2179" y="488502"/>
                  </a:lnTo>
                  <a:lnTo>
                    <a:pt x="19196" y="549340"/>
                  </a:lnTo>
                  <a:lnTo>
                    <a:pt x="52151" y="607370"/>
                  </a:lnTo>
                  <a:lnTo>
                    <a:pt x="99917" y="662046"/>
                  </a:lnTo>
                  <a:lnTo>
                    <a:pt x="129003" y="687956"/>
                  </a:lnTo>
                  <a:lnTo>
                    <a:pt x="161370" y="712823"/>
                  </a:lnTo>
                  <a:lnTo>
                    <a:pt x="196877" y="736579"/>
                  </a:lnTo>
                  <a:lnTo>
                    <a:pt x="235383" y="759157"/>
                  </a:lnTo>
                  <a:lnTo>
                    <a:pt x="276748" y="780488"/>
                  </a:lnTo>
                  <a:lnTo>
                    <a:pt x="320831" y="800503"/>
                  </a:lnTo>
                  <a:lnTo>
                    <a:pt x="367491" y="819135"/>
                  </a:lnTo>
                  <a:lnTo>
                    <a:pt x="416588" y="836316"/>
                  </a:lnTo>
                  <a:lnTo>
                    <a:pt x="467980" y="851978"/>
                  </a:lnTo>
                  <a:lnTo>
                    <a:pt x="521528" y="866052"/>
                  </a:lnTo>
                  <a:lnTo>
                    <a:pt x="577089" y="878470"/>
                  </a:lnTo>
                  <a:lnTo>
                    <a:pt x="634525" y="889165"/>
                  </a:lnTo>
                  <a:lnTo>
                    <a:pt x="693693" y="898068"/>
                  </a:lnTo>
                  <a:lnTo>
                    <a:pt x="754453" y="905111"/>
                  </a:lnTo>
                  <a:lnTo>
                    <a:pt x="816665" y="910226"/>
                  </a:lnTo>
                  <a:lnTo>
                    <a:pt x="880187" y="913345"/>
                  </a:lnTo>
                  <a:lnTo>
                    <a:pt x="944880" y="914399"/>
                  </a:lnTo>
                  <a:lnTo>
                    <a:pt x="1009572" y="913345"/>
                  </a:lnTo>
                  <a:lnTo>
                    <a:pt x="1073094" y="910226"/>
                  </a:lnTo>
                  <a:lnTo>
                    <a:pt x="1135306" y="905111"/>
                  </a:lnTo>
                  <a:lnTo>
                    <a:pt x="1196066" y="898068"/>
                  </a:lnTo>
                  <a:lnTo>
                    <a:pt x="1255234" y="889165"/>
                  </a:lnTo>
                  <a:lnTo>
                    <a:pt x="1312670" y="878470"/>
                  </a:lnTo>
                  <a:lnTo>
                    <a:pt x="1368231" y="866052"/>
                  </a:lnTo>
                  <a:lnTo>
                    <a:pt x="1421779" y="851978"/>
                  </a:lnTo>
                  <a:lnTo>
                    <a:pt x="1473171" y="836316"/>
                  </a:lnTo>
                  <a:lnTo>
                    <a:pt x="1522268" y="819135"/>
                  </a:lnTo>
                  <a:lnTo>
                    <a:pt x="1568928" y="800503"/>
                  </a:lnTo>
                  <a:lnTo>
                    <a:pt x="1613011" y="780488"/>
                  </a:lnTo>
                  <a:lnTo>
                    <a:pt x="1654376" y="759157"/>
                  </a:lnTo>
                  <a:lnTo>
                    <a:pt x="1692882" y="736579"/>
                  </a:lnTo>
                  <a:lnTo>
                    <a:pt x="1728389" y="712823"/>
                  </a:lnTo>
                  <a:lnTo>
                    <a:pt x="1760756" y="687956"/>
                  </a:lnTo>
                  <a:lnTo>
                    <a:pt x="1789842" y="662046"/>
                  </a:lnTo>
                  <a:lnTo>
                    <a:pt x="1837608" y="607370"/>
                  </a:lnTo>
                  <a:lnTo>
                    <a:pt x="1870563" y="549340"/>
                  </a:lnTo>
                  <a:lnTo>
                    <a:pt x="1887580" y="488502"/>
                  </a:lnTo>
                  <a:lnTo>
                    <a:pt x="1889760" y="457199"/>
                  </a:lnTo>
                  <a:lnTo>
                    <a:pt x="1887580" y="425897"/>
                  </a:lnTo>
                  <a:lnTo>
                    <a:pt x="1870563" y="365059"/>
                  </a:lnTo>
                  <a:lnTo>
                    <a:pt x="1837608" y="307029"/>
                  </a:lnTo>
                  <a:lnTo>
                    <a:pt x="1789842" y="252353"/>
                  </a:lnTo>
                  <a:lnTo>
                    <a:pt x="1760756" y="226443"/>
                  </a:lnTo>
                  <a:lnTo>
                    <a:pt x="1728389" y="201576"/>
                  </a:lnTo>
                  <a:lnTo>
                    <a:pt x="1692882" y="177820"/>
                  </a:lnTo>
                  <a:lnTo>
                    <a:pt x="1654376" y="155242"/>
                  </a:lnTo>
                  <a:lnTo>
                    <a:pt x="1613011" y="133911"/>
                  </a:lnTo>
                  <a:lnTo>
                    <a:pt x="1568928" y="113896"/>
                  </a:lnTo>
                  <a:lnTo>
                    <a:pt x="1522268" y="95264"/>
                  </a:lnTo>
                  <a:lnTo>
                    <a:pt x="1473171" y="78083"/>
                  </a:lnTo>
                  <a:lnTo>
                    <a:pt x="1421779" y="62421"/>
                  </a:lnTo>
                  <a:lnTo>
                    <a:pt x="1368231" y="48347"/>
                  </a:lnTo>
                  <a:lnTo>
                    <a:pt x="1312670" y="35929"/>
                  </a:lnTo>
                  <a:lnTo>
                    <a:pt x="1255234" y="25234"/>
                  </a:lnTo>
                  <a:lnTo>
                    <a:pt x="1196066" y="16331"/>
                  </a:lnTo>
                  <a:lnTo>
                    <a:pt x="1135306" y="9288"/>
                  </a:lnTo>
                  <a:lnTo>
                    <a:pt x="1073094" y="4173"/>
                  </a:lnTo>
                  <a:lnTo>
                    <a:pt x="1009572" y="1054"/>
                  </a:lnTo>
                  <a:lnTo>
                    <a:pt x="944880" y="0"/>
                  </a:lnTo>
                  <a:close/>
                </a:path>
              </a:pathLst>
            </a:custGeom>
            <a:solidFill>
              <a:srgbClr val="003B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1"/>
          <p:cNvSpPr txBox="1"/>
          <p:nvPr/>
        </p:nvSpPr>
        <p:spPr>
          <a:xfrm>
            <a:off x="5154578" y="5917175"/>
            <a:ext cx="1816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Cultura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11"/>
          <p:cNvGrpSpPr/>
          <p:nvPr/>
        </p:nvGrpSpPr>
        <p:grpSpPr>
          <a:xfrm>
            <a:off x="6095999" y="4841747"/>
            <a:ext cx="5736336" cy="1164310"/>
            <a:chOff x="6095999" y="4841747"/>
            <a:chExt cx="5736336" cy="1164310"/>
          </a:xfrm>
        </p:grpSpPr>
        <p:sp>
          <p:nvSpPr>
            <p:cNvPr id="128" name="Google Shape;128;p11"/>
            <p:cNvSpPr/>
            <p:nvPr/>
          </p:nvSpPr>
          <p:spPr>
            <a:xfrm>
              <a:off x="6095999" y="5151119"/>
              <a:ext cx="0" cy="451484"/>
            </a:xfrm>
            <a:custGeom>
              <a:rect b="b" l="l" r="r" t="t"/>
              <a:pathLst>
                <a:path extrusionOk="0" h="451485" w="120000">
                  <a:moveTo>
                    <a:pt x="0" y="0"/>
                  </a:moveTo>
                  <a:lnTo>
                    <a:pt x="0" y="451103"/>
                  </a:lnTo>
                </a:path>
              </a:pathLst>
            </a:custGeom>
            <a:noFill/>
            <a:ln cap="flat" cmpd="sng" w="15225">
              <a:solidFill>
                <a:srgbClr val="00E02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9" name="Google Shape;129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692639" y="4841747"/>
              <a:ext cx="2139696" cy="11643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1"/>
            <p:cNvSpPr/>
            <p:nvPr/>
          </p:nvSpPr>
          <p:spPr>
            <a:xfrm>
              <a:off x="9786239" y="4934584"/>
              <a:ext cx="1889760" cy="915035"/>
            </a:xfrm>
            <a:custGeom>
              <a:rect b="b" l="l" r="r" t="t"/>
              <a:pathLst>
                <a:path extrusionOk="0" h="915035" w="1889759">
                  <a:moveTo>
                    <a:pt x="944879" y="0"/>
                  </a:moveTo>
                  <a:lnTo>
                    <a:pt x="880187" y="1054"/>
                  </a:lnTo>
                  <a:lnTo>
                    <a:pt x="816665" y="4174"/>
                  </a:lnTo>
                  <a:lnTo>
                    <a:pt x="754453" y="9289"/>
                  </a:lnTo>
                  <a:lnTo>
                    <a:pt x="693693" y="16333"/>
                  </a:lnTo>
                  <a:lnTo>
                    <a:pt x="634525" y="25237"/>
                  </a:lnTo>
                  <a:lnTo>
                    <a:pt x="577089" y="35933"/>
                  </a:lnTo>
                  <a:lnTo>
                    <a:pt x="521528" y="48352"/>
                  </a:lnTo>
                  <a:lnTo>
                    <a:pt x="467980" y="62427"/>
                  </a:lnTo>
                  <a:lnTo>
                    <a:pt x="416588" y="78090"/>
                  </a:lnTo>
                  <a:lnTo>
                    <a:pt x="367491" y="95272"/>
                  </a:lnTo>
                  <a:lnTo>
                    <a:pt x="320831" y="113905"/>
                  </a:lnTo>
                  <a:lnTo>
                    <a:pt x="276748" y="133921"/>
                  </a:lnTo>
                  <a:lnTo>
                    <a:pt x="235383" y="155252"/>
                  </a:lnTo>
                  <a:lnTo>
                    <a:pt x="196877" y="177830"/>
                  </a:lnTo>
                  <a:lnTo>
                    <a:pt x="161370" y="201587"/>
                  </a:lnTo>
                  <a:lnTo>
                    <a:pt x="129003" y="226455"/>
                  </a:lnTo>
                  <a:lnTo>
                    <a:pt x="99917" y="252364"/>
                  </a:lnTo>
                  <a:lnTo>
                    <a:pt x="52151" y="307039"/>
                  </a:lnTo>
                  <a:lnTo>
                    <a:pt x="19196" y="365066"/>
                  </a:lnTo>
                  <a:lnTo>
                    <a:pt x="2179" y="425900"/>
                  </a:lnTo>
                  <a:lnTo>
                    <a:pt x="0" y="457199"/>
                  </a:lnTo>
                  <a:lnTo>
                    <a:pt x="2179" y="488506"/>
                  </a:lnTo>
                  <a:lnTo>
                    <a:pt x="19196" y="549353"/>
                  </a:lnTo>
                  <a:lnTo>
                    <a:pt x="52151" y="607389"/>
                  </a:lnTo>
                  <a:lnTo>
                    <a:pt x="99917" y="662070"/>
                  </a:lnTo>
                  <a:lnTo>
                    <a:pt x="129003" y="687982"/>
                  </a:lnTo>
                  <a:lnTo>
                    <a:pt x="161370" y="712852"/>
                  </a:lnTo>
                  <a:lnTo>
                    <a:pt x="196877" y="736610"/>
                  </a:lnTo>
                  <a:lnTo>
                    <a:pt x="235383" y="759189"/>
                  </a:lnTo>
                  <a:lnTo>
                    <a:pt x="276748" y="780521"/>
                  </a:lnTo>
                  <a:lnTo>
                    <a:pt x="320831" y="800537"/>
                  </a:lnTo>
                  <a:lnTo>
                    <a:pt x="367491" y="819171"/>
                  </a:lnTo>
                  <a:lnTo>
                    <a:pt x="416588" y="836352"/>
                  </a:lnTo>
                  <a:lnTo>
                    <a:pt x="467980" y="852014"/>
                  </a:lnTo>
                  <a:lnTo>
                    <a:pt x="521528" y="866089"/>
                  </a:lnTo>
                  <a:lnTo>
                    <a:pt x="577089" y="878508"/>
                  </a:lnTo>
                  <a:lnTo>
                    <a:pt x="634525" y="889202"/>
                  </a:lnTo>
                  <a:lnTo>
                    <a:pt x="693693" y="898106"/>
                  </a:lnTo>
                  <a:lnTo>
                    <a:pt x="754453" y="905149"/>
                  </a:lnTo>
                  <a:lnTo>
                    <a:pt x="816665" y="910264"/>
                  </a:lnTo>
                  <a:lnTo>
                    <a:pt x="880187" y="913383"/>
                  </a:lnTo>
                  <a:lnTo>
                    <a:pt x="944879" y="914438"/>
                  </a:lnTo>
                  <a:lnTo>
                    <a:pt x="1009572" y="913383"/>
                  </a:lnTo>
                  <a:lnTo>
                    <a:pt x="1073094" y="910264"/>
                  </a:lnTo>
                  <a:lnTo>
                    <a:pt x="1135306" y="905149"/>
                  </a:lnTo>
                  <a:lnTo>
                    <a:pt x="1196066" y="898106"/>
                  </a:lnTo>
                  <a:lnTo>
                    <a:pt x="1255234" y="889202"/>
                  </a:lnTo>
                  <a:lnTo>
                    <a:pt x="1312670" y="878508"/>
                  </a:lnTo>
                  <a:lnTo>
                    <a:pt x="1368231" y="866089"/>
                  </a:lnTo>
                  <a:lnTo>
                    <a:pt x="1421779" y="852014"/>
                  </a:lnTo>
                  <a:lnTo>
                    <a:pt x="1473171" y="836352"/>
                  </a:lnTo>
                  <a:lnTo>
                    <a:pt x="1522268" y="819171"/>
                  </a:lnTo>
                  <a:lnTo>
                    <a:pt x="1568928" y="800537"/>
                  </a:lnTo>
                  <a:lnTo>
                    <a:pt x="1613011" y="780521"/>
                  </a:lnTo>
                  <a:lnTo>
                    <a:pt x="1654376" y="759189"/>
                  </a:lnTo>
                  <a:lnTo>
                    <a:pt x="1692882" y="736610"/>
                  </a:lnTo>
                  <a:lnTo>
                    <a:pt x="1728389" y="712852"/>
                  </a:lnTo>
                  <a:lnTo>
                    <a:pt x="1760756" y="687982"/>
                  </a:lnTo>
                  <a:lnTo>
                    <a:pt x="1789842" y="662070"/>
                  </a:lnTo>
                  <a:lnTo>
                    <a:pt x="1837608" y="607389"/>
                  </a:lnTo>
                  <a:lnTo>
                    <a:pt x="1870563" y="549353"/>
                  </a:lnTo>
                  <a:lnTo>
                    <a:pt x="1887580" y="488506"/>
                  </a:lnTo>
                  <a:lnTo>
                    <a:pt x="1889759" y="457199"/>
                  </a:lnTo>
                  <a:lnTo>
                    <a:pt x="1887580" y="425900"/>
                  </a:lnTo>
                  <a:lnTo>
                    <a:pt x="1870563" y="365066"/>
                  </a:lnTo>
                  <a:lnTo>
                    <a:pt x="1837608" y="307039"/>
                  </a:lnTo>
                  <a:lnTo>
                    <a:pt x="1789842" y="252364"/>
                  </a:lnTo>
                  <a:lnTo>
                    <a:pt x="1760756" y="226455"/>
                  </a:lnTo>
                  <a:lnTo>
                    <a:pt x="1728389" y="201587"/>
                  </a:lnTo>
                  <a:lnTo>
                    <a:pt x="1692882" y="177830"/>
                  </a:lnTo>
                  <a:lnTo>
                    <a:pt x="1654376" y="155252"/>
                  </a:lnTo>
                  <a:lnTo>
                    <a:pt x="1613011" y="133921"/>
                  </a:lnTo>
                  <a:lnTo>
                    <a:pt x="1568928" y="113905"/>
                  </a:lnTo>
                  <a:lnTo>
                    <a:pt x="1522268" y="95272"/>
                  </a:lnTo>
                  <a:lnTo>
                    <a:pt x="1473171" y="78090"/>
                  </a:lnTo>
                  <a:lnTo>
                    <a:pt x="1421779" y="62427"/>
                  </a:lnTo>
                  <a:lnTo>
                    <a:pt x="1368231" y="48352"/>
                  </a:lnTo>
                  <a:lnTo>
                    <a:pt x="1312670" y="35933"/>
                  </a:lnTo>
                  <a:lnTo>
                    <a:pt x="1255234" y="25237"/>
                  </a:lnTo>
                  <a:lnTo>
                    <a:pt x="1196066" y="16333"/>
                  </a:lnTo>
                  <a:lnTo>
                    <a:pt x="1135306" y="9289"/>
                  </a:lnTo>
                  <a:lnTo>
                    <a:pt x="1073094" y="4174"/>
                  </a:lnTo>
                  <a:lnTo>
                    <a:pt x="1009572" y="1054"/>
                  </a:lnTo>
                  <a:lnTo>
                    <a:pt x="944879" y="0"/>
                  </a:lnTo>
                  <a:close/>
                </a:path>
              </a:pathLst>
            </a:custGeom>
            <a:solidFill>
              <a:srgbClr val="003B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1"/>
          <p:cNvSpPr txBox="1"/>
          <p:nvPr/>
        </p:nvSpPr>
        <p:spPr>
          <a:xfrm>
            <a:off x="9762725" y="5212850"/>
            <a:ext cx="18897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Relacionamento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1"/>
          <p:cNvGrpSpPr/>
          <p:nvPr/>
        </p:nvGrpSpPr>
        <p:grpSpPr>
          <a:xfrm>
            <a:off x="7741920" y="1328953"/>
            <a:ext cx="3753612" cy="3798671"/>
            <a:chOff x="7741920" y="1328953"/>
            <a:chExt cx="3753612" cy="3798671"/>
          </a:xfrm>
        </p:grpSpPr>
        <p:sp>
          <p:nvSpPr>
            <p:cNvPr id="133" name="Google Shape;133;p11"/>
            <p:cNvSpPr/>
            <p:nvPr/>
          </p:nvSpPr>
          <p:spPr>
            <a:xfrm>
              <a:off x="7741920" y="4084319"/>
              <a:ext cx="2194560" cy="1043305"/>
            </a:xfrm>
            <a:custGeom>
              <a:rect b="b" l="l" r="r" t="t"/>
              <a:pathLst>
                <a:path extrusionOk="0" h="1043304" w="2194559">
                  <a:moveTo>
                    <a:pt x="0" y="0"/>
                  </a:moveTo>
                  <a:lnTo>
                    <a:pt x="2194559" y="1043177"/>
                  </a:lnTo>
                </a:path>
              </a:pathLst>
            </a:custGeom>
            <a:noFill/>
            <a:ln cap="flat" cmpd="sng" w="15225">
              <a:solidFill>
                <a:srgbClr val="00E02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4" name="Google Shape;134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355836" y="1328953"/>
              <a:ext cx="2139696" cy="11643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1"/>
            <p:cNvSpPr/>
            <p:nvPr/>
          </p:nvSpPr>
          <p:spPr>
            <a:xfrm>
              <a:off x="9448800" y="1422653"/>
              <a:ext cx="1889760" cy="914400"/>
            </a:xfrm>
            <a:custGeom>
              <a:rect b="b" l="l" r="r" t="t"/>
              <a:pathLst>
                <a:path extrusionOk="0" h="914400" w="1889759">
                  <a:moveTo>
                    <a:pt x="944879" y="0"/>
                  </a:moveTo>
                  <a:lnTo>
                    <a:pt x="880187" y="1054"/>
                  </a:lnTo>
                  <a:lnTo>
                    <a:pt x="816665" y="4174"/>
                  </a:lnTo>
                  <a:lnTo>
                    <a:pt x="754453" y="9289"/>
                  </a:lnTo>
                  <a:lnTo>
                    <a:pt x="693693" y="16333"/>
                  </a:lnTo>
                  <a:lnTo>
                    <a:pt x="634525" y="25237"/>
                  </a:lnTo>
                  <a:lnTo>
                    <a:pt x="577089" y="35933"/>
                  </a:lnTo>
                  <a:lnTo>
                    <a:pt x="521528" y="48352"/>
                  </a:lnTo>
                  <a:lnTo>
                    <a:pt x="467980" y="62427"/>
                  </a:lnTo>
                  <a:lnTo>
                    <a:pt x="416588" y="78090"/>
                  </a:lnTo>
                  <a:lnTo>
                    <a:pt x="367491" y="95272"/>
                  </a:lnTo>
                  <a:lnTo>
                    <a:pt x="320831" y="113905"/>
                  </a:lnTo>
                  <a:lnTo>
                    <a:pt x="276748" y="133921"/>
                  </a:lnTo>
                  <a:lnTo>
                    <a:pt x="235383" y="155252"/>
                  </a:lnTo>
                  <a:lnTo>
                    <a:pt x="196877" y="177830"/>
                  </a:lnTo>
                  <a:lnTo>
                    <a:pt x="161370" y="201587"/>
                  </a:lnTo>
                  <a:lnTo>
                    <a:pt x="129003" y="226455"/>
                  </a:lnTo>
                  <a:lnTo>
                    <a:pt x="99917" y="252364"/>
                  </a:lnTo>
                  <a:lnTo>
                    <a:pt x="52151" y="307039"/>
                  </a:lnTo>
                  <a:lnTo>
                    <a:pt x="19196" y="365066"/>
                  </a:lnTo>
                  <a:lnTo>
                    <a:pt x="2179" y="425900"/>
                  </a:lnTo>
                  <a:lnTo>
                    <a:pt x="0" y="457200"/>
                  </a:lnTo>
                  <a:lnTo>
                    <a:pt x="2179" y="488499"/>
                  </a:lnTo>
                  <a:lnTo>
                    <a:pt x="19196" y="549333"/>
                  </a:lnTo>
                  <a:lnTo>
                    <a:pt x="52151" y="607360"/>
                  </a:lnTo>
                  <a:lnTo>
                    <a:pt x="99917" y="662035"/>
                  </a:lnTo>
                  <a:lnTo>
                    <a:pt x="129003" y="687944"/>
                  </a:lnTo>
                  <a:lnTo>
                    <a:pt x="161370" y="712812"/>
                  </a:lnTo>
                  <a:lnTo>
                    <a:pt x="196877" y="736569"/>
                  </a:lnTo>
                  <a:lnTo>
                    <a:pt x="235383" y="759147"/>
                  </a:lnTo>
                  <a:lnTo>
                    <a:pt x="276748" y="780478"/>
                  </a:lnTo>
                  <a:lnTo>
                    <a:pt x="320831" y="800494"/>
                  </a:lnTo>
                  <a:lnTo>
                    <a:pt x="367491" y="819127"/>
                  </a:lnTo>
                  <a:lnTo>
                    <a:pt x="416588" y="836309"/>
                  </a:lnTo>
                  <a:lnTo>
                    <a:pt x="467980" y="851972"/>
                  </a:lnTo>
                  <a:lnTo>
                    <a:pt x="521528" y="866047"/>
                  </a:lnTo>
                  <a:lnTo>
                    <a:pt x="577089" y="878466"/>
                  </a:lnTo>
                  <a:lnTo>
                    <a:pt x="634525" y="889162"/>
                  </a:lnTo>
                  <a:lnTo>
                    <a:pt x="693693" y="898066"/>
                  </a:lnTo>
                  <a:lnTo>
                    <a:pt x="754453" y="905110"/>
                  </a:lnTo>
                  <a:lnTo>
                    <a:pt x="816665" y="910225"/>
                  </a:lnTo>
                  <a:lnTo>
                    <a:pt x="880187" y="913345"/>
                  </a:lnTo>
                  <a:lnTo>
                    <a:pt x="944879" y="914400"/>
                  </a:lnTo>
                  <a:lnTo>
                    <a:pt x="1009572" y="913345"/>
                  </a:lnTo>
                  <a:lnTo>
                    <a:pt x="1073094" y="910225"/>
                  </a:lnTo>
                  <a:lnTo>
                    <a:pt x="1135306" y="905110"/>
                  </a:lnTo>
                  <a:lnTo>
                    <a:pt x="1196066" y="898066"/>
                  </a:lnTo>
                  <a:lnTo>
                    <a:pt x="1255234" y="889162"/>
                  </a:lnTo>
                  <a:lnTo>
                    <a:pt x="1312670" y="878466"/>
                  </a:lnTo>
                  <a:lnTo>
                    <a:pt x="1368231" y="866047"/>
                  </a:lnTo>
                  <a:lnTo>
                    <a:pt x="1421779" y="851972"/>
                  </a:lnTo>
                  <a:lnTo>
                    <a:pt x="1473171" y="836309"/>
                  </a:lnTo>
                  <a:lnTo>
                    <a:pt x="1522268" y="819127"/>
                  </a:lnTo>
                  <a:lnTo>
                    <a:pt x="1568928" y="800494"/>
                  </a:lnTo>
                  <a:lnTo>
                    <a:pt x="1613011" y="780478"/>
                  </a:lnTo>
                  <a:lnTo>
                    <a:pt x="1654376" y="759147"/>
                  </a:lnTo>
                  <a:lnTo>
                    <a:pt x="1692882" y="736569"/>
                  </a:lnTo>
                  <a:lnTo>
                    <a:pt x="1728389" y="712812"/>
                  </a:lnTo>
                  <a:lnTo>
                    <a:pt x="1760756" y="687944"/>
                  </a:lnTo>
                  <a:lnTo>
                    <a:pt x="1789842" y="662035"/>
                  </a:lnTo>
                  <a:lnTo>
                    <a:pt x="1837608" y="607360"/>
                  </a:lnTo>
                  <a:lnTo>
                    <a:pt x="1870563" y="549333"/>
                  </a:lnTo>
                  <a:lnTo>
                    <a:pt x="1887580" y="488499"/>
                  </a:lnTo>
                  <a:lnTo>
                    <a:pt x="1889759" y="457200"/>
                  </a:lnTo>
                  <a:lnTo>
                    <a:pt x="1887580" y="425900"/>
                  </a:lnTo>
                  <a:lnTo>
                    <a:pt x="1870563" y="365066"/>
                  </a:lnTo>
                  <a:lnTo>
                    <a:pt x="1837608" y="307039"/>
                  </a:lnTo>
                  <a:lnTo>
                    <a:pt x="1789842" y="252364"/>
                  </a:lnTo>
                  <a:lnTo>
                    <a:pt x="1760756" y="226455"/>
                  </a:lnTo>
                  <a:lnTo>
                    <a:pt x="1728389" y="201587"/>
                  </a:lnTo>
                  <a:lnTo>
                    <a:pt x="1692882" y="177830"/>
                  </a:lnTo>
                  <a:lnTo>
                    <a:pt x="1654376" y="155252"/>
                  </a:lnTo>
                  <a:lnTo>
                    <a:pt x="1613011" y="133921"/>
                  </a:lnTo>
                  <a:lnTo>
                    <a:pt x="1568928" y="113905"/>
                  </a:lnTo>
                  <a:lnTo>
                    <a:pt x="1522268" y="95272"/>
                  </a:lnTo>
                  <a:lnTo>
                    <a:pt x="1473171" y="78090"/>
                  </a:lnTo>
                  <a:lnTo>
                    <a:pt x="1421779" y="62427"/>
                  </a:lnTo>
                  <a:lnTo>
                    <a:pt x="1368231" y="48352"/>
                  </a:lnTo>
                  <a:lnTo>
                    <a:pt x="1312670" y="35933"/>
                  </a:lnTo>
                  <a:lnTo>
                    <a:pt x="1255234" y="25237"/>
                  </a:lnTo>
                  <a:lnTo>
                    <a:pt x="1196066" y="16333"/>
                  </a:lnTo>
                  <a:lnTo>
                    <a:pt x="1135306" y="9289"/>
                  </a:lnTo>
                  <a:lnTo>
                    <a:pt x="1073094" y="4174"/>
                  </a:lnTo>
                  <a:lnTo>
                    <a:pt x="1009572" y="1054"/>
                  </a:lnTo>
                  <a:lnTo>
                    <a:pt x="944879" y="0"/>
                  </a:lnTo>
                  <a:close/>
                </a:path>
              </a:pathLst>
            </a:custGeom>
            <a:solidFill>
              <a:srgbClr val="003B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1"/>
          <p:cNvSpPr txBox="1"/>
          <p:nvPr/>
        </p:nvSpPr>
        <p:spPr>
          <a:xfrm>
            <a:off x="9522900" y="1715250"/>
            <a:ext cx="1816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Reputação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7741919" y="2155317"/>
            <a:ext cx="1889760" cy="805815"/>
          </a:xfrm>
          <a:custGeom>
            <a:rect b="b" l="l" r="r" t="t"/>
            <a:pathLst>
              <a:path extrusionOk="0" h="805814" w="1889759">
                <a:moveTo>
                  <a:pt x="0" y="805561"/>
                </a:moveTo>
                <a:lnTo>
                  <a:pt x="1889759" y="0"/>
                </a:lnTo>
              </a:path>
            </a:pathLst>
          </a:custGeom>
          <a:noFill/>
          <a:ln cap="flat" cmpd="sng" w="15225">
            <a:solidFill>
              <a:srgbClr val="00E02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138" name="Google Shape;138;p11"/>
          <p:cNvSpPr txBox="1"/>
          <p:nvPr>
            <p:ph type="title"/>
          </p:nvPr>
        </p:nvSpPr>
        <p:spPr>
          <a:xfrm>
            <a:off x="306730" y="-13781"/>
            <a:ext cx="10750500" cy="1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700">
            <a:spAutoFit/>
          </a:bodyPr>
          <a:lstStyle/>
          <a:p>
            <a:pPr indent="-2867025" lvl="0" marL="3886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TODA COMUNICAÇÃO FOI ORGANIZADA PARA APOIAR OS</a:t>
            </a:r>
            <a:endParaRPr u="sng"/>
          </a:p>
          <a:p>
            <a:pPr indent="-2867025" lvl="0" marL="3886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OBJETIVOS</a:t>
            </a:r>
            <a:r>
              <a:rPr lang="en-US"/>
              <a:t> </a:t>
            </a:r>
            <a:r>
              <a:rPr lang="en-US" u="sng"/>
              <a:t>ESTRATÉGICOS DO BANCO.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2A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9595" y="110236"/>
            <a:ext cx="626744" cy="97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"/>
            <a:ext cx="440575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45772" y="173445"/>
            <a:ext cx="371195" cy="29927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2"/>
          <p:cNvSpPr txBox="1"/>
          <p:nvPr/>
        </p:nvSpPr>
        <p:spPr>
          <a:xfrm>
            <a:off x="4933646" y="348900"/>
            <a:ext cx="3579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PUBLICIDADE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48" name="Google Shape;148;p12"/>
          <p:cNvSpPr txBox="1"/>
          <p:nvPr>
            <p:ph idx="1" type="body"/>
          </p:nvPr>
        </p:nvSpPr>
        <p:spPr>
          <a:xfrm>
            <a:off x="4941445" y="1037992"/>
            <a:ext cx="6704400" cy="2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Comunicação orientada à geração de negócios</a:t>
            </a:r>
            <a:endParaRPr/>
          </a:p>
        </p:txBody>
      </p:sp>
      <p:sp>
        <p:nvSpPr>
          <p:cNvPr id="149" name="Google Shape;149;p12"/>
          <p:cNvSpPr txBox="1"/>
          <p:nvPr/>
        </p:nvSpPr>
        <p:spPr>
          <a:xfrm>
            <a:off x="5004053" y="3475560"/>
            <a:ext cx="58737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Produtos trabalhados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7815" lvl="0" marL="354965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ahoma"/>
              <a:buChar char="•"/>
            </a:pPr>
            <a:r>
              <a:rPr lang="en-US" sz="1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Maquininha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  <a:p>
            <a:pPr indent="-29781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ahoma"/>
              <a:buChar char="•"/>
            </a:pPr>
            <a:r>
              <a:rPr lang="en-US" sz="1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Capital de Giro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  <a:p>
            <a:pPr indent="-29781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ahoma"/>
              <a:buChar char="•"/>
            </a:pPr>
            <a:r>
              <a:rPr lang="en-US" sz="1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Agronegócio - Custeio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  <a:p>
            <a:pPr indent="-29781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ahoma"/>
              <a:buChar char="•"/>
            </a:pPr>
            <a:r>
              <a:rPr lang="en-US" sz="1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Consórcio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  <a:p>
            <a:pPr indent="-29781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ahoma"/>
              <a:buChar char="•"/>
            </a:pPr>
            <a:r>
              <a:rPr lang="en-US" sz="1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Cartão Verdinho (já clientes)</a:t>
            </a:r>
            <a:endParaRPr sz="17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781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ahoma"/>
              <a:buChar char="•"/>
            </a:pPr>
            <a:r>
              <a:rPr lang="en-US" sz="1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Riqueza</a:t>
            </a:r>
            <a:endParaRPr sz="17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781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ahoma"/>
              <a:buChar char="•"/>
            </a:pPr>
            <a:r>
              <a:rPr lang="en-US" sz="1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Always On </a:t>
            </a:r>
            <a:endParaRPr sz="17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781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ahoma"/>
              <a:buChar char="•"/>
            </a:pPr>
            <a:r>
              <a:rPr lang="en-US" sz="1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Sustentabilidade</a:t>
            </a:r>
            <a:endParaRPr sz="17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781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ahoma"/>
              <a:buChar char="•"/>
            </a:pPr>
            <a:r>
              <a:rPr lang="en-US" sz="1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Circuito das Estações </a:t>
            </a:r>
            <a:endParaRPr sz="17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781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ahoma"/>
              <a:buChar char="•"/>
            </a:pPr>
            <a:r>
              <a:rPr lang="en-US" sz="1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Projeto Parintins </a:t>
            </a:r>
            <a:endParaRPr sz="17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00405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Amazônia Legal + Brasília + São Paulo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4A170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3"/>
          <p:cNvGrpSpPr/>
          <p:nvPr/>
        </p:nvGrpSpPr>
        <p:grpSpPr>
          <a:xfrm>
            <a:off x="11499595" y="110236"/>
            <a:ext cx="626744" cy="362488"/>
            <a:chOff x="11499595" y="110236"/>
            <a:chExt cx="626744" cy="362488"/>
          </a:xfrm>
        </p:grpSpPr>
        <p:pic>
          <p:nvPicPr>
            <p:cNvPr id="156" name="Google Shape;15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99595" y="110236"/>
              <a:ext cx="626744" cy="97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645772" y="173445"/>
              <a:ext cx="371195" cy="2992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" name="Google Shape;158;p13"/>
          <p:cNvGrpSpPr/>
          <p:nvPr/>
        </p:nvGrpSpPr>
        <p:grpSpPr>
          <a:xfrm>
            <a:off x="865632" y="807719"/>
            <a:ext cx="3514344" cy="2648712"/>
            <a:chOff x="865632" y="807719"/>
            <a:chExt cx="3514344" cy="2648712"/>
          </a:xfrm>
        </p:grpSpPr>
        <p:pic>
          <p:nvPicPr>
            <p:cNvPr id="159" name="Google Shape;159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65632" y="807719"/>
              <a:ext cx="3514344" cy="26487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3"/>
            <p:cNvSpPr/>
            <p:nvPr/>
          </p:nvSpPr>
          <p:spPr>
            <a:xfrm>
              <a:off x="959027" y="901318"/>
              <a:ext cx="3265170" cy="2398395"/>
            </a:xfrm>
            <a:custGeom>
              <a:rect b="b" l="l" r="r" t="t"/>
              <a:pathLst>
                <a:path extrusionOk="0" h="2398395" w="3265170">
                  <a:moveTo>
                    <a:pt x="3096463" y="0"/>
                  </a:moveTo>
                  <a:lnTo>
                    <a:pt x="168516" y="0"/>
                  </a:lnTo>
                  <a:lnTo>
                    <a:pt x="123719" y="6018"/>
                  </a:lnTo>
                  <a:lnTo>
                    <a:pt x="83464" y="23005"/>
                  </a:lnTo>
                  <a:lnTo>
                    <a:pt x="49358" y="49355"/>
                  </a:lnTo>
                  <a:lnTo>
                    <a:pt x="23008" y="83462"/>
                  </a:lnTo>
                  <a:lnTo>
                    <a:pt x="6019" y="123722"/>
                  </a:lnTo>
                  <a:lnTo>
                    <a:pt x="0" y="168528"/>
                  </a:lnTo>
                  <a:lnTo>
                    <a:pt x="0" y="2229484"/>
                  </a:lnTo>
                  <a:lnTo>
                    <a:pt x="6019" y="2274291"/>
                  </a:lnTo>
                  <a:lnTo>
                    <a:pt x="23008" y="2314551"/>
                  </a:lnTo>
                  <a:lnTo>
                    <a:pt x="49358" y="2348658"/>
                  </a:lnTo>
                  <a:lnTo>
                    <a:pt x="83464" y="2375008"/>
                  </a:lnTo>
                  <a:lnTo>
                    <a:pt x="123719" y="2391995"/>
                  </a:lnTo>
                  <a:lnTo>
                    <a:pt x="168516" y="2398014"/>
                  </a:lnTo>
                  <a:lnTo>
                    <a:pt x="3096463" y="2398014"/>
                  </a:lnTo>
                  <a:lnTo>
                    <a:pt x="3141270" y="2391995"/>
                  </a:lnTo>
                  <a:lnTo>
                    <a:pt x="3181529" y="2375008"/>
                  </a:lnTo>
                  <a:lnTo>
                    <a:pt x="3215636" y="2348658"/>
                  </a:lnTo>
                  <a:lnTo>
                    <a:pt x="3241986" y="2314551"/>
                  </a:lnTo>
                  <a:lnTo>
                    <a:pt x="3258973" y="2274291"/>
                  </a:lnTo>
                  <a:lnTo>
                    <a:pt x="3264992" y="2229484"/>
                  </a:lnTo>
                  <a:lnTo>
                    <a:pt x="3264992" y="168528"/>
                  </a:lnTo>
                  <a:lnTo>
                    <a:pt x="3258973" y="123722"/>
                  </a:lnTo>
                  <a:lnTo>
                    <a:pt x="3241986" y="83462"/>
                  </a:lnTo>
                  <a:lnTo>
                    <a:pt x="3215636" y="49355"/>
                  </a:lnTo>
                  <a:lnTo>
                    <a:pt x="3181529" y="23005"/>
                  </a:lnTo>
                  <a:lnTo>
                    <a:pt x="3141270" y="6018"/>
                  </a:lnTo>
                  <a:lnTo>
                    <a:pt x="3096463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161" name="Google Shape;161;p13"/>
          <p:cNvSpPr txBox="1"/>
          <p:nvPr>
            <p:ph type="title"/>
          </p:nvPr>
        </p:nvSpPr>
        <p:spPr>
          <a:xfrm>
            <a:off x="1342136" y="1185571"/>
            <a:ext cx="2497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E2FF6A"/>
                </a:solidFill>
              </a:rPr>
              <a:t>56</a:t>
            </a:r>
            <a:r>
              <a:rPr lang="en-US" sz="3000">
                <a:solidFill>
                  <a:srgbClr val="E2FF6A"/>
                </a:solidFill>
              </a:rPr>
              <a:t>.775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Leads Gerados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62" name="Google Shape;162;p13"/>
          <p:cNvGrpSpPr/>
          <p:nvPr/>
        </p:nvGrpSpPr>
        <p:grpSpPr>
          <a:xfrm>
            <a:off x="4369308" y="807719"/>
            <a:ext cx="3515867" cy="2648712"/>
            <a:chOff x="4369308" y="807719"/>
            <a:chExt cx="3515867" cy="2648712"/>
          </a:xfrm>
        </p:grpSpPr>
        <p:pic>
          <p:nvPicPr>
            <p:cNvPr id="163" name="Google Shape;163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69308" y="807719"/>
              <a:ext cx="3515867" cy="26487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3"/>
            <p:cNvSpPr/>
            <p:nvPr/>
          </p:nvSpPr>
          <p:spPr>
            <a:xfrm>
              <a:off x="4463542" y="901318"/>
              <a:ext cx="3265170" cy="2398395"/>
            </a:xfrm>
            <a:custGeom>
              <a:rect b="b" l="l" r="r" t="t"/>
              <a:pathLst>
                <a:path extrusionOk="0" h="2398395" w="3265170">
                  <a:moveTo>
                    <a:pt x="3096514" y="0"/>
                  </a:moveTo>
                  <a:lnTo>
                    <a:pt x="168402" y="0"/>
                  </a:lnTo>
                  <a:lnTo>
                    <a:pt x="123648" y="6018"/>
                  </a:lnTo>
                  <a:lnTo>
                    <a:pt x="83424" y="23005"/>
                  </a:lnTo>
                  <a:lnTo>
                    <a:pt x="49339" y="49355"/>
                  </a:lnTo>
                  <a:lnTo>
                    <a:pt x="23001" y="83462"/>
                  </a:lnTo>
                  <a:lnTo>
                    <a:pt x="6018" y="123722"/>
                  </a:lnTo>
                  <a:lnTo>
                    <a:pt x="0" y="168528"/>
                  </a:lnTo>
                  <a:lnTo>
                    <a:pt x="0" y="2229484"/>
                  </a:lnTo>
                  <a:lnTo>
                    <a:pt x="6018" y="2274291"/>
                  </a:lnTo>
                  <a:lnTo>
                    <a:pt x="23001" y="2314551"/>
                  </a:lnTo>
                  <a:lnTo>
                    <a:pt x="49339" y="2348658"/>
                  </a:lnTo>
                  <a:lnTo>
                    <a:pt x="83424" y="2375008"/>
                  </a:lnTo>
                  <a:lnTo>
                    <a:pt x="123648" y="2391995"/>
                  </a:lnTo>
                  <a:lnTo>
                    <a:pt x="168402" y="2398014"/>
                  </a:lnTo>
                  <a:lnTo>
                    <a:pt x="3096514" y="2398014"/>
                  </a:lnTo>
                  <a:lnTo>
                    <a:pt x="3141267" y="2391995"/>
                  </a:lnTo>
                  <a:lnTo>
                    <a:pt x="3181491" y="2375008"/>
                  </a:lnTo>
                  <a:lnTo>
                    <a:pt x="3215576" y="2348658"/>
                  </a:lnTo>
                  <a:lnTo>
                    <a:pt x="3241914" y="2314551"/>
                  </a:lnTo>
                  <a:lnTo>
                    <a:pt x="3258897" y="2274291"/>
                  </a:lnTo>
                  <a:lnTo>
                    <a:pt x="3264916" y="2229484"/>
                  </a:lnTo>
                  <a:lnTo>
                    <a:pt x="3264916" y="168528"/>
                  </a:lnTo>
                  <a:lnTo>
                    <a:pt x="3258897" y="123722"/>
                  </a:lnTo>
                  <a:lnTo>
                    <a:pt x="3241914" y="83462"/>
                  </a:lnTo>
                  <a:lnTo>
                    <a:pt x="3215576" y="49355"/>
                  </a:lnTo>
                  <a:lnTo>
                    <a:pt x="3181491" y="23005"/>
                  </a:lnTo>
                  <a:lnTo>
                    <a:pt x="3141267" y="6018"/>
                  </a:lnTo>
                  <a:lnTo>
                    <a:pt x="309651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13"/>
          <p:cNvSpPr txBox="1"/>
          <p:nvPr/>
        </p:nvSpPr>
        <p:spPr>
          <a:xfrm>
            <a:off x="4473337" y="1185575"/>
            <a:ext cx="33078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2FF6A"/>
                </a:solidFill>
              </a:rPr>
              <a:t>317 </a:t>
            </a:r>
            <a:r>
              <a:rPr b="1" lang="en-US" sz="3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Mi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12065" marR="508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Impressões Digitais </a:t>
            </a:r>
            <a:r>
              <a:rPr lang="en-US" sz="1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(Redes + Mídia ON)</a:t>
            </a:r>
            <a:endParaRPr sz="1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66" name="Google Shape;166;p13"/>
          <p:cNvGrpSpPr/>
          <p:nvPr/>
        </p:nvGrpSpPr>
        <p:grpSpPr>
          <a:xfrm>
            <a:off x="7874507" y="807719"/>
            <a:ext cx="3514344" cy="2648712"/>
            <a:chOff x="7874507" y="807719"/>
            <a:chExt cx="3514344" cy="2648712"/>
          </a:xfrm>
        </p:grpSpPr>
        <p:pic>
          <p:nvPicPr>
            <p:cNvPr id="167" name="Google Shape;16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874507" y="807719"/>
              <a:ext cx="3514344" cy="26487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3"/>
            <p:cNvSpPr/>
            <p:nvPr/>
          </p:nvSpPr>
          <p:spPr>
            <a:xfrm>
              <a:off x="7967979" y="901318"/>
              <a:ext cx="3265170" cy="2398395"/>
            </a:xfrm>
            <a:custGeom>
              <a:rect b="b" l="l" r="r" t="t"/>
              <a:pathLst>
                <a:path extrusionOk="0" h="2398395" w="3265170">
                  <a:moveTo>
                    <a:pt x="3096514" y="0"/>
                  </a:moveTo>
                  <a:lnTo>
                    <a:pt x="168528" y="0"/>
                  </a:lnTo>
                  <a:lnTo>
                    <a:pt x="123722" y="6018"/>
                  </a:lnTo>
                  <a:lnTo>
                    <a:pt x="83462" y="23005"/>
                  </a:lnTo>
                  <a:lnTo>
                    <a:pt x="49355" y="49355"/>
                  </a:lnTo>
                  <a:lnTo>
                    <a:pt x="23005" y="83462"/>
                  </a:lnTo>
                  <a:lnTo>
                    <a:pt x="6018" y="123722"/>
                  </a:lnTo>
                  <a:lnTo>
                    <a:pt x="0" y="168528"/>
                  </a:lnTo>
                  <a:lnTo>
                    <a:pt x="0" y="2229484"/>
                  </a:lnTo>
                  <a:lnTo>
                    <a:pt x="6018" y="2274291"/>
                  </a:lnTo>
                  <a:lnTo>
                    <a:pt x="23005" y="2314551"/>
                  </a:lnTo>
                  <a:lnTo>
                    <a:pt x="49355" y="2348658"/>
                  </a:lnTo>
                  <a:lnTo>
                    <a:pt x="83462" y="2375008"/>
                  </a:lnTo>
                  <a:lnTo>
                    <a:pt x="123722" y="2391995"/>
                  </a:lnTo>
                  <a:lnTo>
                    <a:pt x="168528" y="2398014"/>
                  </a:lnTo>
                  <a:lnTo>
                    <a:pt x="3096514" y="2398014"/>
                  </a:lnTo>
                  <a:lnTo>
                    <a:pt x="3141320" y="2391995"/>
                  </a:lnTo>
                  <a:lnTo>
                    <a:pt x="3181580" y="2375008"/>
                  </a:lnTo>
                  <a:lnTo>
                    <a:pt x="3215687" y="2348658"/>
                  </a:lnTo>
                  <a:lnTo>
                    <a:pt x="3242037" y="2314551"/>
                  </a:lnTo>
                  <a:lnTo>
                    <a:pt x="3259024" y="2274291"/>
                  </a:lnTo>
                  <a:lnTo>
                    <a:pt x="3265043" y="2229484"/>
                  </a:lnTo>
                  <a:lnTo>
                    <a:pt x="3265043" y="168528"/>
                  </a:lnTo>
                  <a:lnTo>
                    <a:pt x="3259024" y="123722"/>
                  </a:lnTo>
                  <a:lnTo>
                    <a:pt x="3242037" y="83462"/>
                  </a:lnTo>
                  <a:lnTo>
                    <a:pt x="3215687" y="49355"/>
                  </a:lnTo>
                  <a:lnTo>
                    <a:pt x="3181580" y="23005"/>
                  </a:lnTo>
                  <a:lnTo>
                    <a:pt x="3141320" y="6018"/>
                  </a:lnTo>
                  <a:lnTo>
                    <a:pt x="309651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3"/>
          <p:cNvSpPr txBox="1"/>
          <p:nvPr/>
        </p:nvSpPr>
        <p:spPr>
          <a:xfrm>
            <a:off x="8015276" y="1328232"/>
            <a:ext cx="32328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700">
            <a:spAutoFit/>
          </a:bodyPr>
          <a:lstStyle/>
          <a:p>
            <a:pPr indent="0" lvl="0" marL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2FF6A"/>
                </a:solidFill>
              </a:rPr>
              <a:t>867 </a:t>
            </a:r>
            <a:r>
              <a:rPr b="1" lang="en-US" sz="3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Mil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ct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Cliques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0" name="Google Shape;170;p13"/>
          <p:cNvGrpSpPr/>
          <p:nvPr/>
        </p:nvGrpSpPr>
        <p:grpSpPr>
          <a:xfrm>
            <a:off x="2442972" y="3465563"/>
            <a:ext cx="3515867" cy="2647188"/>
            <a:chOff x="2442972" y="3465563"/>
            <a:chExt cx="3515867" cy="2647188"/>
          </a:xfrm>
        </p:grpSpPr>
        <p:pic>
          <p:nvPicPr>
            <p:cNvPr id="171" name="Google Shape;171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42972" y="3465563"/>
              <a:ext cx="3515867" cy="26471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3"/>
            <p:cNvSpPr/>
            <p:nvPr/>
          </p:nvSpPr>
          <p:spPr>
            <a:xfrm>
              <a:off x="2537079" y="3558666"/>
              <a:ext cx="3265170" cy="2398395"/>
            </a:xfrm>
            <a:custGeom>
              <a:rect b="b" l="l" r="r" t="t"/>
              <a:pathLst>
                <a:path extrusionOk="0" h="2398395" w="3265170">
                  <a:moveTo>
                    <a:pt x="3096513" y="0"/>
                  </a:moveTo>
                  <a:lnTo>
                    <a:pt x="168528" y="0"/>
                  </a:lnTo>
                  <a:lnTo>
                    <a:pt x="123722" y="6018"/>
                  </a:lnTo>
                  <a:lnTo>
                    <a:pt x="83462" y="23005"/>
                  </a:lnTo>
                  <a:lnTo>
                    <a:pt x="49355" y="49355"/>
                  </a:lnTo>
                  <a:lnTo>
                    <a:pt x="23005" y="83462"/>
                  </a:lnTo>
                  <a:lnTo>
                    <a:pt x="6018" y="123722"/>
                  </a:lnTo>
                  <a:lnTo>
                    <a:pt x="0" y="168529"/>
                  </a:lnTo>
                  <a:lnTo>
                    <a:pt x="0" y="2229485"/>
                  </a:lnTo>
                  <a:lnTo>
                    <a:pt x="6018" y="2274281"/>
                  </a:lnTo>
                  <a:lnTo>
                    <a:pt x="23005" y="2314533"/>
                  </a:lnTo>
                  <a:lnTo>
                    <a:pt x="49355" y="2348636"/>
                  </a:lnTo>
                  <a:lnTo>
                    <a:pt x="83462" y="2374983"/>
                  </a:lnTo>
                  <a:lnTo>
                    <a:pt x="123722" y="2391969"/>
                  </a:lnTo>
                  <a:lnTo>
                    <a:pt x="168528" y="2397988"/>
                  </a:lnTo>
                  <a:lnTo>
                    <a:pt x="3096513" y="2397988"/>
                  </a:lnTo>
                  <a:lnTo>
                    <a:pt x="3141320" y="2391969"/>
                  </a:lnTo>
                  <a:lnTo>
                    <a:pt x="3181580" y="2374983"/>
                  </a:lnTo>
                  <a:lnTo>
                    <a:pt x="3215687" y="2348636"/>
                  </a:lnTo>
                  <a:lnTo>
                    <a:pt x="3242037" y="2314533"/>
                  </a:lnTo>
                  <a:lnTo>
                    <a:pt x="3259024" y="2274281"/>
                  </a:lnTo>
                  <a:lnTo>
                    <a:pt x="3265043" y="2229485"/>
                  </a:lnTo>
                  <a:lnTo>
                    <a:pt x="3265043" y="168529"/>
                  </a:lnTo>
                  <a:lnTo>
                    <a:pt x="3259024" y="123722"/>
                  </a:lnTo>
                  <a:lnTo>
                    <a:pt x="3242037" y="83462"/>
                  </a:lnTo>
                  <a:lnTo>
                    <a:pt x="3215687" y="49355"/>
                  </a:lnTo>
                  <a:lnTo>
                    <a:pt x="3181580" y="23005"/>
                  </a:lnTo>
                  <a:lnTo>
                    <a:pt x="3141320" y="6018"/>
                  </a:lnTo>
                  <a:lnTo>
                    <a:pt x="3096513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13"/>
          <p:cNvSpPr txBox="1"/>
          <p:nvPr/>
        </p:nvSpPr>
        <p:spPr>
          <a:xfrm>
            <a:off x="2584512" y="3721463"/>
            <a:ext cx="3232800" cy="13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2FF6A"/>
                </a:solidFill>
              </a:rPr>
              <a:t>648 </a:t>
            </a:r>
            <a:r>
              <a:rPr b="1" lang="en-US" sz="3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Mi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12065" marR="5080" rtl="0" algn="ctr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Impactos OOH </a:t>
            </a:r>
            <a:b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(DOOH + Rua)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4" name="Google Shape;174;p13"/>
          <p:cNvGrpSpPr/>
          <p:nvPr/>
        </p:nvGrpSpPr>
        <p:grpSpPr>
          <a:xfrm>
            <a:off x="5948171" y="3465563"/>
            <a:ext cx="3514344" cy="2647188"/>
            <a:chOff x="5948171" y="3465563"/>
            <a:chExt cx="3514344" cy="2647188"/>
          </a:xfrm>
        </p:grpSpPr>
        <p:pic>
          <p:nvPicPr>
            <p:cNvPr id="175" name="Google Shape;175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948171" y="3465563"/>
              <a:ext cx="3514344" cy="26471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3"/>
            <p:cNvSpPr/>
            <p:nvPr/>
          </p:nvSpPr>
          <p:spPr>
            <a:xfrm>
              <a:off x="6041643" y="3558666"/>
              <a:ext cx="3265170" cy="2398395"/>
            </a:xfrm>
            <a:custGeom>
              <a:rect b="b" l="l" r="r" t="t"/>
              <a:pathLst>
                <a:path extrusionOk="0" h="2398395" w="3265170">
                  <a:moveTo>
                    <a:pt x="3096386" y="0"/>
                  </a:moveTo>
                  <a:lnTo>
                    <a:pt x="168401" y="0"/>
                  </a:lnTo>
                  <a:lnTo>
                    <a:pt x="123648" y="6018"/>
                  </a:lnTo>
                  <a:lnTo>
                    <a:pt x="83424" y="23005"/>
                  </a:lnTo>
                  <a:lnTo>
                    <a:pt x="49339" y="49355"/>
                  </a:lnTo>
                  <a:lnTo>
                    <a:pt x="23001" y="83462"/>
                  </a:lnTo>
                  <a:lnTo>
                    <a:pt x="6018" y="123722"/>
                  </a:lnTo>
                  <a:lnTo>
                    <a:pt x="0" y="168529"/>
                  </a:lnTo>
                  <a:lnTo>
                    <a:pt x="0" y="2229485"/>
                  </a:lnTo>
                  <a:lnTo>
                    <a:pt x="6018" y="2274281"/>
                  </a:lnTo>
                  <a:lnTo>
                    <a:pt x="23001" y="2314533"/>
                  </a:lnTo>
                  <a:lnTo>
                    <a:pt x="49339" y="2348636"/>
                  </a:lnTo>
                  <a:lnTo>
                    <a:pt x="83424" y="2374983"/>
                  </a:lnTo>
                  <a:lnTo>
                    <a:pt x="123648" y="2391969"/>
                  </a:lnTo>
                  <a:lnTo>
                    <a:pt x="168401" y="2397988"/>
                  </a:lnTo>
                  <a:lnTo>
                    <a:pt x="3096386" y="2397988"/>
                  </a:lnTo>
                  <a:lnTo>
                    <a:pt x="3141193" y="2391969"/>
                  </a:lnTo>
                  <a:lnTo>
                    <a:pt x="3181453" y="2374983"/>
                  </a:lnTo>
                  <a:lnTo>
                    <a:pt x="3215560" y="2348636"/>
                  </a:lnTo>
                  <a:lnTo>
                    <a:pt x="3241910" y="2314533"/>
                  </a:lnTo>
                  <a:lnTo>
                    <a:pt x="3258897" y="2274281"/>
                  </a:lnTo>
                  <a:lnTo>
                    <a:pt x="3264915" y="2229485"/>
                  </a:lnTo>
                  <a:lnTo>
                    <a:pt x="3264915" y="168529"/>
                  </a:lnTo>
                  <a:lnTo>
                    <a:pt x="3258897" y="123722"/>
                  </a:lnTo>
                  <a:lnTo>
                    <a:pt x="3241910" y="83462"/>
                  </a:lnTo>
                  <a:lnTo>
                    <a:pt x="3215560" y="49355"/>
                  </a:lnTo>
                  <a:lnTo>
                    <a:pt x="3181453" y="23005"/>
                  </a:lnTo>
                  <a:lnTo>
                    <a:pt x="3141193" y="6018"/>
                  </a:lnTo>
                  <a:lnTo>
                    <a:pt x="3096386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/>
        </p:nvSpPr>
        <p:spPr>
          <a:xfrm>
            <a:off x="6058400" y="4150350"/>
            <a:ext cx="3232800" cy="13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2FF6A"/>
                </a:solidFill>
              </a:rPr>
              <a:t>18 </a:t>
            </a:r>
            <a:r>
              <a:rPr b="1" lang="en-US" sz="3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Mi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12065" marR="5080" rtl="0" algn="ctr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Fluxo Aeroportuário Impactado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133680" y="6157836"/>
            <a:ext cx="11656695" cy="427355"/>
          </a:xfrm>
          <a:custGeom>
            <a:rect b="b" l="l" r="r" t="t"/>
            <a:pathLst>
              <a:path extrusionOk="0" h="427354" w="11656695">
                <a:moveTo>
                  <a:pt x="11571020" y="0"/>
                </a:moveTo>
                <a:lnTo>
                  <a:pt x="85407" y="0"/>
                </a:lnTo>
                <a:lnTo>
                  <a:pt x="52163" y="6711"/>
                </a:lnTo>
                <a:lnTo>
                  <a:pt x="25015" y="25015"/>
                </a:lnTo>
                <a:lnTo>
                  <a:pt x="6711" y="52163"/>
                </a:lnTo>
                <a:lnTo>
                  <a:pt x="0" y="85407"/>
                </a:lnTo>
                <a:lnTo>
                  <a:pt x="0" y="341604"/>
                </a:lnTo>
                <a:lnTo>
                  <a:pt x="6711" y="374855"/>
                </a:lnTo>
                <a:lnTo>
                  <a:pt x="25015" y="402007"/>
                </a:lnTo>
                <a:lnTo>
                  <a:pt x="52163" y="420312"/>
                </a:lnTo>
                <a:lnTo>
                  <a:pt x="85407" y="427024"/>
                </a:lnTo>
                <a:lnTo>
                  <a:pt x="11571020" y="427024"/>
                </a:lnTo>
                <a:lnTo>
                  <a:pt x="11604233" y="420312"/>
                </a:lnTo>
                <a:lnTo>
                  <a:pt x="11631361" y="402007"/>
                </a:lnTo>
                <a:lnTo>
                  <a:pt x="11649655" y="374855"/>
                </a:lnTo>
                <a:lnTo>
                  <a:pt x="11656364" y="341604"/>
                </a:lnTo>
                <a:lnTo>
                  <a:pt x="11656364" y="85407"/>
                </a:lnTo>
                <a:lnTo>
                  <a:pt x="11649655" y="52163"/>
                </a:lnTo>
                <a:lnTo>
                  <a:pt x="11631361" y="25015"/>
                </a:lnTo>
                <a:lnTo>
                  <a:pt x="11604233" y="6711"/>
                </a:lnTo>
                <a:lnTo>
                  <a:pt x="11571020" y="0"/>
                </a:lnTo>
                <a:close/>
              </a:path>
            </a:pathLst>
          </a:custGeom>
          <a:solidFill>
            <a:srgbClr val="00E0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"/>
          <p:cNvSpPr txBox="1"/>
          <p:nvPr/>
        </p:nvSpPr>
        <p:spPr>
          <a:xfrm>
            <a:off x="2944129" y="6199125"/>
            <a:ext cx="6038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1E13"/>
                </a:solidFill>
                <a:latin typeface="Arial"/>
                <a:ea typeface="Arial"/>
                <a:cs typeface="Arial"/>
                <a:sym typeface="Arial"/>
              </a:rPr>
              <a:t>Escala nacional com foco regional.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398779" y="275971"/>
            <a:ext cx="521652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RESULTADOS DE PUBLICIDADE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1168635" y="2593775"/>
            <a:ext cx="112500" cy="244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E2FF6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/>
          <p:cNvSpPr txBox="1"/>
          <p:nvPr/>
        </p:nvSpPr>
        <p:spPr>
          <a:xfrm>
            <a:off x="1354163" y="2477375"/>
            <a:ext cx="2722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E2FF6A"/>
                </a:solidFill>
              </a:rPr>
              <a:t>45</a:t>
            </a:r>
            <a:r>
              <a:rPr b="1" lang="en-US" sz="1900">
                <a:solidFill>
                  <a:srgbClr val="E2FF6A"/>
                </a:solidFill>
              </a:rPr>
              <a:t>% </a:t>
            </a:r>
            <a:br>
              <a:rPr b="1" lang="en-US" sz="1900">
                <a:solidFill>
                  <a:srgbClr val="E2FF6A"/>
                </a:solidFill>
              </a:rPr>
            </a:br>
            <a:r>
              <a:rPr b="1" lang="en-US" sz="1300">
                <a:solidFill>
                  <a:schemeClr val="lt1"/>
                </a:solidFill>
              </a:rPr>
              <a:t>*comparado ao report anterior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E2FF6A"/>
              </a:solidFill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4896436" y="2641330"/>
            <a:ext cx="112500" cy="244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E2FF6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"/>
          <p:cNvSpPr txBox="1"/>
          <p:nvPr/>
        </p:nvSpPr>
        <p:spPr>
          <a:xfrm>
            <a:off x="5027750" y="2511375"/>
            <a:ext cx="272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2FF6A"/>
                </a:solidFill>
              </a:rPr>
              <a:t>193% </a:t>
            </a:r>
            <a:br>
              <a:rPr b="1" lang="en-US" sz="1900">
                <a:solidFill>
                  <a:srgbClr val="E2FF6A"/>
                </a:solidFill>
              </a:rPr>
            </a:br>
            <a:r>
              <a:rPr b="1" lang="en-US" sz="1300">
                <a:solidFill>
                  <a:schemeClr val="lt1"/>
                </a:solidFill>
              </a:rPr>
              <a:t>*comparado ao report anterior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8247429" y="2629398"/>
            <a:ext cx="112500" cy="244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E2FF6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8378743" y="2499443"/>
            <a:ext cx="272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2FF6A"/>
                </a:solidFill>
              </a:rPr>
              <a:t>189%</a:t>
            </a:r>
            <a:r>
              <a:rPr b="1" lang="en-US" sz="1900">
                <a:solidFill>
                  <a:srgbClr val="E2FF6A"/>
                </a:solidFill>
              </a:rPr>
              <a:t> </a:t>
            </a:r>
            <a:br>
              <a:rPr b="1" lang="en-US" sz="1900">
                <a:solidFill>
                  <a:srgbClr val="E2FF6A"/>
                </a:solidFill>
              </a:rPr>
            </a:br>
            <a:r>
              <a:rPr b="1" lang="en-US" sz="1300">
                <a:solidFill>
                  <a:schemeClr val="lt1"/>
                </a:solidFill>
              </a:rPr>
              <a:t>*comparado ao report anterior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2773849" y="5244005"/>
            <a:ext cx="112500" cy="244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E2FF6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"/>
          <p:cNvSpPr txBox="1"/>
          <p:nvPr/>
        </p:nvSpPr>
        <p:spPr>
          <a:xfrm>
            <a:off x="2905163" y="5114050"/>
            <a:ext cx="272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2FF6A"/>
                </a:solidFill>
              </a:rPr>
              <a:t>92</a:t>
            </a:r>
            <a:r>
              <a:rPr b="1" lang="en-US" sz="1900">
                <a:solidFill>
                  <a:srgbClr val="E2FF6A"/>
                </a:solidFill>
              </a:rPr>
              <a:t>% </a:t>
            </a:r>
            <a:br>
              <a:rPr b="1" lang="en-US" sz="1900">
                <a:solidFill>
                  <a:srgbClr val="E2FF6A"/>
                </a:solidFill>
              </a:rPr>
            </a:br>
            <a:r>
              <a:rPr b="1" lang="en-US" sz="1300">
                <a:solidFill>
                  <a:schemeClr val="lt1"/>
                </a:solidFill>
              </a:rPr>
              <a:t>*comparado ao report anterior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904" y="87125"/>
            <a:ext cx="3058661" cy="3058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1674" y="87125"/>
            <a:ext cx="3024718" cy="303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9500" y="96582"/>
            <a:ext cx="3058659" cy="3039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1676" y="3356511"/>
            <a:ext cx="4002950" cy="338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9910" y="3323475"/>
            <a:ext cx="2004567" cy="3449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/>
        </p:nvSpPr>
        <p:spPr>
          <a:xfrm>
            <a:off x="398779" y="211582"/>
            <a:ext cx="3285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rPr>
              <a:t>PRESENÇA DIGITAL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203" name="Google Shape;203;p15"/>
          <p:cNvSpPr txBox="1"/>
          <p:nvPr>
            <p:ph type="title"/>
          </p:nvPr>
        </p:nvSpPr>
        <p:spPr>
          <a:xfrm>
            <a:off x="398779" y="667334"/>
            <a:ext cx="6534150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Influência com credibilidade</a:t>
            </a:r>
            <a:endParaRPr sz="3600"/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lang="en-US">
                <a:latin typeface="Tahoma"/>
                <a:ea typeface="Tahoma"/>
                <a:cs typeface="Tahoma"/>
                <a:sym typeface="Tahoma"/>
              </a:rPr>
              <a:t>Amazônia falando com a Amazônia e com o Brasil</a:t>
            </a:r>
            <a:endParaRPr/>
          </a:p>
        </p:txBody>
      </p:sp>
      <p:grpSp>
        <p:nvGrpSpPr>
          <p:cNvPr id="204" name="Google Shape;204;p15"/>
          <p:cNvGrpSpPr/>
          <p:nvPr/>
        </p:nvGrpSpPr>
        <p:grpSpPr>
          <a:xfrm>
            <a:off x="227075" y="2092451"/>
            <a:ext cx="3710940" cy="2118360"/>
            <a:chOff x="227075" y="2092451"/>
            <a:chExt cx="3710940" cy="2118360"/>
          </a:xfrm>
        </p:grpSpPr>
        <p:pic>
          <p:nvPicPr>
            <p:cNvPr id="205" name="Google Shape;20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7075" y="2092451"/>
              <a:ext cx="3710940" cy="211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15"/>
            <p:cNvSpPr/>
            <p:nvPr/>
          </p:nvSpPr>
          <p:spPr>
            <a:xfrm>
              <a:off x="320039" y="2185796"/>
              <a:ext cx="3461385" cy="1869439"/>
            </a:xfrm>
            <a:custGeom>
              <a:rect b="b" l="l" r="r" t="t"/>
              <a:pathLst>
                <a:path extrusionOk="0" h="1869439" w="3461385">
                  <a:moveTo>
                    <a:pt x="3285744" y="0"/>
                  </a:moveTo>
                  <a:lnTo>
                    <a:pt x="175221" y="0"/>
                  </a:lnTo>
                  <a:lnTo>
                    <a:pt x="128640" y="6261"/>
                  </a:lnTo>
                  <a:lnTo>
                    <a:pt x="86783" y="23932"/>
                  </a:lnTo>
                  <a:lnTo>
                    <a:pt x="51320" y="51339"/>
                  </a:lnTo>
                  <a:lnTo>
                    <a:pt x="23922" y="86811"/>
                  </a:lnTo>
                  <a:lnTo>
                    <a:pt x="6258" y="128675"/>
                  </a:lnTo>
                  <a:lnTo>
                    <a:pt x="0" y="175260"/>
                  </a:lnTo>
                  <a:lnTo>
                    <a:pt x="0" y="1693926"/>
                  </a:lnTo>
                  <a:lnTo>
                    <a:pt x="6258" y="1740500"/>
                  </a:lnTo>
                  <a:lnTo>
                    <a:pt x="23922" y="1782341"/>
                  </a:lnTo>
                  <a:lnTo>
                    <a:pt x="51320" y="1817782"/>
                  </a:lnTo>
                  <a:lnTo>
                    <a:pt x="86783" y="1845159"/>
                  </a:lnTo>
                  <a:lnTo>
                    <a:pt x="128640" y="1862806"/>
                  </a:lnTo>
                  <a:lnTo>
                    <a:pt x="175221" y="1869058"/>
                  </a:lnTo>
                  <a:lnTo>
                    <a:pt x="3285744" y="1869058"/>
                  </a:lnTo>
                  <a:lnTo>
                    <a:pt x="3332318" y="1862806"/>
                  </a:lnTo>
                  <a:lnTo>
                    <a:pt x="3374159" y="1845159"/>
                  </a:lnTo>
                  <a:lnTo>
                    <a:pt x="3409600" y="1817782"/>
                  </a:lnTo>
                  <a:lnTo>
                    <a:pt x="3436977" y="1782341"/>
                  </a:lnTo>
                  <a:lnTo>
                    <a:pt x="3454624" y="1740500"/>
                  </a:lnTo>
                  <a:lnTo>
                    <a:pt x="3460877" y="1693926"/>
                  </a:lnTo>
                  <a:lnTo>
                    <a:pt x="3460877" y="175260"/>
                  </a:lnTo>
                  <a:lnTo>
                    <a:pt x="3454624" y="128675"/>
                  </a:lnTo>
                  <a:lnTo>
                    <a:pt x="3436977" y="86811"/>
                  </a:lnTo>
                  <a:lnTo>
                    <a:pt x="3409600" y="51339"/>
                  </a:lnTo>
                  <a:lnTo>
                    <a:pt x="3374159" y="23932"/>
                  </a:lnTo>
                  <a:lnTo>
                    <a:pt x="3332318" y="6261"/>
                  </a:lnTo>
                  <a:lnTo>
                    <a:pt x="328574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7" name="Google Shape;207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431" y="2336291"/>
              <a:ext cx="779526" cy="6408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8" name="Google Shape;208;p15"/>
          <p:cNvSpPr txBox="1"/>
          <p:nvPr/>
        </p:nvSpPr>
        <p:spPr>
          <a:xfrm>
            <a:off x="398775" y="2216650"/>
            <a:ext cx="3285000" cy="18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5100">
            <a:spAutoFit/>
          </a:bodyPr>
          <a:lstStyle/>
          <a:p>
            <a:pPr indent="0" lvl="0" marL="547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Redes Sociais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Instagram · Facebook ·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LinkedIn </a:t>
            </a: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· Google Ads · TikTok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9" name="Google Shape;209;p15"/>
          <p:cNvGrpSpPr/>
          <p:nvPr/>
        </p:nvGrpSpPr>
        <p:grpSpPr>
          <a:xfrm>
            <a:off x="3913632" y="2092451"/>
            <a:ext cx="3710940" cy="2118360"/>
            <a:chOff x="3913632" y="2092451"/>
            <a:chExt cx="3710940" cy="2118360"/>
          </a:xfrm>
        </p:grpSpPr>
        <p:pic>
          <p:nvPicPr>
            <p:cNvPr id="210" name="Google Shape;210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13632" y="2092451"/>
              <a:ext cx="3710940" cy="211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15"/>
            <p:cNvSpPr/>
            <p:nvPr/>
          </p:nvSpPr>
          <p:spPr>
            <a:xfrm>
              <a:off x="4006723" y="2185796"/>
              <a:ext cx="3461385" cy="1869439"/>
            </a:xfrm>
            <a:custGeom>
              <a:rect b="b" l="l" r="r" t="t"/>
              <a:pathLst>
                <a:path extrusionOk="0" h="1869439" w="3461384">
                  <a:moveTo>
                    <a:pt x="3285617" y="0"/>
                  </a:moveTo>
                  <a:lnTo>
                    <a:pt x="175132" y="0"/>
                  </a:lnTo>
                  <a:lnTo>
                    <a:pt x="128558" y="6261"/>
                  </a:lnTo>
                  <a:lnTo>
                    <a:pt x="86717" y="23932"/>
                  </a:lnTo>
                  <a:lnTo>
                    <a:pt x="51276" y="51339"/>
                  </a:lnTo>
                  <a:lnTo>
                    <a:pt x="23899" y="86811"/>
                  </a:lnTo>
                  <a:lnTo>
                    <a:pt x="6252" y="128675"/>
                  </a:lnTo>
                  <a:lnTo>
                    <a:pt x="0" y="175260"/>
                  </a:lnTo>
                  <a:lnTo>
                    <a:pt x="0" y="1693926"/>
                  </a:lnTo>
                  <a:lnTo>
                    <a:pt x="6252" y="1740500"/>
                  </a:lnTo>
                  <a:lnTo>
                    <a:pt x="23899" y="1782341"/>
                  </a:lnTo>
                  <a:lnTo>
                    <a:pt x="51276" y="1817782"/>
                  </a:lnTo>
                  <a:lnTo>
                    <a:pt x="86717" y="1845159"/>
                  </a:lnTo>
                  <a:lnTo>
                    <a:pt x="128558" y="1862806"/>
                  </a:lnTo>
                  <a:lnTo>
                    <a:pt x="175132" y="1869058"/>
                  </a:lnTo>
                  <a:lnTo>
                    <a:pt x="3285617" y="1869058"/>
                  </a:lnTo>
                  <a:lnTo>
                    <a:pt x="3332201" y="1862806"/>
                  </a:lnTo>
                  <a:lnTo>
                    <a:pt x="3374065" y="1845159"/>
                  </a:lnTo>
                  <a:lnTo>
                    <a:pt x="3409537" y="1817782"/>
                  </a:lnTo>
                  <a:lnTo>
                    <a:pt x="3436944" y="1782341"/>
                  </a:lnTo>
                  <a:lnTo>
                    <a:pt x="3454615" y="1740500"/>
                  </a:lnTo>
                  <a:lnTo>
                    <a:pt x="3460877" y="1693926"/>
                  </a:lnTo>
                  <a:lnTo>
                    <a:pt x="3460877" y="175260"/>
                  </a:lnTo>
                  <a:lnTo>
                    <a:pt x="3454615" y="128675"/>
                  </a:lnTo>
                  <a:lnTo>
                    <a:pt x="3436944" y="86811"/>
                  </a:lnTo>
                  <a:lnTo>
                    <a:pt x="3409537" y="51339"/>
                  </a:lnTo>
                  <a:lnTo>
                    <a:pt x="3374065" y="23932"/>
                  </a:lnTo>
                  <a:lnTo>
                    <a:pt x="3332201" y="6261"/>
                  </a:lnTo>
                  <a:lnTo>
                    <a:pt x="3285617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2" name="Google Shape;212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94988" y="2336291"/>
              <a:ext cx="779526" cy="6408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15"/>
          <p:cNvSpPr txBox="1"/>
          <p:nvPr/>
        </p:nvSpPr>
        <p:spPr>
          <a:xfrm>
            <a:off x="4801627" y="2409200"/>
            <a:ext cx="2530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Influenciadores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4266438" y="3150565"/>
            <a:ext cx="282829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58 criadores ativados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5" name="Google Shape;215;p15"/>
          <p:cNvGrpSpPr/>
          <p:nvPr/>
        </p:nvGrpSpPr>
        <p:grpSpPr>
          <a:xfrm>
            <a:off x="227075" y="4209250"/>
            <a:ext cx="3710940" cy="2119884"/>
            <a:chOff x="227075" y="4209250"/>
            <a:chExt cx="3710940" cy="2119884"/>
          </a:xfrm>
        </p:grpSpPr>
        <p:pic>
          <p:nvPicPr>
            <p:cNvPr id="216" name="Google Shape;216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7075" y="4209250"/>
              <a:ext cx="3710940" cy="2119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15"/>
            <p:cNvSpPr/>
            <p:nvPr/>
          </p:nvSpPr>
          <p:spPr>
            <a:xfrm>
              <a:off x="320039" y="4303141"/>
              <a:ext cx="3461385" cy="1869439"/>
            </a:xfrm>
            <a:custGeom>
              <a:rect b="b" l="l" r="r" t="t"/>
              <a:pathLst>
                <a:path extrusionOk="0" h="1869439" w="3461385">
                  <a:moveTo>
                    <a:pt x="3285744" y="0"/>
                  </a:moveTo>
                  <a:lnTo>
                    <a:pt x="175221" y="0"/>
                  </a:lnTo>
                  <a:lnTo>
                    <a:pt x="128640" y="6261"/>
                  </a:lnTo>
                  <a:lnTo>
                    <a:pt x="86783" y="23932"/>
                  </a:lnTo>
                  <a:lnTo>
                    <a:pt x="51320" y="51339"/>
                  </a:lnTo>
                  <a:lnTo>
                    <a:pt x="23922" y="86811"/>
                  </a:lnTo>
                  <a:lnTo>
                    <a:pt x="6258" y="128675"/>
                  </a:lnTo>
                  <a:lnTo>
                    <a:pt x="0" y="175259"/>
                  </a:lnTo>
                  <a:lnTo>
                    <a:pt x="0" y="1693837"/>
                  </a:lnTo>
                  <a:lnTo>
                    <a:pt x="6258" y="1740418"/>
                  </a:lnTo>
                  <a:lnTo>
                    <a:pt x="23922" y="1782275"/>
                  </a:lnTo>
                  <a:lnTo>
                    <a:pt x="51320" y="1817738"/>
                  </a:lnTo>
                  <a:lnTo>
                    <a:pt x="86783" y="1845136"/>
                  </a:lnTo>
                  <a:lnTo>
                    <a:pt x="128640" y="1862800"/>
                  </a:lnTo>
                  <a:lnTo>
                    <a:pt x="175221" y="1869058"/>
                  </a:lnTo>
                  <a:lnTo>
                    <a:pt x="3285744" y="1869058"/>
                  </a:lnTo>
                  <a:lnTo>
                    <a:pt x="3332318" y="1862800"/>
                  </a:lnTo>
                  <a:lnTo>
                    <a:pt x="3374159" y="1845136"/>
                  </a:lnTo>
                  <a:lnTo>
                    <a:pt x="3409600" y="1817738"/>
                  </a:lnTo>
                  <a:lnTo>
                    <a:pt x="3436977" y="1782275"/>
                  </a:lnTo>
                  <a:lnTo>
                    <a:pt x="3454624" y="1740418"/>
                  </a:lnTo>
                  <a:lnTo>
                    <a:pt x="3460877" y="1693837"/>
                  </a:lnTo>
                  <a:lnTo>
                    <a:pt x="3460877" y="175259"/>
                  </a:lnTo>
                  <a:lnTo>
                    <a:pt x="3454624" y="128675"/>
                  </a:lnTo>
                  <a:lnTo>
                    <a:pt x="3436977" y="86811"/>
                  </a:lnTo>
                  <a:lnTo>
                    <a:pt x="3409600" y="51339"/>
                  </a:lnTo>
                  <a:lnTo>
                    <a:pt x="3374159" y="23932"/>
                  </a:lnTo>
                  <a:lnTo>
                    <a:pt x="3332318" y="6261"/>
                  </a:lnTo>
                  <a:lnTo>
                    <a:pt x="328574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8" name="Google Shape;218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8431" y="4454652"/>
              <a:ext cx="779526" cy="640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15"/>
          <p:cNvSpPr txBox="1"/>
          <p:nvPr/>
        </p:nvSpPr>
        <p:spPr>
          <a:xfrm>
            <a:off x="1114450" y="4527050"/>
            <a:ext cx="2530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Conteúdo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579525" y="5268850"/>
            <a:ext cx="3104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Blog + E-mail + Site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1" name="Google Shape;221;p15"/>
          <p:cNvGrpSpPr/>
          <p:nvPr/>
        </p:nvGrpSpPr>
        <p:grpSpPr>
          <a:xfrm>
            <a:off x="3913632" y="4209250"/>
            <a:ext cx="3710940" cy="2119884"/>
            <a:chOff x="3913632" y="4209250"/>
            <a:chExt cx="3710940" cy="2119884"/>
          </a:xfrm>
        </p:grpSpPr>
        <p:pic>
          <p:nvPicPr>
            <p:cNvPr id="222" name="Google Shape;222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913632" y="4209250"/>
              <a:ext cx="3710940" cy="21198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15"/>
            <p:cNvSpPr/>
            <p:nvPr/>
          </p:nvSpPr>
          <p:spPr>
            <a:xfrm>
              <a:off x="4006723" y="4303141"/>
              <a:ext cx="3461385" cy="1869439"/>
            </a:xfrm>
            <a:custGeom>
              <a:rect b="b" l="l" r="r" t="t"/>
              <a:pathLst>
                <a:path extrusionOk="0" h="1869439" w="3461384">
                  <a:moveTo>
                    <a:pt x="3285617" y="0"/>
                  </a:moveTo>
                  <a:lnTo>
                    <a:pt x="175132" y="0"/>
                  </a:lnTo>
                  <a:lnTo>
                    <a:pt x="128558" y="6261"/>
                  </a:lnTo>
                  <a:lnTo>
                    <a:pt x="86717" y="23932"/>
                  </a:lnTo>
                  <a:lnTo>
                    <a:pt x="51276" y="51339"/>
                  </a:lnTo>
                  <a:lnTo>
                    <a:pt x="23899" y="86811"/>
                  </a:lnTo>
                  <a:lnTo>
                    <a:pt x="6252" y="128675"/>
                  </a:lnTo>
                  <a:lnTo>
                    <a:pt x="0" y="175259"/>
                  </a:lnTo>
                  <a:lnTo>
                    <a:pt x="0" y="1693837"/>
                  </a:lnTo>
                  <a:lnTo>
                    <a:pt x="6252" y="1740418"/>
                  </a:lnTo>
                  <a:lnTo>
                    <a:pt x="23899" y="1782275"/>
                  </a:lnTo>
                  <a:lnTo>
                    <a:pt x="51276" y="1817738"/>
                  </a:lnTo>
                  <a:lnTo>
                    <a:pt x="86717" y="1845136"/>
                  </a:lnTo>
                  <a:lnTo>
                    <a:pt x="128558" y="1862800"/>
                  </a:lnTo>
                  <a:lnTo>
                    <a:pt x="175132" y="1869058"/>
                  </a:lnTo>
                  <a:lnTo>
                    <a:pt x="3285617" y="1869058"/>
                  </a:lnTo>
                  <a:lnTo>
                    <a:pt x="3332201" y="1862800"/>
                  </a:lnTo>
                  <a:lnTo>
                    <a:pt x="3374065" y="1845136"/>
                  </a:lnTo>
                  <a:lnTo>
                    <a:pt x="3409537" y="1817738"/>
                  </a:lnTo>
                  <a:lnTo>
                    <a:pt x="3436944" y="1782275"/>
                  </a:lnTo>
                  <a:lnTo>
                    <a:pt x="3454615" y="1740418"/>
                  </a:lnTo>
                  <a:lnTo>
                    <a:pt x="3460877" y="1693837"/>
                  </a:lnTo>
                  <a:lnTo>
                    <a:pt x="3460877" y="175259"/>
                  </a:lnTo>
                  <a:lnTo>
                    <a:pt x="3454615" y="128675"/>
                  </a:lnTo>
                  <a:lnTo>
                    <a:pt x="3436944" y="86811"/>
                  </a:lnTo>
                  <a:lnTo>
                    <a:pt x="3409537" y="51339"/>
                  </a:lnTo>
                  <a:lnTo>
                    <a:pt x="3374065" y="23932"/>
                  </a:lnTo>
                  <a:lnTo>
                    <a:pt x="3332201" y="6261"/>
                  </a:lnTo>
                  <a:lnTo>
                    <a:pt x="3285617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4" name="Google Shape;224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094988" y="4454652"/>
              <a:ext cx="779526" cy="640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15"/>
          <p:cNvSpPr txBox="1"/>
          <p:nvPr/>
        </p:nvSpPr>
        <p:spPr>
          <a:xfrm>
            <a:off x="4266454" y="4334625"/>
            <a:ext cx="3104400" cy="15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5100">
            <a:spAutoFit/>
          </a:bodyPr>
          <a:lstStyle/>
          <a:p>
            <a:pPr indent="0" lvl="0" marL="547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Mídia Digital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Programática +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Display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4A170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" name="Google Shape;231;p16"/>
          <p:cNvGrpSpPr/>
          <p:nvPr/>
        </p:nvGrpSpPr>
        <p:grpSpPr>
          <a:xfrm>
            <a:off x="11499595" y="110236"/>
            <a:ext cx="626744" cy="362488"/>
            <a:chOff x="11499595" y="110236"/>
            <a:chExt cx="626744" cy="362488"/>
          </a:xfrm>
        </p:grpSpPr>
        <p:pic>
          <p:nvPicPr>
            <p:cNvPr id="232" name="Google Shape;23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99595" y="110236"/>
              <a:ext cx="626744" cy="97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645772" y="173445"/>
              <a:ext cx="371195" cy="2992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" name="Google Shape;234;p16"/>
          <p:cNvSpPr txBox="1"/>
          <p:nvPr/>
        </p:nvSpPr>
        <p:spPr>
          <a:xfrm>
            <a:off x="398774" y="-3750"/>
            <a:ext cx="10548900" cy="1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RESULTADOS DIGITAIS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0A89E"/>
                </a:solidFill>
                <a:latin typeface="Tahoma"/>
                <a:ea typeface="Tahoma"/>
                <a:cs typeface="Tahoma"/>
                <a:sym typeface="Tahoma"/>
              </a:rPr>
              <a:t>Alcance e engajamento | @bancoamazonia + influenciadores + site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5" name="Google Shape;235;p16"/>
          <p:cNvGrpSpPr/>
          <p:nvPr/>
        </p:nvGrpSpPr>
        <p:grpSpPr>
          <a:xfrm>
            <a:off x="874775" y="1354836"/>
            <a:ext cx="3509772" cy="2484120"/>
            <a:chOff x="874775" y="1354836"/>
            <a:chExt cx="3509772" cy="2484120"/>
          </a:xfrm>
        </p:grpSpPr>
        <p:pic>
          <p:nvPicPr>
            <p:cNvPr id="236" name="Google Shape;23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4775" y="1354836"/>
              <a:ext cx="3509772" cy="2484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16"/>
            <p:cNvSpPr/>
            <p:nvPr/>
          </p:nvSpPr>
          <p:spPr>
            <a:xfrm>
              <a:off x="968832" y="1448054"/>
              <a:ext cx="3258820" cy="2235835"/>
            </a:xfrm>
            <a:custGeom>
              <a:rect b="b" l="l" r="r" t="t"/>
              <a:pathLst>
                <a:path extrusionOk="0" h="2235835" w="3258820">
                  <a:moveTo>
                    <a:pt x="3101771" y="0"/>
                  </a:moveTo>
                  <a:lnTo>
                    <a:pt x="157073" y="0"/>
                  </a:lnTo>
                  <a:lnTo>
                    <a:pt x="107424" y="8011"/>
                  </a:lnTo>
                  <a:lnTo>
                    <a:pt x="64306" y="30317"/>
                  </a:lnTo>
                  <a:lnTo>
                    <a:pt x="30304" y="64328"/>
                  </a:lnTo>
                  <a:lnTo>
                    <a:pt x="8007" y="107452"/>
                  </a:lnTo>
                  <a:lnTo>
                    <a:pt x="0" y="157099"/>
                  </a:lnTo>
                  <a:lnTo>
                    <a:pt x="0" y="2078228"/>
                  </a:lnTo>
                  <a:lnTo>
                    <a:pt x="8007" y="2127874"/>
                  </a:lnTo>
                  <a:lnTo>
                    <a:pt x="30304" y="2170998"/>
                  </a:lnTo>
                  <a:lnTo>
                    <a:pt x="64306" y="2205009"/>
                  </a:lnTo>
                  <a:lnTo>
                    <a:pt x="107424" y="2227315"/>
                  </a:lnTo>
                  <a:lnTo>
                    <a:pt x="157073" y="2235327"/>
                  </a:lnTo>
                  <a:lnTo>
                    <a:pt x="3101771" y="2235327"/>
                  </a:lnTo>
                  <a:lnTo>
                    <a:pt x="3151405" y="2227315"/>
                  </a:lnTo>
                  <a:lnTo>
                    <a:pt x="3194498" y="2205009"/>
                  </a:lnTo>
                  <a:lnTo>
                    <a:pt x="3228471" y="2170998"/>
                  </a:lnTo>
                  <a:lnTo>
                    <a:pt x="3250745" y="2127874"/>
                  </a:lnTo>
                  <a:lnTo>
                    <a:pt x="3258743" y="2078228"/>
                  </a:lnTo>
                  <a:lnTo>
                    <a:pt x="3258743" y="157099"/>
                  </a:lnTo>
                  <a:lnTo>
                    <a:pt x="3250745" y="107452"/>
                  </a:lnTo>
                  <a:lnTo>
                    <a:pt x="3228471" y="64328"/>
                  </a:lnTo>
                  <a:lnTo>
                    <a:pt x="3194498" y="30317"/>
                  </a:lnTo>
                  <a:lnTo>
                    <a:pt x="3151405" y="8011"/>
                  </a:lnTo>
                  <a:lnTo>
                    <a:pt x="3101771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" name="Google Shape;238;p16"/>
          <p:cNvSpPr txBox="1"/>
          <p:nvPr/>
        </p:nvSpPr>
        <p:spPr>
          <a:xfrm>
            <a:off x="1225397" y="1832324"/>
            <a:ext cx="2750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2FF6A"/>
                </a:solidFill>
              </a:rPr>
              <a:t>x </a:t>
            </a:r>
            <a:r>
              <a:rPr b="1" lang="en-US" sz="3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MILHÕES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Visualizações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nos canais do Banco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9" name="Google Shape;239;p16"/>
          <p:cNvGrpSpPr/>
          <p:nvPr/>
        </p:nvGrpSpPr>
        <p:grpSpPr>
          <a:xfrm>
            <a:off x="4372355" y="1354836"/>
            <a:ext cx="3509772" cy="2484120"/>
            <a:chOff x="4372355" y="1354836"/>
            <a:chExt cx="3509772" cy="2484120"/>
          </a:xfrm>
        </p:grpSpPr>
        <p:pic>
          <p:nvPicPr>
            <p:cNvPr id="240" name="Google Shape;240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72355" y="1354836"/>
              <a:ext cx="3509772" cy="2484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16"/>
            <p:cNvSpPr/>
            <p:nvPr/>
          </p:nvSpPr>
          <p:spPr>
            <a:xfrm>
              <a:off x="4466589" y="1448054"/>
              <a:ext cx="3258820" cy="2235835"/>
            </a:xfrm>
            <a:custGeom>
              <a:rect b="b" l="l" r="r" t="t"/>
              <a:pathLst>
                <a:path extrusionOk="0" h="2235835" w="3258820">
                  <a:moveTo>
                    <a:pt x="3101720" y="0"/>
                  </a:moveTo>
                  <a:lnTo>
                    <a:pt x="157099" y="0"/>
                  </a:lnTo>
                  <a:lnTo>
                    <a:pt x="107452" y="8011"/>
                  </a:lnTo>
                  <a:lnTo>
                    <a:pt x="64328" y="30317"/>
                  </a:lnTo>
                  <a:lnTo>
                    <a:pt x="30317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0" y="2078228"/>
                  </a:lnTo>
                  <a:lnTo>
                    <a:pt x="8011" y="2127874"/>
                  </a:lnTo>
                  <a:lnTo>
                    <a:pt x="30317" y="2170998"/>
                  </a:lnTo>
                  <a:lnTo>
                    <a:pt x="64328" y="2205009"/>
                  </a:lnTo>
                  <a:lnTo>
                    <a:pt x="107452" y="2227315"/>
                  </a:lnTo>
                  <a:lnTo>
                    <a:pt x="157099" y="2235327"/>
                  </a:lnTo>
                  <a:lnTo>
                    <a:pt x="3101720" y="2235327"/>
                  </a:lnTo>
                  <a:lnTo>
                    <a:pt x="3151367" y="2227315"/>
                  </a:lnTo>
                  <a:lnTo>
                    <a:pt x="3194491" y="2205009"/>
                  </a:lnTo>
                  <a:lnTo>
                    <a:pt x="3228502" y="2170998"/>
                  </a:lnTo>
                  <a:lnTo>
                    <a:pt x="3250808" y="2127874"/>
                  </a:lnTo>
                  <a:lnTo>
                    <a:pt x="3258819" y="2078228"/>
                  </a:lnTo>
                  <a:lnTo>
                    <a:pt x="3258819" y="157099"/>
                  </a:lnTo>
                  <a:lnTo>
                    <a:pt x="3250808" y="107452"/>
                  </a:lnTo>
                  <a:lnTo>
                    <a:pt x="3228502" y="64328"/>
                  </a:lnTo>
                  <a:lnTo>
                    <a:pt x="3194491" y="30317"/>
                  </a:lnTo>
                  <a:lnTo>
                    <a:pt x="3151367" y="8011"/>
                  </a:lnTo>
                  <a:lnTo>
                    <a:pt x="3101720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" name="Google Shape;242;p16"/>
          <p:cNvSpPr txBox="1"/>
          <p:nvPr/>
        </p:nvSpPr>
        <p:spPr>
          <a:xfrm>
            <a:off x="4734559" y="1832324"/>
            <a:ext cx="2723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2FF6A"/>
                </a:solidFill>
              </a:rPr>
              <a:t>x</a:t>
            </a:r>
            <a:r>
              <a:rPr b="1" lang="en-US" sz="3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 MILHÕES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Pessoas Alcançadas (Instagram)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43" name="Google Shape;243;p16"/>
          <p:cNvGrpSpPr/>
          <p:nvPr/>
        </p:nvGrpSpPr>
        <p:grpSpPr>
          <a:xfrm>
            <a:off x="7871459" y="1354836"/>
            <a:ext cx="3508248" cy="2484120"/>
            <a:chOff x="7871459" y="1354836"/>
            <a:chExt cx="3508248" cy="2484120"/>
          </a:xfrm>
        </p:grpSpPr>
        <p:pic>
          <p:nvPicPr>
            <p:cNvPr id="244" name="Google Shape;244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71459" y="1354836"/>
              <a:ext cx="3508248" cy="2484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16"/>
            <p:cNvSpPr/>
            <p:nvPr/>
          </p:nvSpPr>
          <p:spPr>
            <a:xfrm>
              <a:off x="7964423" y="1448054"/>
              <a:ext cx="3258820" cy="2235835"/>
            </a:xfrm>
            <a:custGeom>
              <a:rect b="b" l="l" r="r" t="t"/>
              <a:pathLst>
                <a:path extrusionOk="0" h="2235835" w="3258820">
                  <a:moveTo>
                    <a:pt x="3101721" y="0"/>
                  </a:moveTo>
                  <a:lnTo>
                    <a:pt x="156972" y="0"/>
                  </a:lnTo>
                  <a:lnTo>
                    <a:pt x="107338" y="8011"/>
                  </a:lnTo>
                  <a:lnTo>
                    <a:pt x="64245" y="30317"/>
                  </a:lnTo>
                  <a:lnTo>
                    <a:pt x="30272" y="64328"/>
                  </a:lnTo>
                  <a:lnTo>
                    <a:pt x="7997" y="107452"/>
                  </a:lnTo>
                  <a:lnTo>
                    <a:pt x="0" y="157099"/>
                  </a:lnTo>
                  <a:lnTo>
                    <a:pt x="0" y="2078228"/>
                  </a:lnTo>
                  <a:lnTo>
                    <a:pt x="7997" y="2127874"/>
                  </a:lnTo>
                  <a:lnTo>
                    <a:pt x="30272" y="2170998"/>
                  </a:lnTo>
                  <a:lnTo>
                    <a:pt x="64245" y="2205009"/>
                  </a:lnTo>
                  <a:lnTo>
                    <a:pt x="107338" y="2227315"/>
                  </a:lnTo>
                  <a:lnTo>
                    <a:pt x="156972" y="2235327"/>
                  </a:lnTo>
                  <a:lnTo>
                    <a:pt x="3101721" y="2235327"/>
                  </a:lnTo>
                  <a:lnTo>
                    <a:pt x="3151354" y="2227315"/>
                  </a:lnTo>
                  <a:lnTo>
                    <a:pt x="3194447" y="2205009"/>
                  </a:lnTo>
                  <a:lnTo>
                    <a:pt x="3228420" y="2170998"/>
                  </a:lnTo>
                  <a:lnTo>
                    <a:pt x="3250695" y="2127874"/>
                  </a:lnTo>
                  <a:lnTo>
                    <a:pt x="3258693" y="2078228"/>
                  </a:lnTo>
                  <a:lnTo>
                    <a:pt x="3258693" y="157099"/>
                  </a:lnTo>
                  <a:lnTo>
                    <a:pt x="3250695" y="107452"/>
                  </a:lnTo>
                  <a:lnTo>
                    <a:pt x="3228420" y="64328"/>
                  </a:lnTo>
                  <a:lnTo>
                    <a:pt x="3194447" y="30317"/>
                  </a:lnTo>
                  <a:lnTo>
                    <a:pt x="3151354" y="8011"/>
                  </a:lnTo>
                  <a:lnTo>
                    <a:pt x="3101721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16"/>
          <p:cNvSpPr txBox="1"/>
          <p:nvPr/>
        </p:nvSpPr>
        <p:spPr>
          <a:xfrm>
            <a:off x="8571103" y="1850771"/>
            <a:ext cx="20472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875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2FF6A"/>
                </a:solidFill>
              </a:rPr>
              <a:t>x</a:t>
            </a:r>
            <a:r>
              <a:rPr b="1" lang="en-US" sz="3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Publicações no período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47" name="Google Shape;247;p16"/>
          <p:cNvGrpSpPr/>
          <p:nvPr/>
        </p:nvGrpSpPr>
        <p:grpSpPr>
          <a:xfrm>
            <a:off x="874775" y="3831310"/>
            <a:ext cx="7007352" cy="2485644"/>
            <a:chOff x="874775" y="3831310"/>
            <a:chExt cx="7007352" cy="2485644"/>
          </a:xfrm>
        </p:grpSpPr>
        <p:pic>
          <p:nvPicPr>
            <p:cNvPr id="248" name="Google Shape;248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4775" y="3831310"/>
              <a:ext cx="3509772" cy="2485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16"/>
            <p:cNvSpPr/>
            <p:nvPr/>
          </p:nvSpPr>
          <p:spPr>
            <a:xfrm>
              <a:off x="968832" y="3925062"/>
              <a:ext cx="3258820" cy="2235835"/>
            </a:xfrm>
            <a:custGeom>
              <a:rect b="b" l="l" r="r" t="t"/>
              <a:pathLst>
                <a:path extrusionOk="0" h="2235835" w="3258820">
                  <a:moveTo>
                    <a:pt x="3101771" y="0"/>
                  </a:moveTo>
                  <a:lnTo>
                    <a:pt x="157073" y="0"/>
                  </a:lnTo>
                  <a:lnTo>
                    <a:pt x="107424" y="8011"/>
                  </a:lnTo>
                  <a:lnTo>
                    <a:pt x="64306" y="30317"/>
                  </a:lnTo>
                  <a:lnTo>
                    <a:pt x="30304" y="64328"/>
                  </a:lnTo>
                  <a:lnTo>
                    <a:pt x="8007" y="107452"/>
                  </a:lnTo>
                  <a:lnTo>
                    <a:pt x="0" y="157099"/>
                  </a:lnTo>
                  <a:lnTo>
                    <a:pt x="0" y="2078240"/>
                  </a:lnTo>
                  <a:lnTo>
                    <a:pt x="8007" y="2127889"/>
                  </a:lnTo>
                  <a:lnTo>
                    <a:pt x="30304" y="2171008"/>
                  </a:lnTo>
                  <a:lnTo>
                    <a:pt x="64306" y="2205009"/>
                  </a:lnTo>
                  <a:lnTo>
                    <a:pt x="107424" y="2227307"/>
                  </a:lnTo>
                  <a:lnTo>
                    <a:pt x="157073" y="2235314"/>
                  </a:lnTo>
                  <a:lnTo>
                    <a:pt x="3101771" y="2235314"/>
                  </a:lnTo>
                  <a:lnTo>
                    <a:pt x="3151405" y="2227307"/>
                  </a:lnTo>
                  <a:lnTo>
                    <a:pt x="3194498" y="2205009"/>
                  </a:lnTo>
                  <a:lnTo>
                    <a:pt x="3228471" y="2171008"/>
                  </a:lnTo>
                  <a:lnTo>
                    <a:pt x="3250745" y="2127889"/>
                  </a:lnTo>
                  <a:lnTo>
                    <a:pt x="3258743" y="2078240"/>
                  </a:lnTo>
                  <a:lnTo>
                    <a:pt x="3258743" y="157099"/>
                  </a:lnTo>
                  <a:lnTo>
                    <a:pt x="3250745" y="107452"/>
                  </a:lnTo>
                  <a:lnTo>
                    <a:pt x="3228471" y="64328"/>
                  </a:lnTo>
                  <a:lnTo>
                    <a:pt x="3194498" y="30317"/>
                  </a:lnTo>
                  <a:lnTo>
                    <a:pt x="3151405" y="8011"/>
                  </a:lnTo>
                  <a:lnTo>
                    <a:pt x="3101771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0" name="Google Shape;250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72355" y="3831310"/>
              <a:ext cx="3509772" cy="2485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16"/>
            <p:cNvSpPr/>
            <p:nvPr/>
          </p:nvSpPr>
          <p:spPr>
            <a:xfrm>
              <a:off x="4466590" y="3925062"/>
              <a:ext cx="3258820" cy="2235835"/>
            </a:xfrm>
            <a:custGeom>
              <a:rect b="b" l="l" r="r" t="t"/>
              <a:pathLst>
                <a:path extrusionOk="0" h="2235835" w="3258820">
                  <a:moveTo>
                    <a:pt x="3101720" y="0"/>
                  </a:moveTo>
                  <a:lnTo>
                    <a:pt x="157099" y="0"/>
                  </a:lnTo>
                  <a:lnTo>
                    <a:pt x="107452" y="8011"/>
                  </a:lnTo>
                  <a:lnTo>
                    <a:pt x="64328" y="30317"/>
                  </a:lnTo>
                  <a:lnTo>
                    <a:pt x="30317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0" y="2078240"/>
                  </a:lnTo>
                  <a:lnTo>
                    <a:pt x="8011" y="2127889"/>
                  </a:lnTo>
                  <a:lnTo>
                    <a:pt x="30317" y="2171008"/>
                  </a:lnTo>
                  <a:lnTo>
                    <a:pt x="64328" y="2205009"/>
                  </a:lnTo>
                  <a:lnTo>
                    <a:pt x="107452" y="2227307"/>
                  </a:lnTo>
                  <a:lnTo>
                    <a:pt x="157099" y="2235314"/>
                  </a:lnTo>
                  <a:lnTo>
                    <a:pt x="3101720" y="2235314"/>
                  </a:lnTo>
                  <a:lnTo>
                    <a:pt x="3151367" y="2227307"/>
                  </a:lnTo>
                  <a:lnTo>
                    <a:pt x="3194491" y="2205009"/>
                  </a:lnTo>
                  <a:lnTo>
                    <a:pt x="3228502" y="2171008"/>
                  </a:lnTo>
                  <a:lnTo>
                    <a:pt x="3250808" y="2127889"/>
                  </a:lnTo>
                  <a:lnTo>
                    <a:pt x="3258819" y="2078240"/>
                  </a:lnTo>
                  <a:lnTo>
                    <a:pt x="3258819" y="157099"/>
                  </a:lnTo>
                  <a:lnTo>
                    <a:pt x="3250808" y="107452"/>
                  </a:lnTo>
                  <a:lnTo>
                    <a:pt x="3228502" y="64328"/>
                  </a:lnTo>
                  <a:lnTo>
                    <a:pt x="3194491" y="30317"/>
                  </a:lnTo>
                  <a:lnTo>
                    <a:pt x="3151367" y="8011"/>
                  </a:lnTo>
                  <a:lnTo>
                    <a:pt x="3101720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p16"/>
          <p:cNvSpPr txBox="1"/>
          <p:nvPr/>
        </p:nvSpPr>
        <p:spPr>
          <a:xfrm>
            <a:off x="1073725" y="4001775"/>
            <a:ext cx="3158100" cy="19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875">
            <a:spAutoFit/>
          </a:bodyPr>
          <a:lstStyle/>
          <a:p>
            <a:pPr indent="0" lvl="0" marL="0" marR="10033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2FF6A"/>
                </a:solidFill>
              </a:rPr>
              <a:t>x</a:t>
            </a:r>
            <a:r>
              <a:rPr b="1" lang="en-US" sz="3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 Mi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1905" lvl="0" marL="48260" marR="149860" rt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Impactos via Influenciadores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3,0G% </a:t>
            </a: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Taxa de Engajamento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1001376" y="6418275"/>
            <a:ext cx="10885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8EFC9"/>
                </a:solidFill>
                <a:latin typeface="Tahoma"/>
                <a:ea typeface="Tahoma"/>
                <a:cs typeface="Tahoma"/>
                <a:sym typeface="Tahoma"/>
              </a:rPr>
              <a:t>O Banco ampliou sua presença por meio de vozes reconhecidas pelos próprios públicos da Amazônia.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54" name="Google Shape;254;p16"/>
          <p:cNvGrpSpPr/>
          <p:nvPr/>
        </p:nvGrpSpPr>
        <p:grpSpPr>
          <a:xfrm>
            <a:off x="7871459" y="3840454"/>
            <a:ext cx="3508248" cy="2485644"/>
            <a:chOff x="7871459" y="3840454"/>
            <a:chExt cx="3508248" cy="2485644"/>
          </a:xfrm>
        </p:grpSpPr>
        <p:pic>
          <p:nvPicPr>
            <p:cNvPr id="255" name="Google Shape;255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871459" y="3840454"/>
              <a:ext cx="3508248" cy="2485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16"/>
            <p:cNvSpPr/>
            <p:nvPr/>
          </p:nvSpPr>
          <p:spPr>
            <a:xfrm>
              <a:off x="7964423" y="3934714"/>
              <a:ext cx="3258820" cy="2235835"/>
            </a:xfrm>
            <a:custGeom>
              <a:rect b="b" l="l" r="r" t="t"/>
              <a:pathLst>
                <a:path extrusionOk="0" h="2235835" w="3258820">
                  <a:moveTo>
                    <a:pt x="3101721" y="0"/>
                  </a:moveTo>
                  <a:lnTo>
                    <a:pt x="156972" y="0"/>
                  </a:lnTo>
                  <a:lnTo>
                    <a:pt x="107338" y="8011"/>
                  </a:lnTo>
                  <a:lnTo>
                    <a:pt x="64245" y="30317"/>
                  </a:lnTo>
                  <a:lnTo>
                    <a:pt x="30272" y="64328"/>
                  </a:lnTo>
                  <a:lnTo>
                    <a:pt x="7997" y="107452"/>
                  </a:lnTo>
                  <a:lnTo>
                    <a:pt x="0" y="157099"/>
                  </a:lnTo>
                  <a:lnTo>
                    <a:pt x="0" y="2078227"/>
                  </a:lnTo>
                  <a:lnTo>
                    <a:pt x="7997" y="2127878"/>
                  </a:lnTo>
                  <a:lnTo>
                    <a:pt x="30272" y="2170999"/>
                  </a:lnTo>
                  <a:lnTo>
                    <a:pt x="64245" y="2205004"/>
                  </a:lnTo>
                  <a:lnTo>
                    <a:pt x="107338" y="2227305"/>
                  </a:lnTo>
                  <a:lnTo>
                    <a:pt x="156972" y="2235314"/>
                  </a:lnTo>
                  <a:lnTo>
                    <a:pt x="3101721" y="2235314"/>
                  </a:lnTo>
                  <a:lnTo>
                    <a:pt x="3151354" y="2227305"/>
                  </a:lnTo>
                  <a:lnTo>
                    <a:pt x="3194447" y="2205004"/>
                  </a:lnTo>
                  <a:lnTo>
                    <a:pt x="3228420" y="2170999"/>
                  </a:lnTo>
                  <a:lnTo>
                    <a:pt x="3250695" y="2127878"/>
                  </a:lnTo>
                  <a:lnTo>
                    <a:pt x="3258693" y="2078227"/>
                  </a:lnTo>
                  <a:lnTo>
                    <a:pt x="3258693" y="157099"/>
                  </a:lnTo>
                  <a:lnTo>
                    <a:pt x="3250695" y="107452"/>
                  </a:lnTo>
                  <a:lnTo>
                    <a:pt x="3228420" y="64328"/>
                  </a:lnTo>
                  <a:lnTo>
                    <a:pt x="3194447" y="30317"/>
                  </a:lnTo>
                  <a:lnTo>
                    <a:pt x="3151354" y="8011"/>
                  </a:lnTo>
                  <a:lnTo>
                    <a:pt x="3101721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" name="Google Shape;257;p16"/>
          <p:cNvSpPr txBox="1"/>
          <p:nvPr/>
        </p:nvSpPr>
        <p:spPr>
          <a:xfrm>
            <a:off x="8015477" y="4337950"/>
            <a:ext cx="31581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8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2FF6A"/>
                </a:solidFill>
              </a:rPr>
              <a:t>x</a:t>
            </a:r>
            <a:r>
              <a:rPr b="1" lang="en-US" sz="3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 MILHÕES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83820" rtl="0" algn="ctr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Visualizações no Site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4399750" y="4102200"/>
            <a:ext cx="3306900" cy="18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0" lvl="0" marL="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2FF6A"/>
                </a:solidFill>
              </a:rPr>
              <a:t>            x</a:t>
            </a:r>
            <a:r>
              <a:rPr b="1" lang="en-US" sz="3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 MIL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2540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Visualizações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no conteúdo do Blog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31G </a:t>
            </a: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publicações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3802" y="0"/>
            <a:ext cx="2642743" cy="469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0181" y="957910"/>
            <a:ext cx="2785999" cy="5116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17"/>
          <p:cNvGrpSpPr/>
          <p:nvPr/>
        </p:nvGrpSpPr>
        <p:grpSpPr>
          <a:xfrm>
            <a:off x="7251954" y="0"/>
            <a:ext cx="2745359" cy="6857997"/>
            <a:chOff x="7251954" y="0"/>
            <a:chExt cx="2745359" cy="6857997"/>
          </a:xfrm>
        </p:grpSpPr>
        <p:pic>
          <p:nvPicPr>
            <p:cNvPr id="266" name="Google Shape;266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51954" y="3298316"/>
              <a:ext cx="1946655" cy="35596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916672" y="0"/>
              <a:ext cx="2080641" cy="381546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8" name="Google Shape;2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1089" y="3587994"/>
            <a:ext cx="1754759" cy="321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14" y="-1"/>
            <a:ext cx="518337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9595" y="110236"/>
            <a:ext cx="626744" cy="9702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8"/>
          <p:cNvSpPr txBox="1"/>
          <p:nvPr/>
        </p:nvSpPr>
        <p:spPr>
          <a:xfrm>
            <a:off x="505450" y="262850"/>
            <a:ext cx="10000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1082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002A23"/>
                </a:solidFill>
              </a:rPr>
              <a:t>Coordenação de  </a:t>
            </a:r>
            <a:r>
              <a:rPr b="1" lang="en-US" sz="2400">
                <a:solidFill>
                  <a:srgbClr val="002A23"/>
                </a:solidFill>
              </a:rPr>
              <a:t>Patrocínio, Cultura, Esporte e Eventos - COPAC</a:t>
            </a:r>
            <a:endParaRPr b="1" sz="2400">
              <a:solidFill>
                <a:srgbClr val="002A23"/>
              </a:solidFill>
            </a:endParaRPr>
          </a:p>
        </p:txBody>
      </p:sp>
      <p:grpSp>
        <p:nvGrpSpPr>
          <p:cNvPr id="277" name="Google Shape;277;p18"/>
          <p:cNvGrpSpPr/>
          <p:nvPr/>
        </p:nvGrpSpPr>
        <p:grpSpPr>
          <a:xfrm>
            <a:off x="136395" y="784873"/>
            <a:ext cx="5919216" cy="5980176"/>
            <a:chOff x="272795" y="784873"/>
            <a:chExt cx="5919216" cy="5980176"/>
          </a:xfrm>
        </p:grpSpPr>
        <p:pic>
          <p:nvPicPr>
            <p:cNvPr id="278" name="Google Shape;278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2795" y="784873"/>
              <a:ext cx="5919216" cy="5980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18"/>
            <p:cNvSpPr/>
            <p:nvPr/>
          </p:nvSpPr>
          <p:spPr>
            <a:xfrm>
              <a:off x="365759" y="877824"/>
              <a:ext cx="5669280" cy="5730240"/>
            </a:xfrm>
            <a:custGeom>
              <a:rect b="b" l="l" r="r" t="t"/>
              <a:pathLst>
                <a:path extrusionOk="0" h="5730240" w="5669280">
                  <a:moveTo>
                    <a:pt x="5486400" y="0"/>
                  </a:moveTo>
                  <a:lnTo>
                    <a:pt x="182892" y="0"/>
                  </a:lnTo>
                  <a:lnTo>
                    <a:pt x="134274" y="6535"/>
                  </a:lnTo>
                  <a:lnTo>
                    <a:pt x="90585" y="24976"/>
                  </a:lnTo>
                  <a:lnTo>
                    <a:pt x="53570" y="53578"/>
                  </a:lnTo>
                  <a:lnTo>
                    <a:pt x="24971" y="90593"/>
                  </a:lnTo>
                  <a:lnTo>
                    <a:pt x="6533" y="134276"/>
                  </a:lnTo>
                  <a:lnTo>
                    <a:pt x="0" y="182879"/>
                  </a:lnTo>
                  <a:lnTo>
                    <a:pt x="0" y="5547347"/>
                  </a:lnTo>
                  <a:lnTo>
                    <a:pt x="6533" y="5595965"/>
                  </a:lnTo>
                  <a:lnTo>
                    <a:pt x="24971" y="5639654"/>
                  </a:lnTo>
                  <a:lnTo>
                    <a:pt x="53570" y="5676669"/>
                  </a:lnTo>
                  <a:lnTo>
                    <a:pt x="90585" y="5705268"/>
                  </a:lnTo>
                  <a:lnTo>
                    <a:pt x="134274" y="5723706"/>
                  </a:lnTo>
                  <a:lnTo>
                    <a:pt x="182892" y="5730240"/>
                  </a:lnTo>
                  <a:lnTo>
                    <a:pt x="5486400" y="5730240"/>
                  </a:lnTo>
                  <a:lnTo>
                    <a:pt x="5535003" y="5723706"/>
                  </a:lnTo>
                  <a:lnTo>
                    <a:pt x="5578686" y="5705268"/>
                  </a:lnTo>
                  <a:lnTo>
                    <a:pt x="5615701" y="5676669"/>
                  </a:lnTo>
                  <a:lnTo>
                    <a:pt x="5644303" y="5639654"/>
                  </a:lnTo>
                  <a:lnTo>
                    <a:pt x="5662744" y="5595965"/>
                  </a:lnTo>
                  <a:lnTo>
                    <a:pt x="5669280" y="5547347"/>
                  </a:lnTo>
                  <a:lnTo>
                    <a:pt x="5669280" y="182879"/>
                  </a:lnTo>
                  <a:lnTo>
                    <a:pt x="5662744" y="134276"/>
                  </a:lnTo>
                  <a:lnTo>
                    <a:pt x="5644303" y="90593"/>
                  </a:lnTo>
                  <a:lnTo>
                    <a:pt x="5615701" y="53578"/>
                  </a:lnTo>
                  <a:lnTo>
                    <a:pt x="5578686" y="24976"/>
                  </a:lnTo>
                  <a:lnTo>
                    <a:pt x="5535003" y="6535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18"/>
          <p:cNvSpPr txBox="1"/>
          <p:nvPr/>
        </p:nvSpPr>
        <p:spPr>
          <a:xfrm>
            <a:off x="430024" y="1586550"/>
            <a:ext cx="41733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FFFFF"/>
                </a:solidFill>
              </a:rPr>
              <a:t>META - 10%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" name="Google Shape;281;p18"/>
          <p:cNvGrpSpPr/>
          <p:nvPr/>
        </p:nvGrpSpPr>
        <p:grpSpPr>
          <a:xfrm>
            <a:off x="351280" y="784873"/>
            <a:ext cx="11704319" cy="5980176"/>
            <a:chOff x="487680" y="784873"/>
            <a:chExt cx="11704319" cy="5980176"/>
          </a:xfrm>
        </p:grpSpPr>
        <p:sp>
          <p:nvSpPr>
            <p:cNvPr id="282" name="Google Shape;282;p18"/>
            <p:cNvSpPr/>
            <p:nvPr/>
          </p:nvSpPr>
          <p:spPr>
            <a:xfrm>
              <a:off x="487680" y="2621280"/>
              <a:ext cx="4267200" cy="0"/>
            </a:xfrm>
            <a:custGeom>
              <a:rect b="b" l="l" r="r" t="t"/>
              <a:pathLst>
                <a:path extrusionOk="0" h="120000" w="4267200">
                  <a:moveTo>
                    <a:pt x="0" y="0"/>
                  </a:moveTo>
                  <a:lnTo>
                    <a:pt x="4267200" y="0"/>
                  </a:lnTo>
                </a:path>
              </a:pathLst>
            </a:custGeom>
            <a:noFill/>
            <a:ln cap="flat" cmpd="sng" w="25400">
              <a:solidFill>
                <a:srgbClr val="E2FF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3" name="Google Shape;283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68795" y="784873"/>
              <a:ext cx="5823204" cy="5980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18"/>
            <p:cNvSpPr/>
            <p:nvPr/>
          </p:nvSpPr>
          <p:spPr>
            <a:xfrm>
              <a:off x="6461759" y="877824"/>
              <a:ext cx="5669280" cy="5730240"/>
            </a:xfrm>
            <a:custGeom>
              <a:rect b="b" l="l" r="r" t="t"/>
              <a:pathLst>
                <a:path extrusionOk="0" h="5730240" w="5669280">
                  <a:moveTo>
                    <a:pt x="5486399" y="0"/>
                  </a:moveTo>
                  <a:lnTo>
                    <a:pt x="182880" y="0"/>
                  </a:ln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79"/>
                  </a:lnTo>
                  <a:lnTo>
                    <a:pt x="0" y="5547347"/>
                  </a:lnTo>
                  <a:lnTo>
                    <a:pt x="6535" y="5595965"/>
                  </a:lnTo>
                  <a:lnTo>
                    <a:pt x="24976" y="5639654"/>
                  </a:lnTo>
                  <a:lnTo>
                    <a:pt x="53578" y="5676669"/>
                  </a:lnTo>
                  <a:lnTo>
                    <a:pt x="90593" y="5705268"/>
                  </a:lnTo>
                  <a:lnTo>
                    <a:pt x="134276" y="5723706"/>
                  </a:lnTo>
                  <a:lnTo>
                    <a:pt x="182880" y="5730240"/>
                  </a:lnTo>
                  <a:lnTo>
                    <a:pt x="5486399" y="5730240"/>
                  </a:lnTo>
                  <a:lnTo>
                    <a:pt x="5535003" y="5723706"/>
                  </a:lnTo>
                  <a:lnTo>
                    <a:pt x="5578686" y="5705268"/>
                  </a:lnTo>
                  <a:lnTo>
                    <a:pt x="5615701" y="5676669"/>
                  </a:lnTo>
                  <a:lnTo>
                    <a:pt x="5644303" y="5639654"/>
                  </a:lnTo>
                  <a:lnTo>
                    <a:pt x="5662744" y="5595965"/>
                  </a:lnTo>
                  <a:lnTo>
                    <a:pt x="5669280" y="5547347"/>
                  </a:lnTo>
                  <a:lnTo>
                    <a:pt x="5669280" y="182879"/>
                  </a:lnTo>
                  <a:lnTo>
                    <a:pt x="5662744" y="134276"/>
                  </a:lnTo>
                  <a:lnTo>
                    <a:pt x="5644303" y="90593"/>
                  </a:lnTo>
                  <a:lnTo>
                    <a:pt x="5615701" y="53578"/>
                  </a:lnTo>
                  <a:lnTo>
                    <a:pt x="5578686" y="24976"/>
                  </a:lnTo>
                  <a:lnTo>
                    <a:pt x="5535003" y="6535"/>
                  </a:lnTo>
                  <a:lnTo>
                    <a:pt x="5486399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" name="Google Shape;285;p18"/>
          <p:cNvSpPr txBox="1"/>
          <p:nvPr/>
        </p:nvSpPr>
        <p:spPr>
          <a:xfrm>
            <a:off x="6526901" y="1033375"/>
            <a:ext cx="51231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0A89E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0A89E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0A89E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FFFFF"/>
                </a:solidFill>
              </a:rPr>
              <a:t>Alcance de Público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" name="Google Shape;286;p18"/>
          <p:cNvGrpSpPr/>
          <p:nvPr/>
        </p:nvGrpSpPr>
        <p:grpSpPr>
          <a:xfrm>
            <a:off x="229359" y="2621279"/>
            <a:ext cx="11765280" cy="3114841"/>
            <a:chOff x="365759" y="2621279"/>
            <a:chExt cx="11765280" cy="3114841"/>
          </a:xfrm>
        </p:grpSpPr>
        <p:sp>
          <p:nvSpPr>
            <p:cNvPr id="287" name="Google Shape;287;p18"/>
            <p:cNvSpPr/>
            <p:nvPr/>
          </p:nvSpPr>
          <p:spPr>
            <a:xfrm>
              <a:off x="6583680" y="2621279"/>
              <a:ext cx="4267200" cy="0"/>
            </a:xfrm>
            <a:custGeom>
              <a:rect b="b" l="l" r="r" t="t"/>
              <a:pathLst>
                <a:path extrusionOk="0" h="120000" w="4267200">
                  <a:moveTo>
                    <a:pt x="0" y="0"/>
                  </a:moveTo>
                  <a:lnTo>
                    <a:pt x="4267200" y="0"/>
                  </a:lnTo>
                </a:path>
              </a:pathLst>
            </a:custGeom>
            <a:noFill/>
            <a:ln cap="flat" cmpd="sng" w="25400">
              <a:solidFill>
                <a:srgbClr val="00E02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365759" y="4395000"/>
              <a:ext cx="11765280" cy="1341120"/>
            </a:xfrm>
            <a:custGeom>
              <a:rect b="b" l="l" r="r" t="t"/>
              <a:pathLst>
                <a:path extrusionOk="0" h="1341120" w="11765280">
                  <a:moveTo>
                    <a:pt x="11667744" y="0"/>
                  </a:moveTo>
                  <a:lnTo>
                    <a:pt x="97535" y="0"/>
                  </a:lnTo>
                  <a:lnTo>
                    <a:pt x="59573" y="7667"/>
                  </a:lnTo>
                  <a:lnTo>
                    <a:pt x="28570" y="28575"/>
                  </a:lnTo>
                  <a:lnTo>
                    <a:pt x="7665" y="59578"/>
                  </a:lnTo>
                  <a:lnTo>
                    <a:pt x="0" y="97536"/>
                  </a:lnTo>
                  <a:lnTo>
                    <a:pt x="0" y="1243558"/>
                  </a:lnTo>
                  <a:lnTo>
                    <a:pt x="7665" y="1281528"/>
                  </a:lnTo>
                  <a:lnTo>
                    <a:pt x="28570" y="1312535"/>
                  </a:lnTo>
                  <a:lnTo>
                    <a:pt x="59573" y="1333441"/>
                  </a:lnTo>
                  <a:lnTo>
                    <a:pt x="97535" y="1341107"/>
                  </a:lnTo>
                  <a:lnTo>
                    <a:pt x="11667744" y="1341107"/>
                  </a:lnTo>
                  <a:lnTo>
                    <a:pt x="11705701" y="1333441"/>
                  </a:lnTo>
                  <a:lnTo>
                    <a:pt x="11736705" y="1312535"/>
                  </a:lnTo>
                  <a:lnTo>
                    <a:pt x="11757612" y="1281528"/>
                  </a:lnTo>
                  <a:lnTo>
                    <a:pt x="11765280" y="1243558"/>
                  </a:lnTo>
                  <a:lnTo>
                    <a:pt x="11765280" y="97536"/>
                  </a:lnTo>
                  <a:lnTo>
                    <a:pt x="11757612" y="59578"/>
                  </a:lnTo>
                  <a:lnTo>
                    <a:pt x="11736705" y="28575"/>
                  </a:lnTo>
                  <a:lnTo>
                    <a:pt x="11705701" y="7667"/>
                  </a:lnTo>
                  <a:lnTo>
                    <a:pt x="11667744" y="0"/>
                  </a:lnTo>
                  <a:close/>
                </a:path>
              </a:pathLst>
            </a:custGeom>
            <a:solidFill>
              <a:srgbClr val="003B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18"/>
          <p:cNvSpPr txBox="1"/>
          <p:nvPr/>
        </p:nvSpPr>
        <p:spPr>
          <a:xfrm>
            <a:off x="512325" y="4734825"/>
            <a:ext cx="111378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B8EFC9"/>
                </a:solidFill>
                <a:latin typeface="Trebuchet MS"/>
                <a:ea typeface="Trebuchet MS"/>
                <a:cs typeface="Trebuchet MS"/>
                <a:sym typeface="Trebuchet MS"/>
              </a:rPr>
              <a:t>A coordenação superou a meta de variação percentual de público alcançado pelas ações culturais e sociais, que era de 10% para o 1S26.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430025" y="2957300"/>
            <a:ext cx="51381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FFFFF"/>
                </a:solidFill>
              </a:rPr>
              <a:t>RESULTADO </a:t>
            </a:r>
            <a:r>
              <a:rPr b="1" lang="en-US" sz="3700">
                <a:solidFill>
                  <a:srgbClr val="FFFFFF"/>
                </a:solidFill>
              </a:rPr>
              <a:t>- </a:t>
            </a:r>
            <a:r>
              <a:rPr b="1" lang="en-US" sz="3700">
                <a:solidFill>
                  <a:srgbClr val="FFFFFF"/>
                </a:solidFill>
              </a:rPr>
              <a:t>51% 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6477400" y="2957300"/>
            <a:ext cx="5222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De 57.660 pessoas alcançadas no primeiro semestre de 2025 para 87.054 no mesmo período de 2026.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3124900" y="3551850"/>
            <a:ext cx="2934109" cy="2125980"/>
          </a:xfrm>
          <a:custGeom>
            <a:rect b="b" l="l" r="r" t="t"/>
            <a:pathLst>
              <a:path extrusionOk="0" h="6858000" w="4829809">
                <a:moveTo>
                  <a:pt x="4829683" y="0"/>
                </a:moveTo>
                <a:lnTo>
                  <a:pt x="0" y="0"/>
                </a:lnTo>
                <a:lnTo>
                  <a:pt x="0" y="6858000"/>
                </a:lnTo>
                <a:lnTo>
                  <a:pt x="4829683" y="6858000"/>
                </a:lnTo>
                <a:lnTo>
                  <a:pt x="4829683" y="0"/>
                </a:lnTo>
                <a:close/>
              </a:path>
            </a:pathLst>
          </a:custGeom>
          <a:solidFill>
            <a:srgbClr val="002A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3124900" y="1117375"/>
            <a:ext cx="2934109" cy="2125980"/>
          </a:xfrm>
          <a:custGeom>
            <a:rect b="b" l="l" r="r" t="t"/>
            <a:pathLst>
              <a:path extrusionOk="0" h="6858000" w="4829809">
                <a:moveTo>
                  <a:pt x="4829683" y="0"/>
                </a:moveTo>
                <a:lnTo>
                  <a:pt x="0" y="0"/>
                </a:lnTo>
                <a:lnTo>
                  <a:pt x="0" y="6858000"/>
                </a:lnTo>
                <a:lnTo>
                  <a:pt x="4829683" y="6858000"/>
                </a:lnTo>
                <a:lnTo>
                  <a:pt x="4829683" y="0"/>
                </a:lnTo>
                <a:close/>
              </a:path>
            </a:pathLst>
          </a:custGeom>
          <a:solidFill>
            <a:srgbClr val="002A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99" name="Google Shape;2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9595" y="110236"/>
            <a:ext cx="626744" cy="97028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300" name="Google Shape;300;p19"/>
          <p:cNvSpPr txBox="1"/>
          <p:nvPr>
            <p:ph type="title"/>
          </p:nvPr>
        </p:nvSpPr>
        <p:spPr>
          <a:xfrm>
            <a:off x="306725" y="-13777"/>
            <a:ext cx="107505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4925">
            <a:spAutoFit/>
          </a:bodyPr>
          <a:lstStyle/>
          <a:p>
            <a:pPr indent="0" lvl="0" marL="21082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CCBA</a:t>
            </a:r>
            <a:endParaRPr/>
          </a:p>
          <a:p>
            <a:pPr indent="0" lvl="0" marL="210820" rtl="0" algn="l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None/>
            </a:pPr>
            <a:r>
              <a:rPr lang="en-US" sz="1200"/>
              <a:t>COPAC</a:t>
            </a:r>
            <a:endParaRPr sz="1200"/>
          </a:p>
        </p:txBody>
      </p:sp>
      <p:grpSp>
        <p:nvGrpSpPr>
          <p:cNvPr id="301" name="Google Shape;301;p19"/>
          <p:cNvGrpSpPr/>
          <p:nvPr/>
        </p:nvGrpSpPr>
        <p:grpSpPr>
          <a:xfrm>
            <a:off x="272795" y="1004316"/>
            <a:ext cx="2932176" cy="2383536"/>
            <a:chOff x="272795" y="1004316"/>
            <a:chExt cx="2932176" cy="2383536"/>
          </a:xfrm>
        </p:grpSpPr>
        <p:pic>
          <p:nvPicPr>
            <p:cNvPr id="302" name="Google Shape;30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2795" y="1004316"/>
              <a:ext cx="2932176" cy="2383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19"/>
            <p:cNvSpPr/>
            <p:nvPr/>
          </p:nvSpPr>
          <p:spPr>
            <a:xfrm>
              <a:off x="365759" y="1097280"/>
              <a:ext cx="2682240" cy="2133600"/>
            </a:xfrm>
            <a:custGeom>
              <a:rect b="b" l="l" r="r" t="t"/>
              <a:pathLst>
                <a:path extrusionOk="0" h="2133600" w="2682240">
                  <a:moveTo>
                    <a:pt x="2523744" y="0"/>
                  </a:moveTo>
                  <a:lnTo>
                    <a:pt x="158508" y="0"/>
                  </a:lnTo>
                  <a:lnTo>
                    <a:pt x="108408" y="8083"/>
                  </a:lnTo>
                  <a:lnTo>
                    <a:pt x="64895" y="30589"/>
                  </a:lnTo>
                  <a:lnTo>
                    <a:pt x="30583" y="64904"/>
                  </a:lnTo>
                  <a:lnTo>
                    <a:pt x="8080" y="108411"/>
                  </a:lnTo>
                  <a:lnTo>
                    <a:pt x="0" y="158496"/>
                  </a:lnTo>
                  <a:lnTo>
                    <a:pt x="0" y="1975104"/>
                  </a:lnTo>
                  <a:lnTo>
                    <a:pt x="8080" y="2025188"/>
                  </a:lnTo>
                  <a:lnTo>
                    <a:pt x="30583" y="2068695"/>
                  </a:lnTo>
                  <a:lnTo>
                    <a:pt x="64895" y="2103010"/>
                  </a:lnTo>
                  <a:lnTo>
                    <a:pt x="108408" y="2125516"/>
                  </a:lnTo>
                  <a:lnTo>
                    <a:pt x="158508" y="2133600"/>
                  </a:lnTo>
                  <a:lnTo>
                    <a:pt x="2523744" y="2133600"/>
                  </a:lnTo>
                  <a:lnTo>
                    <a:pt x="2573828" y="2125516"/>
                  </a:lnTo>
                  <a:lnTo>
                    <a:pt x="2617335" y="2103010"/>
                  </a:lnTo>
                  <a:lnTo>
                    <a:pt x="2651650" y="2068695"/>
                  </a:lnTo>
                  <a:lnTo>
                    <a:pt x="2674156" y="2025188"/>
                  </a:lnTo>
                  <a:lnTo>
                    <a:pt x="2682240" y="1975104"/>
                  </a:lnTo>
                  <a:lnTo>
                    <a:pt x="2682240" y="158496"/>
                  </a:lnTo>
                  <a:lnTo>
                    <a:pt x="2674156" y="108411"/>
                  </a:lnTo>
                  <a:lnTo>
                    <a:pt x="2651650" y="64904"/>
                  </a:lnTo>
                  <a:lnTo>
                    <a:pt x="2617335" y="30589"/>
                  </a:lnTo>
                  <a:lnTo>
                    <a:pt x="2573828" y="8083"/>
                  </a:lnTo>
                  <a:lnTo>
                    <a:pt x="252374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" name="Google Shape;304;p19"/>
          <p:cNvSpPr txBox="1"/>
          <p:nvPr/>
        </p:nvSpPr>
        <p:spPr>
          <a:xfrm>
            <a:off x="834034" y="1203112"/>
            <a:ext cx="17451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2FF6A"/>
                </a:solidFill>
              </a:rPr>
              <a:t>21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Feiras</a:t>
            </a:r>
            <a:endParaRPr sz="24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realizadas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306726" y="3462441"/>
            <a:ext cx="2932176" cy="2383536"/>
            <a:chOff x="3198876" y="1004316"/>
            <a:chExt cx="2932176" cy="2383536"/>
          </a:xfrm>
        </p:grpSpPr>
        <p:pic>
          <p:nvPicPr>
            <p:cNvPr id="306" name="Google Shape;306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98876" y="1004316"/>
              <a:ext cx="2932176" cy="2383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19"/>
            <p:cNvSpPr/>
            <p:nvPr/>
          </p:nvSpPr>
          <p:spPr>
            <a:xfrm>
              <a:off x="3291840" y="1097280"/>
              <a:ext cx="2682240" cy="2133600"/>
            </a:xfrm>
            <a:custGeom>
              <a:rect b="b" l="l" r="r" t="t"/>
              <a:pathLst>
                <a:path extrusionOk="0" h="2133600" w="2682240">
                  <a:moveTo>
                    <a:pt x="2523744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1975104"/>
                  </a:lnTo>
                  <a:lnTo>
                    <a:pt x="8083" y="2025188"/>
                  </a:lnTo>
                  <a:lnTo>
                    <a:pt x="30589" y="2068695"/>
                  </a:lnTo>
                  <a:lnTo>
                    <a:pt x="64904" y="2103010"/>
                  </a:lnTo>
                  <a:lnTo>
                    <a:pt x="108411" y="2125516"/>
                  </a:lnTo>
                  <a:lnTo>
                    <a:pt x="158496" y="2133600"/>
                  </a:lnTo>
                  <a:lnTo>
                    <a:pt x="2523744" y="2133600"/>
                  </a:lnTo>
                  <a:lnTo>
                    <a:pt x="2573828" y="2125516"/>
                  </a:lnTo>
                  <a:lnTo>
                    <a:pt x="2617335" y="2103010"/>
                  </a:lnTo>
                  <a:lnTo>
                    <a:pt x="2651650" y="2068695"/>
                  </a:lnTo>
                  <a:lnTo>
                    <a:pt x="2674156" y="2025188"/>
                  </a:lnTo>
                  <a:lnTo>
                    <a:pt x="2682240" y="1975104"/>
                  </a:lnTo>
                  <a:lnTo>
                    <a:pt x="2682240" y="158496"/>
                  </a:lnTo>
                  <a:lnTo>
                    <a:pt x="2674156" y="108411"/>
                  </a:lnTo>
                  <a:lnTo>
                    <a:pt x="2651650" y="64904"/>
                  </a:lnTo>
                  <a:lnTo>
                    <a:pt x="2617335" y="30589"/>
                  </a:lnTo>
                  <a:lnTo>
                    <a:pt x="2573828" y="8083"/>
                  </a:lnTo>
                  <a:lnTo>
                    <a:pt x="252374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" name="Google Shape;308;p19"/>
          <p:cNvSpPr txBox="1"/>
          <p:nvPr/>
        </p:nvSpPr>
        <p:spPr>
          <a:xfrm>
            <a:off x="451776" y="3661225"/>
            <a:ext cx="25782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2FF6A"/>
                </a:solidFill>
              </a:rPr>
              <a:t>36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1270" lvl="0" marL="12065" marR="508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Ativações</a:t>
            </a:r>
            <a:endParaRPr sz="24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1270" lvl="0" marL="12065" marR="508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Culturais</a:t>
            </a:r>
            <a:endParaRPr sz="24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09" name="Google Shape;309;p19"/>
          <p:cNvGrpSpPr/>
          <p:nvPr/>
        </p:nvGrpSpPr>
        <p:grpSpPr>
          <a:xfrm>
            <a:off x="6124955" y="1004316"/>
            <a:ext cx="2932176" cy="2383536"/>
            <a:chOff x="6124955" y="1004316"/>
            <a:chExt cx="2932176" cy="2383536"/>
          </a:xfrm>
        </p:grpSpPr>
        <p:pic>
          <p:nvPicPr>
            <p:cNvPr id="310" name="Google Shape;31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24955" y="1004316"/>
              <a:ext cx="2932176" cy="2383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19"/>
            <p:cNvSpPr/>
            <p:nvPr/>
          </p:nvSpPr>
          <p:spPr>
            <a:xfrm>
              <a:off x="6217919" y="1097280"/>
              <a:ext cx="2682240" cy="2133600"/>
            </a:xfrm>
            <a:custGeom>
              <a:rect b="b" l="l" r="r" t="t"/>
              <a:pathLst>
                <a:path extrusionOk="0" h="2133600" w="2682240">
                  <a:moveTo>
                    <a:pt x="2523744" y="0"/>
                  </a:moveTo>
                  <a:lnTo>
                    <a:pt x="158495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1975104"/>
                  </a:lnTo>
                  <a:lnTo>
                    <a:pt x="8083" y="2025188"/>
                  </a:lnTo>
                  <a:lnTo>
                    <a:pt x="30589" y="2068695"/>
                  </a:lnTo>
                  <a:lnTo>
                    <a:pt x="64904" y="2103010"/>
                  </a:lnTo>
                  <a:lnTo>
                    <a:pt x="108411" y="2125516"/>
                  </a:lnTo>
                  <a:lnTo>
                    <a:pt x="158495" y="2133600"/>
                  </a:lnTo>
                  <a:lnTo>
                    <a:pt x="2523744" y="2133600"/>
                  </a:lnTo>
                  <a:lnTo>
                    <a:pt x="2573828" y="2125516"/>
                  </a:lnTo>
                  <a:lnTo>
                    <a:pt x="2617335" y="2103010"/>
                  </a:lnTo>
                  <a:lnTo>
                    <a:pt x="2651650" y="2068695"/>
                  </a:lnTo>
                  <a:lnTo>
                    <a:pt x="2674156" y="2025188"/>
                  </a:lnTo>
                  <a:lnTo>
                    <a:pt x="2682239" y="1975104"/>
                  </a:lnTo>
                  <a:lnTo>
                    <a:pt x="2682239" y="158496"/>
                  </a:lnTo>
                  <a:lnTo>
                    <a:pt x="2674156" y="108411"/>
                  </a:lnTo>
                  <a:lnTo>
                    <a:pt x="2651650" y="64904"/>
                  </a:lnTo>
                  <a:lnTo>
                    <a:pt x="2617335" y="30589"/>
                  </a:lnTo>
                  <a:lnTo>
                    <a:pt x="2573828" y="8083"/>
                  </a:lnTo>
                  <a:lnTo>
                    <a:pt x="252374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p19"/>
          <p:cNvSpPr txBox="1"/>
          <p:nvPr/>
        </p:nvSpPr>
        <p:spPr>
          <a:xfrm>
            <a:off x="6270700" y="1203100"/>
            <a:ext cx="2578200" cy="1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2FF6A"/>
                </a:solidFill>
              </a:rPr>
              <a:t>16</a:t>
            </a:r>
            <a:endParaRPr sz="4000"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Eventos</a:t>
            </a:r>
            <a:endParaRPr sz="24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Diversos</a:t>
            </a:r>
            <a:endParaRPr sz="24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13" name="Google Shape;313;p19"/>
          <p:cNvGrpSpPr/>
          <p:nvPr/>
        </p:nvGrpSpPr>
        <p:grpSpPr>
          <a:xfrm>
            <a:off x="6153935" y="3462441"/>
            <a:ext cx="2932176" cy="2383536"/>
            <a:chOff x="9051035" y="1004316"/>
            <a:chExt cx="2932176" cy="2383536"/>
          </a:xfrm>
        </p:grpSpPr>
        <p:pic>
          <p:nvPicPr>
            <p:cNvPr id="314" name="Google Shape;31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51035" y="1004316"/>
              <a:ext cx="2932176" cy="2383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19"/>
            <p:cNvSpPr/>
            <p:nvPr/>
          </p:nvSpPr>
          <p:spPr>
            <a:xfrm>
              <a:off x="9143999" y="1097280"/>
              <a:ext cx="2682240" cy="2133600"/>
            </a:xfrm>
            <a:custGeom>
              <a:rect b="b" l="l" r="r" t="t"/>
              <a:pathLst>
                <a:path extrusionOk="0" h="2133600" w="2682240">
                  <a:moveTo>
                    <a:pt x="2523744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1975104"/>
                  </a:lnTo>
                  <a:lnTo>
                    <a:pt x="8083" y="2025188"/>
                  </a:lnTo>
                  <a:lnTo>
                    <a:pt x="30589" y="2068695"/>
                  </a:lnTo>
                  <a:lnTo>
                    <a:pt x="64904" y="2103010"/>
                  </a:lnTo>
                  <a:lnTo>
                    <a:pt x="108411" y="2125516"/>
                  </a:lnTo>
                  <a:lnTo>
                    <a:pt x="158496" y="2133600"/>
                  </a:lnTo>
                  <a:lnTo>
                    <a:pt x="2523744" y="2133600"/>
                  </a:lnTo>
                  <a:lnTo>
                    <a:pt x="2573828" y="2125516"/>
                  </a:lnTo>
                  <a:lnTo>
                    <a:pt x="2617335" y="2103010"/>
                  </a:lnTo>
                  <a:lnTo>
                    <a:pt x="2651650" y="2068695"/>
                  </a:lnTo>
                  <a:lnTo>
                    <a:pt x="2674156" y="2025188"/>
                  </a:lnTo>
                  <a:lnTo>
                    <a:pt x="2682240" y="1975104"/>
                  </a:lnTo>
                  <a:lnTo>
                    <a:pt x="2682240" y="158496"/>
                  </a:lnTo>
                  <a:lnTo>
                    <a:pt x="2674156" y="108411"/>
                  </a:lnTo>
                  <a:lnTo>
                    <a:pt x="2651650" y="64904"/>
                  </a:lnTo>
                  <a:lnTo>
                    <a:pt x="2617335" y="30589"/>
                  </a:lnTo>
                  <a:lnTo>
                    <a:pt x="2573828" y="8083"/>
                  </a:lnTo>
                  <a:lnTo>
                    <a:pt x="2523744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" name="Google Shape;316;p19"/>
          <p:cNvSpPr txBox="1"/>
          <p:nvPr/>
        </p:nvSpPr>
        <p:spPr>
          <a:xfrm>
            <a:off x="6299624" y="3661225"/>
            <a:ext cx="25782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1587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E02C"/>
                </a:solidFill>
              </a:rPr>
              <a:t>08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53365" lvl="0" marL="265430" marR="508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Projetos</a:t>
            </a:r>
            <a:endParaRPr sz="24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3365" lvl="0" marL="265430" marR="508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Aprovados</a:t>
            </a:r>
            <a:endParaRPr sz="24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3365" lvl="0" marL="265430" marR="508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Escolha direta</a:t>
            </a: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3124950" y="1147750"/>
            <a:ext cx="2860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A COPAC participou de 21 feiras agropecuárias, de tecnologia e de negócios ao longo do semestre, incluindo Show Safra, Norte Show, Intermodal South America, Agrotins, Rondonia Rural Show e Expo Brasil Tocantins.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3160738" y="3929125"/>
            <a:ext cx="2860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O Centro Cultural realizou 36 ativações culturais, com uma programação contínua ao longo dos seis meses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9060600" y="1117375"/>
            <a:ext cx="2934109" cy="2125980"/>
          </a:xfrm>
          <a:custGeom>
            <a:rect b="b" l="l" r="r" t="t"/>
            <a:pathLst>
              <a:path extrusionOk="0" h="6858000" w="4829809">
                <a:moveTo>
                  <a:pt x="4829683" y="0"/>
                </a:moveTo>
                <a:lnTo>
                  <a:pt x="0" y="0"/>
                </a:lnTo>
                <a:lnTo>
                  <a:pt x="0" y="6858000"/>
                </a:lnTo>
                <a:lnTo>
                  <a:pt x="4829683" y="6858000"/>
                </a:lnTo>
                <a:lnTo>
                  <a:pt x="4829683" y="0"/>
                </a:lnTo>
                <a:close/>
              </a:path>
            </a:pathLst>
          </a:custGeom>
          <a:solidFill>
            <a:srgbClr val="002A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0" name="Google Shape;320;p19"/>
          <p:cNvSpPr/>
          <p:nvPr/>
        </p:nvSpPr>
        <p:spPr>
          <a:xfrm>
            <a:off x="9060600" y="3591225"/>
            <a:ext cx="2934109" cy="2125980"/>
          </a:xfrm>
          <a:custGeom>
            <a:rect b="b" l="l" r="r" t="t"/>
            <a:pathLst>
              <a:path extrusionOk="0" h="6858000" w="4829809">
                <a:moveTo>
                  <a:pt x="4829683" y="0"/>
                </a:moveTo>
                <a:lnTo>
                  <a:pt x="0" y="0"/>
                </a:lnTo>
                <a:lnTo>
                  <a:pt x="0" y="6858000"/>
                </a:lnTo>
                <a:lnTo>
                  <a:pt x="4829683" y="6858000"/>
                </a:lnTo>
                <a:lnTo>
                  <a:pt x="4829683" y="0"/>
                </a:lnTo>
                <a:close/>
              </a:path>
            </a:pathLst>
          </a:custGeom>
          <a:solidFill>
            <a:srgbClr val="002A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9123075" y="1226063"/>
            <a:ext cx="2860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Foram apoiados e realizados 16 eventos diversos, como o Fórum Econômico Mundial, o Fórum de Integração e Desenvolvimento Regional e eventos institucionais para apresentação de resultados financeiros.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9118450" y="3699900"/>
            <a:ext cx="2860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Foram aprovados 8 projetos por Escolha Direta, o que inclui iniciativas de grande porte como a Corrida das Estações 2026, Basquetebol Cadeira de Rodas 2026, Círio Musical, II Semana do Clima da Amazônia e Fórum Brasil África. 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/>
          <p:nvPr/>
        </p:nvSpPr>
        <p:spPr>
          <a:xfrm>
            <a:off x="398779" y="211582"/>
            <a:ext cx="3285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A23"/>
                </a:solidFill>
              </a:rPr>
              <a:t>CCBA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328" name="Google Shape;328;p20"/>
          <p:cNvSpPr txBox="1"/>
          <p:nvPr>
            <p:ph type="title"/>
          </p:nvPr>
        </p:nvSpPr>
        <p:spPr>
          <a:xfrm>
            <a:off x="398779" y="930622"/>
            <a:ext cx="65343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/>
              <a:t>CULTURA NO LUGAR CERTO</a:t>
            </a:r>
            <a:endParaRPr i="1" sz="3600"/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20"/>
          <p:cNvGrpSpPr/>
          <p:nvPr/>
        </p:nvGrpSpPr>
        <p:grpSpPr>
          <a:xfrm>
            <a:off x="227073" y="1673760"/>
            <a:ext cx="7246352" cy="2118360"/>
            <a:chOff x="227075" y="2092451"/>
            <a:chExt cx="3710940" cy="2118360"/>
          </a:xfrm>
        </p:grpSpPr>
        <p:pic>
          <p:nvPicPr>
            <p:cNvPr id="330" name="Google Shape;330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7075" y="2092451"/>
              <a:ext cx="3710940" cy="211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20"/>
            <p:cNvSpPr/>
            <p:nvPr/>
          </p:nvSpPr>
          <p:spPr>
            <a:xfrm>
              <a:off x="320039" y="2185796"/>
              <a:ext cx="3461385" cy="1869439"/>
            </a:xfrm>
            <a:custGeom>
              <a:rect b="b" l="l" r="r" t="t"/>
              <a:pathLst>
                <a:path extrusionOk="0" h="1869439" w="3461385">
                  <a:moveTo>
                    <a:pt x="3285744" y="0"/>
                  </a:moveTo>
                  <a:lnTo>
                    <a:pt x="175221" y="0"/>
                  </a:lnTo>
                  <a:lnTo>
                    <a:pt x="128640" y="6261"/>
                  </a:lnTo>
                  <a:lnTo>
                    <a:pt x="86783" y="23932"/>
                  </a:lnTo>
                  <a:lnTo>
                    <a:pt x="51320" y="51339"/>
                  </a:lnTo>
                  <a:lnTo>
                    <a:pt x="23922" y="86811"/>
                  </a:lnTo>
                  <a:lnTo>
                    <a:pt x="6258" y="128675"/>
                  </a:lnTo>
                  <a:lnTo>
                    <a:pt x="0" y="175260"/>
                  </a:lnTo>
                  <a:lnTo>
                    <a:pt x="0" y="1693926"/>
                  </a:lnTo>
                  <a:lnTo>
                    <a:pt x="6258" y="1740500"/>
                  </a:lnTo>
                  <a:lnTo>
                    <a:pt x="23922" y="1782341"/>
                  </a:lnTo>
                  <a:lnTo>
                    <a:pt x="51320" y="1817782"/>
                  </a:lnTo>
                  <a:lnTo>
                    <a:pt x="86783" y="1845159"/>
                  </a:lnTo>
                  <a:lnTo>
                    <a:pt x="128640" y="1862806"/>
                  </a:lnTo>
                  <a:lnTo>
                    <a:pt x="175221" y="1869058"/>
                  </a:lnTo>
                  <a:lnTo>
                    <a:pt x="3285744" y="1869058"/>
                  </a:lnTo>
                  <a:lnTo>
                    <a:pt x="3332318" y="1862806"/>
                  </a:lnTo>
                  <a:lnTo>
                    <a:pt x="3374159" y="1845159"/>
                  </a:lnTo>
                  <a:lnTo>
                    <a:pt x="3409600" y="1817782"/>
                  </a:lnTo>
                  <a:lnTo>
                    <a:pt x="3436977" y="1782341"/>
                  </a:lnTo>
                  <a:lnTo>
                    <a:pt x="3454624" y="1740500"/>
                  </a:lnTo>
                  <a:lnTo>
                    <a:pt x="3460877" y="1693926"/>
                  </a:lnTo>
                  <a:lnTo>
                    <a:pt x="3460877" y="175260"/>
                  </a:lnTo>
                  <a:lnTo>
                    <a:pt x="3454624" y="128675"/>
                  </a:lnTo>
                  <a:lnTo>
                    <a:pt x="3436977" y="86811"/>
                  </a:lnTo>
                  <a:lnTo>
                    <a:pt x="3409600" y="51339"/>
                  </a:lnTo>
                  <a:lnTo>
                    <a:pt x="3374159" y="23932"/>
                  </a:lnTo>
                  <a:lnTo>
                    <a:pt x="3332318" y="6261"/>
                  </a:lnTo>
                  <a:lnTo>
                    <a:pt x="328574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" name="Google Shape;332;p20"/>
          <p:cNvSpPr txBox="1"/>
          <p:nvPr/>
        </p:nvSpPr>
        <p:spPr>
          <a:xfrm>
            <a:off x="831800" y="1970013"/>
            <a:ext cx="6036900" cy="13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5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E2FF6A"/>
                </a:solidFill>
              </a:rPr>
              <a:t>36 </a:t>
            </a:r>
            <a:endParaRPr b="1" sz="2900">
              <a:solidFill>
                <a:srgbClr val="E2FF6A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2FF6A"/>
                </a:solidFill>
              </a:rPr>
              <a:t>ATIVAÇÕES CULTURAIS</a:t>
            </a:r>
            <a:endParaRPr sz="2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Programação contínua ao longo dos seis meses.</a:t>
            </a:r>
            <a:endParaRPr sz="2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398775" y="3708400"/>
            <a:ext cx="67398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5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Foram abertas diversas exposições de destaque, como "Trabalhadores" de Sebastião Salgado, "Trajetórias" de Eduardo Vasconcelos, "Uma Belém no Olhar de Alguém" e a Exposição Nacional de Humor.</a:t>
            </a:r>
            <a:endParaRPr b="1" sz="20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398775" y="5190075"/>
            <a:ext cx="67398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5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A programação incluiu oficinas de desenho, leitura de portfólio, mesas redondas, contações de histórias e projetos musicais (como o Projeto Circular, apresentando artistas como Raidol e Zé Diogo). </a:t>
            </a:r>
            <a:endParaRPr b="1" sz="20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5" name="Google Shape;335;p20"/>
          <p:cNvPicPr preferRelativeResize="0"/>
          <p:nvPr/>
        </p:nvPicPr>
        <p:blipFill rotWithShape="1">
          <a:blip r:embed="rId4">
            <a:alphaModFix/>
          </a:blip>
          <a:srcRect b="0" l="18417" r="38822" t="0"/>
          <a:stretch/>
        </p:blipFill>
        <p:spPr>
          <a:xfrm>
            <a:off x="7793525" y="0"/>
            <a:ext cx="4398476" cy="685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pic>
        <p:nvPicPr>
          <p:cNvPr id="336" name="Google Shape;33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45773" y="173445"/>
            <a:ext cx="371195" cy="29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2A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342" name="Google Shape;342;p21"/>
          <p:cNvSpPr txBox="1"/>
          <p:nvPr>
            <p:ph type="title"/>
          </p:nvPr>
        </p:nvSpPr>
        <p:spPr>
          <a:xfrm>
            <a:off x="398775" y="923925"/>
            <a:ext cx="66189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00E02C"/>
                </a:solidFill>
              </a:rPr>
              <a:t>Circuitos Esportivos e Performance de Mídia</a:t>
            </a:r>
            <a:endParaRPr sz="3400"/>
          </a:p>
          <a:p>
            <a:pPr indent="0" lvl="0" marL="12700" marR="104140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Muito além da cultura.</a:t>
            </a:r>
            <a:endParaRPr/>
          </a:p>
        </p:txBody>
      </p:sp>
      <p:pic>
        <p:nvPicPr>
          <p:cNvPr id="343" name="Google Shape;3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83047" y="137445"/>
            <a:ext cx="371195" cy="299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/>
          <p:cNvPicPr preferRelativeResize="0"/>
          <p:nvPr/>
        </p:nvPicPr>
        <p:blipFill rotWithShape="1">
          <a:blip r:embed="rId4">
            <a:alphaModFix/>
          </a:blip>
          <a:srcRect b="0" l="29184" r="21659" t="0"/>
          <a:stretch/>
        </p:blipFill>
        <p:spPr>
          <a:xfrm>
            <a:off x="6429379" y="0"/>
            <a:ext cx="5054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1"/>
          <p:cNvSpPr txBox="1"/>
          <p:nvPr/>
        </p:nvSpPr>
        <p:spPr>
          <a:xfrm>
            <a:off x="398775" y="2631700"/>
            <a:ext cx="6618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041400" rtl="0" algn="l">
              <a:spcBef>
                <a:spcPts val="415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Ocorreram múltiplas etapas de corridas de rua patrocinadas: Circuito das Estações Outono (Belém, Manaus e Palmas), Circuito das Estações Inverno (Manaus e Palmas) e Eco Run (Belém).</a:t>
            </a:r>
            <a:endParaRPr b="1">
              <a:solidFill>
                <a:srgbClr val="002A23"/>
              </a:solidFill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398775" y="3778625"/>
            <a:ext cx="6618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041400" rtl="0" algn="l">
              <a:spcBef>
                <a:spcPts val="415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Houve crescimento no número de atletas participantes nas provas de Belém e Manaus em comparação ao ano anterior, além de aumento no volume de e-mails enviados para divulgação. </a:t>
            </a:r>
            <a:endParaRPr b="1">
              <a:solidFill>
                <a:srgbClr val="002A23"/>
              </a:solidFill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398775" y="4925550"/>
            <a:ext cx="6618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041400" rtl="0" algn="l">
              <a:spcBef>
                <a:spcPts val="415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A Pesquisa de Satisfação da etapa de Palmas apontou elevada aprovação geral com a organização da corrida. O ponto de maior satisfação foram os produtos do kit (com mais de 80% dos atletas atribuindo nota máxima), enquanto o percurso da prova e os pontos de hidratação foram identificados como oportunidades de melhoria. </a:t>
            </a:r>
            <a:endParaRPr b="1">
              <a:solidFill>
                <a:srgbClr val="002A2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22"/>
          <p:cNvGrpSpPr/>
          <p:nvPr/>
        </p:nvGrpSpPr>
        <p:grpSpPr>
          <a:xfrm>
            <a:off x="7362317" y="0"/>
            <a:ext cx="4829810" cy="6858000"/>
            <a:chOff x="7362317" y="0"/>
            <a:chExt cx="4829810" cy="6858000"/>
          </a:xfrm>
        </p:grpSpPr>
        <p:pic>
          <p:nvPicPr>
            <p:cNvPr id="354" name="Google Shape;35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99596" y="110236"/>
              <a:ext cx="626744" cy="97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22"/>
            <p:cNvSpPr/>
            <p:nvPr/>
          </p:nvSpPr>
          <p:spPr>
            <a:xfrm>
              <a:off x="7362317" y="0"/>
              <a:ext cx="4829810" cy="6858000"/>
            </a:xfrm>
            <a:custGeom>
              <a:rect b="b" l="l" r="r" t="t"/>
              <a:pathLst>
                <a:path extrusionOk="0" h="6858000" w="4829809">
                  <a:moveTo>
                    <a:pt x="4829683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829683" y="6858000"/>
                  </a:lnTo>
                  <a:lnTo>
                    <a:pt x="4829683" y="0"/>
                  </a:lnTo>
                  <a:close/>
                </a:path>
              </a:pathLst>
            </a:custGeom>
            <a:solidFill>
              <a:srgbClr val="002A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12700" rtl="0" algn="l">
                <a:spcBef>
                  <a:spcPts val="152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· Facebook</a:t>
              </a:r>
              <a:endParaRPr/>
            </a:p>
          </p:txBody>
        </p:sp>
        <p:pic>
          <p:nvPicPr>
            <p:cNvPr id="356" name="Google Shape;356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645773" y="173445"/>
              <a:ext cx="371195" cy="2992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357" name="Google Shape;357;p22"/>
          <p:cNvSpPr txBox="1"/>
          <p:nvPr>
            <p:ph type="title"/>
          </p:nvPr>
        </p:nvSpPr>
        <p:spPr>
          <a:xfrm>
            <a:off x="7703946" y="304546"/>
            <a:ext cx="32499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E02C"/>
                </a:solidFill>
              </a:rPr>
              <a:t>O BANCO PRESENTE ONDE A AMAZÔNIA ACONTECE</a:t>
            </a:r>
            <a:endParaRPr/>
          </a:p>
        </p:txBody>
      </p:sp>
      <p:grpSp>
        <p:nvGrpSpPr>
          <p:cNvPr id="358" name="Google Shape;358;p22"/>
          <p:cNvGrpSpPr/>
          <p:nvPr/>
        </p:nvGrpSpPr>
        <p:grpSpPr>
          <a:xfrm>
            <a:off x="7435595" y="1821179"/>
            <a:ext cx="4604003" cy="4849394"/>
            <a:chOff x="7435595" y="1821179"/>
            <a:chExt cx="4604003" cy="4849394"/>
          </a:xfrm>
        </p:grpSpPr>
        <p:pic>
          <p:nvPicPr>
            <p:cNvPr id="359" name="Google Shape;359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5595" y="1821179"/>
              <a:ext cx="2272283" cy="15041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22"/>
            <p:cNvSpPr/>
            <p:nvPr/>
          </p:nvSpPr>
          <p:spPr>
            <a:xfrm>
              <a:off x="7528559" y="1914778"/>
              <a:ext cx="2023110" cy="1254125"/>
            </a:xfrm>
            <a:custGeom>
              <a:rect b="b" l="l" r="r" t="t"/>
              <a:pathLst>
                <a:path extrusionOk="0" h="1254125" w="2023109">
                  <a:moveTo>
                    <a:pt x="1904492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1135761"/>
                  </a:lnTo>
                  <a:lnTo>
                    <a:pt x="9274" y="1181701"/>
                  </a:lnTo>
                  <a:lnTo>
                    <a:pt x="34575" y="1219247"/>
                  </a:lnTo>
                  <a:lnTo>
                    <a:pt x="72116" y="1244578"/>
                  </a:lnTo>
                  <a:lnTo>
                    <a:pt x="118110" y="1253871"/>
                  </a:lnTo>
                  <a:lnTo>
                    <a:pt x="1904492" y="1253871"/>
                  </a:lnTo>
                  <a:lnTo>
                    <a:pt x="1950432" y="1244578"/>
                  </a:lnTo>
                  <a:lnTo>
                    <a:pt x="1987978" y="1219247"/>
                  </a:lnTo>
                  <a:lnTo>
                    <a:pt x="2013309" y="1181701"/>
                  </a:lnTo>
                  <a:lnTo>
                    <a:pt x="2022602" y="1135761"/>
                  </a:lnTo>
                  <a:lnTo>
                    <a:pt x="2022602" y="118110"/>
                  </a:lnTo>
                  <a:lnTo>
                    <a:pt x="2013309" y="72116"/>
                  </a:lnTo>
                  <a:lnTo>
                    <a:pt x="1987978" y="34575"/>
                  </a:lnTo>
                  <a:lnTo>
                    <a:pt x="1950432" y="9274"/>
                  </a:lnTo>
                  <a:lnTo>
                    <a:pt x="1904492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1" name="Google Shape;361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67315" y="2878835"/>
              <a:ext cx="2272283" cy="15041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22"/>
            <p:cNvSpPr/>
            <p:nvPr/>
          </p:nvSpPr>
          <p:spPr>
            <a:xfrm>
              <a:off x="9860406" y="2973069"/>
              <a:ext cx="2023110" cy="1254125"/>
            </a:xfrm>
            <a:custGeom>
              <a:rect b="b" l="l" r="r" t="t"/>
              <a:pathLst>
                <a:path extrusionOk="0" h="1254125" w="2023109">
                  <a:moveTo>
                    <a:pt x="1904492" y="0"/>
                  </a:moveTo>
                  <a:lnTo>
                    <a:pt x="118110" y="0"/>
                  </a:lnTo>
                  <a:lnTo>
                    <a:pt x="72116" y="9292"/>
                  </a:lnTo>
                  <a:lnTo>
                    <a:pt x="34575" y="34623"/>
                  </a:lnTo>
                  <a:lnTo>
                    <a:pt x="9274" y="72169"/>
                  </a:lnTo>
                  <a:lnTo>
                    <a:pt x="0" y="118109"/>
                  </a:lnTo>
                  <a:lnTo>
                    <a:pt x="0" y="1135760"/>
                  </a:lnTo>
                  <a:lnTo>
                    <a:pt x="9274" y="1181754"/>
                  </a:lnTo>
                  <a:lnTo>
                    <a:pt x="34575" y="1219295"/>
                  </a:lnTo>
                  <a:lnTo>
                    <a:pt x="72116" y="1244596"/>
                  </a:lnTo>
                  <a:lnTo>
                    <a:pt x="118110" y="1253870"/>
                  </a:lnTo>
                  <a:lnTo>
                    <a:pt x="1904492" y="1253870"/>
                  </a:lnTo>
                  <a:lnTo>
                    <a:pt x="1950485" y="1244596"/>
                  </a:lnTo>
                  <a:lnTo>
                    <a:pt x="1988026" y="1219295"/>
                  </a:lnTo>
                  <a:lnTo>
                    <a:pt x="2013327" y="1181754"/>
                  </a:lnTo>
                  <a:lnTo>
                    <a:pt x="2022602" y="1135760"/>
                  </a:lnTo>
                  <a:lnTo>
                    <a:pt x="2022602" y="118109"/>
                  </a:lnTo>
                  <a:lnTo>
                    <a:pt x="2013327" y="72169"/>
                  </a:lnTo>
                  <a:lnTo>
                    <a:pt x="1988026" y="34623"/>
                  </a:lnTo>
                  <a:lnTo>
                    <a:pt x="1950485" y="9292"/>
                  </a:lnTo>
                  <a:lnTo>
                    <a:pt x="1904492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3" name="Google Shape;363;p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88935" y="4175785"/>
              <a:ext cx="2272283" cy="15041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22"/>
            <p:cNvSpPr/>
            <p:nvPr/>
          </p:nvSpPr>
          <p:spPr>
            <a:xfrm>
              <a:off x="7581899" y="4269612"/>
              <a:ext cx="2023110" cy="1254125"/>
            </a:xfrm>
            <a:custGeom>
              <a:rect b="b" l="l" r="r" t="t"/>
              <a:pathLst>
                <a:path extrusionOk="0" h="1254125" w="2023109">
                  <a:moveTo>
                    <a:pt x="1904492" y="0"/>
                  </a:moveTo>
                  <a:lnTo>
                    <a:pt x="118109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1135761"/>
                  </a:lnTo>
                  <a:lnTo>
                    <a:pt x="9274" y="1181754"/>
                  </a:lnTo>
                  <a:lnTo>
                    <a:pt x="34575" y="1219295"/>
                  </a:lnTo>
                  <a:lnTo>
                    <a:pt x="72116" y="1244596"/>
                  </a:lnTo>
                  <a:lnTo>
                    <a:pt x="118109" y="1253871"/>
                  </a:lnTo>
                  <a:lnTo>
                    <a:pt x="1904492" y="1253871"/>
                  </a:lnTo>
                  <a:lnTo>
                    <a:pt x="1950485" y="1244596"/>
                  </a:lnTo>
                  <a:lnTo>
                    <a:pt x="1988026" y="1219295"/>
                  </a:lnTo>
                  <a:lnTo>
                    <a:pt x="2013327" y="1181754"/>
                  </a:lnTo>
                  <a:lnTo>
                    <a:pt x="2022602" y="1135761"/>
                  </a:lnTo>
                  <a:lnTo>
                    <a:pt x="2022602" y="118110"/>
                  </a:lnTo>
                  <a:lnTo>
                    <a:pt x="2013327" y="72116"/>
                  </a:lnTo>
                  <a:lnTo>
                    <a:pt x="1988026" y="34575"/>
                  </a:lnTo>
                  <a:lnTo>
                    <a:pt x="1950485" y="9274"/>
                  </a:lnTo>
                  <a:lnTo>
                    <a:pt x="1904492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5" name="Google Shape;365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767315" y="5166385"/>
              <a:ext cx="2272283" cy="15041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22"/>
            <p:cNvSpPr/>
            <p:nvPr/>
          </p:nvSpPr>
          <p:spPr>
            <a:xfrm>
              <a:off x="9860406" y="5260213"/>
              <a:ext cx="2023110" cy="1254125"/>
            </a:xfrm>
            <a:custGeom>
              <a:rect b="b" l="l" r="r" t="t"/>
              <a:pathLst>
                <a:path extrusionOk="0" h="1254125" w="2023109">
                  <a:moveTo>
                    <a:pt x="1904492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09"/>
                  </a:lnTo>
                  <a:lnTo>
                    <a:pt x="0" y="1135748"/>
                  </a:lnTo>
                  <a:lnTo>
                    <a:pt x="9274" y="1181728"/>
                  </a:lnTo>
                  <a:lnTo>
                    <a:pt x="34575" y="1219274"/>
                  </a:lnTo>
                  <a:lnTo>
                    <a:pt x="72116" y="1244588"/>
                  </a:lnTo>
                  <a:lnTo>
                    <a:pt x="118110" y="1253871"/>
                  </a:lnTo>
                  <a:lnTo>
                    <a:pt x="1904492" y="1253871"/>
                  </a:lnTo>
                  <a:lnTo>
                    <a:pt x="1950485" y="1244588"/>
                  </a:lnTo>
                  <a:lnTo>
                    <a:pt x="1988026" y="1219274"/>
                  </a:lnTo>
                  <a:lnTo>
                    <a:pt x="2013327" y="1181728"/>
                  </a:lnTo>
                  <a:lnTo>
                    <a:pt x="2022602" y="1135748"/>
                  </a:lnTo>
                  <a:lnTo>
                    <a:pt x="2022602" y="118109"/>
                  </a:lnTo>
                  <a:lnTo>
                    <a:pt x="2013327" y="72116"/>
                  </a:lnTo>
                  <a:lnTo>
                    <a:pt x="1988026" y="34575"/>
                  </a:lnTo>
                  <a:lnTo>
                    <a:pt x="1950485" y="9274"/>
                  </a:lnTo>
                  <a:lnTo>
                    <a:pt x="1904492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7" name="Google Shape;367;p22"/>
          <p:cNvSpPr txBox="1"/>
          <p:nvPr/>
        </p:nvSpPr>
        <p:spPr>
          <a:xfrm>
            <a:off x="7599050" y="2062100"/>
            <a:ext cx="4288800" cy="43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591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</a:rPr>
              <a:t>x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74320" lvl="0" marL="287020" marR="1910714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Eventos esportivos patrocinados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2758440" rtl="0" algn="l">
              <a:lnSpc>
                <a:spcPct val="116041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</a:rPr>
              <a:t>    </a:t>
            </a:r>
            <a:r>
              <a:rPr b="1" lang="en-US" sz="2400">
                <a:solidFill>
                  <a:srgbClr val="E2FF6A"/>
                </a:solidFill>
              </a:rPr>
              <a:t>x</a:t>
            </a:r>
            <a:endParaRPr sz="2400"/>
          </a:p>
          <a:p>
            <a:pPr indent="0" lvl="0" marL="2758440" rtl="0" algn="l">
              <a:lnSpc>
                <a:spcPct val="116041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Ações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Culturais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ahoma"/>
              <a:ea typeface="Tahoma"/>
              <a:cs typeface="Tahoma"/>
              <a:sym typeface="Tahoma"/>
            </a:endParaRPr>
          </a:p>
          <a:p>
            <a:pPr indent="0" lvl="0" marL="831850" rtl="0" algn="l">
              <a:lnSpc>
                <a:spcPct val="11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</a:rPr>
              <a:t>x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1790064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Feiras e Exposições</a:t>
            </a:r>
            <a:endParaRPr sz="1700">
              <a:latin typeface="Tahoma"/>
              <a:ea typeface="Tahoma"/>
              <a:cs typeface="Tahoma"/>
              <a:sym typeface="Tahoma"/>
            </a:endParaRPr>
          </a:p>
          <a:p>
            <a:pPr indent="0" lvl="0" marL="2758440" rtl="0" algn="l">
              <a:lnSpc>
                <a:spcPct val="116041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</a:rPr>
              <a:t>    </a:t>
            </a:r>
            <a:r>
              <a:rPr b="1" lang="en-US" sz="2400">
                <a:solidFill>
                  <a:srgbClr val="E2FF6A"/>
                </a:solidFill>
              </a:rPr>
              <a:t>x</a:t>
            </a:r>
            <a:endParaRPr sz="2400"/>
          </a:p>
          <a:p>
            <a:pPr indent="0" lvl="0" marL="2758440" rtl="0" algn="l">
              <a:lnSpc>
                <a:spcPct val="116041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Outros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Eventos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68" name="Google Shape;368;p22"/>
          <p:cNvGrpSpPr/>
          <p:nvPr/>
        </p:nvGrpSpPr>
        <p:grpSpPr>
          <a:xfrm>
            <a:off x="0" y="43815"/>
            <a:ext cx="7209027" cy="6814182"/>
            <a:chOff x="0" y="43815"/>
            <a:chExt cx="7209027" cy="6814182"/>
          </a:xfrm>
        </p:grpSpPr>
        <p:pic>
          <p:nvPicPr>
            <p:cNvPr id="369" name="Google Shape;369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41109" y="43815"/>
              <a:ext cx="3223895" cy="4697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61587" y="102234"/>
              <a:ext cx="3328035" cy="3385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2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0" y="3196482"/>
              <a:ext cx="2639758" cy="36615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2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713350" y="2769994"/>
              <a:ext cx="2495677" cy="4088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2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139823" y="3487509"/>
              <a:ext cx="2495677" cy="31564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9595" y="110236"/>
            <a:ext cx="626744" cy="97028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3"/>
          <p:cNvSpPr txBox="1"/>
          <p:nvPr/>
        </p:nvSpPr>
        <p:spPr>
          <a:xfrm>
            <a:off x="505447" y="262850"/>
            <a:ext cx="7682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A23"/>
                </a:solidFill>
                <a:latin typeface="Arial"/>
                <a:ea typeface="Arial"/>
                <a:cs typeface="Arial"/>
                <a:sym typeface="Arial"/>
              </a:rPr>
              <a:t>E V E N T O S  Q U E  G E R A M  N E G Ó C I O 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23"/>
          <p:cNvGrpSpPr/>
          <p:nvPr/>
        </p:nvGrpSpPr>
        <p:grpSpPr>
          <a:xfrm>
            <a:off x="272795" y="784873"/>
            <a:ext cx="5919216" cy="5980176"/>
            <a:chOff x="272795" y="784873"/>
            <a:chExt cx="5919216" cy="5980176"/>
          </a:xfrm>
        </p:grpSpPr>
        <p:pic>
          <p:nvPicPr>
            <p:cNvPr id="382" name="Google Shape;38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2795" y="784873"/>
              <a:ext cx="5919216" cy="5980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23"/>
            <p:cNvSpPr/>
            <p:nvPr/>
          </p:nvSpPr>
          <p:spPr>
            <a:xfrm>
              <a:off x="365759" y="877824"/>
              <a:ext cx="5669280" cy="5730240"/>
            </a:xfrm>
            <a:custGeom>
              <a:rect b="b" l="l" r="r" t="t"/>
              <a:pathLst>
                <a:path extrusionOk="0" h="5730240" w="5669280">
                  <a:moveTo>
                    <a:pt x="5486400" y="0"/>
                  </a:moveTo>
                  <a:lnTo>
                    <a:pt x="182892" y="0"/>
                  </a:lnTo>
                  <a:lnTo>
                    <a:pt x="134274" y="6535"/>
                  </a:lnTo>
                  <a:lnTo>
                    <a:pt x="90585" y="24976"/>
                  </a:lnTo>
                  <a:lnTo>
                    <a:pt x="53570" y="53578"/>
                  </a:lnTo>
                  <a:lnTo>
                    <a:pt x="24971" y="90593"/>
                  </a:lnTo>
                  <a:lnTo>
                    <a:pt x="6533" y="134276"/>
                  </a:lnTo>
                  <a:lnTo>
                    <a:pt x="0" y="182879"/>
                  </a:lnTo>
                  <a:lnTo>
                    <a:pt x="0" y="5547347"/>
                  </a:lnTo>
                  <a:lnTo>
                    <a:pt x="6533" y="5595965"/>
                  </a:lnTo>
                  <a:lnTo>
                    <a:pt x="24971" y="5639654"/>
                  </a:lnTo>
                  <a:lnTo>
                    <a:pt x="53570" y="5676669"/>
                  </a:lnTo>
                  <a:lnTo>
                    <a:pt x="90585" y="5705268"/>
                  </a:lnTo>
                  <a:lnTo>
                    <a:pt x="134274" y="5723706"/>
                  </a:lnTo>
                  <a:lnTo>
                    <a:pt x="182892" y="5730240"/>
                  </a:lnTo>
                  <a:lnTo>
                    <a:pt x="5486400" y="5730240"/>
                  </a:lnTo>
                  <a:lnTo>
                    <a:pt x="5535003" y="5723706"/>
                  </a:lnTo>
                  <a:lnTo>
                    <a:pt x="5578686" y="5705268"/>
                  </a:lnTo>
                  <a:lnTo>
                    <a:pt x="5615701" y="5676669"/>
                  </a:lnTo>
                  <a:lnTo>
                    <a:pt x="5644303" y="5639654"/>
                  </a:lnTo>
                  <a:lnTo>
                    <a:pt x="5662744" y="5595965"/>
                  </a:lnTo>
                  <a:lnTo>
                    <a:pt x="5669280" y="5547347"/>
                  </a:lnTo>
                  <a:lnTo>
                    <a:pt x="5669280" y="182879"/>
                  </a:lnTo>
                  <a:lnTo>
                    <a:pt x="5662744" y="134276"/>
                  </a:lnTo>
                  <a:lnTo>
                    <a:pt x="5644303" y="90593"/>
                  </a:lnTo>
                  <a:lnTo>
                    <a:pt x="5615701" y="53578"/>
                  </a:lnTo>
                  <a:lnTo>
                    <a:pt x="5578686" y="24976"/>
                  </a:lnTo>
                  <a:lnTo>
                    <a:pt x="5535003" y="6535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23"/>
          <p:cNvSpPr txBox="1"/>
          <p:nvPr/>
        </p:nvSpPr>
        <p:spPr>
          <a:xfrm>
            <a:off x="566429" y="1054350"/>
            <a:ext cx="1888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0A89E"/>
                </a:solidFill>
                <a:latin typeface="Tahoma"/>
                <a:ea typeface="Tahoma"/>
                <a:cs typeface="Tahoma"/>
                <a:sym typeface="Tahoma"/>
              </a:rPr>
              <a:t>T O C A N T I N 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5" name="Google Shape;385;p23"/>
          <p:cNvSpPr txBox="1"/>
          <p:nvPr/>
        </p:nvSpPr>
        <p:spPr>
          <a:xfrm>
            <a:off x="566426" y="1586550"/>
            <a:ext cx="26238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AGROTINS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23"/>
          <p:cNvGrpSpPr/>
          <p:nvPr/>
        </p:nvGrpSpPr>
        <p:grpSpPr>
          <a:xfrm>
            <a:off x="487680" y="784873"/>
            <a:ext cx="11704319" cy="5980176"/>
            <a:chOff x="487680" y="784873"/>
            <a:chExt cx="11704319" cy="5980176"/>
          </a:xfrm>
        </p:grpSpPr>
        <p:sp>
          <p:nvSpPr>
            <p:cNvPr id="387" name="Google Shape;387;p23"/>
            <p:cNvSpPr/>
            <p:nvPr/>
          </p:nvSpPr>
          <p:spPr>
            <a:xfrm>
              <a:off x="487680" y="2621280"/>
              <a:ext cx="4267200" cy="0"/>
            </a:xfrm>
            <a:custGeom>
              <a:rect b="b" l="l" r="r" t="t"/>
              <a:pathLst>
                <a:path extrusionOk="0" h="120000" w="4267200">
                  <a:moveTo>
                    <a:pt x="0" y="0"/>
                  </a:moveTo>
                  <a:lnTo>
                    <a:pt x="4267200" y="0"/>
                  </a:lnTo>
                </a:path>
              </a:pathLst>
            </a:custGeom>
            <a:noFill/>
            <a:ln cap="flat" cmpd="sng" w="25400">
              <a:solidFill>
                <a:srgbClr val="E2FF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8" name="Google Shape;388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68795" y="784873"/>
              <a:ext cx="5823204" cy="5980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23"/>
            <p:cNvSpPr/>
            <p:nvPr/>
          </p:nvSpPr>
          <p:spPr>
            <a:xfrm>
              <a:off x="6461759" y="877824"/>
              <a:ext cx="5669280" cy="5730240"/>
            </a:xfrm>
            <a:custGeom>
              <a:rect b="b" l="l" r="r" t="t"/>
              <a:pathLst>
                <a:path extrusionOk="0" h="5730240" w="5669280">
                  <a:moveTo>
                    <a:pt x="5486399" y="0"/>
                  </a:moveTo>
                  <a:lnTo>
                    <a:pt x="182880" y="0"/>
                  </a:ln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79"/>
                  </a:lnTo>
                  <a:lnTo>
                    <a:pt x="0" y="5547347"/>
                  </a:lnTo>
                  <a:lnTo>
                    <a:pt x="6535" y="5595965"/>
                  </a:lnTo>
                  <a:lnTo>
                    <a:pt x="24976" y="5639654"/>
                  </a:lnTo>
                  <a:lnTo>
                    <a:pt x="53578" y="5676669"/>
                  </a:lnTo>
                  <a:lnTo>
                    <a:pt x="90593" y="5705268"/>
                  </a:lnTo>
                  <a:lnTo>
                    <a:pt x="134276" y="5723706"/>
                  </a:lnTo>
                  <a:lnTo>
                    <a:pt x="182880" y="5730240"/>
                  </a:lnTo>
                  <a:lnTo>
                    <a:pt x="5486399" y="5730240"/>
                  </a:lnTo>
                  <a:lnTo>
                    <a:pt x="5535003" y="5723706"/>
                  </a:lnTo>
                  <a:lnTo>
                    <a:pt x="5578686" y="5705268"/>
                  </a:lnTo>
                  <a:lnTo>
                    <a:pt x="5615701" y="5676669"/>
                  </a:lnTo>
                  <a:lnTo>
                    <a:pt x="5644303" y="5639654"/>
                  </a:lnTo>
                  <a:lnTo>
                    <a:pt x="5662744" y="5595965"/>
                  </a:lnTo>
                  <a:lnTo>
                    <a:pt x="5669280" y="5547347"/>
                  </a:lnTo>
                  <a:lnTo>
                    <a:pt x="5669280" y="182879"/>
                  </a:lnTo>
                  <a:lnTo>
                    <a:pt x="5662744" y="134276"/>
                  </a:lnTo>
                  <a:lnTo>
                    <a:pt x="5644303" y="90593"/>
                  </a:lnTo>
                  <a:lnTo>
                    <a:pt x="5615701" y="53578"/>
                  </a:lnTo>
                  <a:lnTo>
                    <a:pt x="5578686" y="24976"/>
                  </a:lnTo>
                  <a:lnTo>
                    <a:pt x="5535003" y="6535"/>
                  </a:lnTo>
                  <a:lnTo>
                    <a:pt x="5486399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23"/>
          <p:cNvSpPr txBox="1"/>
          <p:nvPr/>
        </p:nvSpPr>
        <p:spPr>
          <a:xfrm>
            <a:off x="566419" y="2745305"/>
            <a:ext cx="4088765" cy="143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3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5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R$ 1,176 BILHÃO</a:t>
            </a:r>
            <a:endParaRPr sz="42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em negócios movimentados</a:t>
            </a:r>
            <a:endParaRPr sz="14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no evento com presença do Banco</a:t>
            </a:r>
            <a:endParaRPr sz="14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1" name="Google Shape;391;p23"/>
          <p:cNvSpPr txBox="1"/>
          <p:nvPr/>
        </p:nvSpPr>
        <p:spPr>
          <a:xfrm>
            <a:off x="6663297" y="1033375"/>
            <a:ext cx="4289400" cy="14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0A89E"/>
                </a:solidFill>
                <a:latin typeface="Tahoma"/>
                <a:ea typeface="Tahoma"/>
                <a:cs typeface="Tahoma"/>
                <a:sym typeface="Tahoma"/>
              </a:rPr>
              <a:t>R O N D Ô N I A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RONDÔNIA</a:t>
            </a:r>
            <a:endParaRPr sz="37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RURAL SHOW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" name="Google Shape;392;p23"/>
          <p:cNvGrpSpPr/>
          <p:nvPr/>
        </p:nvGrpSpPr>
        <p:grpSpPr>
          <a:xfrm>
            <a:off x="365759" y="2621279"/>
            <a:ext cx="11765280" cy="3660141"/>
            <a:chOff x="365759" y="2621279"/>
            <a:chExt cx="11765280" cy="3660141"/>
          </a:xfrm>
        </p:grpSpPr>
        <p:sp>
          <p:nvSpPr>
            <p:cNvPr id="393" name="Google Shape;393;p23"/>
            <p:cNvSpPr/>
            <p:nvPr/>
          </p:nvSpPr>
          <p:spPr>
            <a:xfrm>
              <a:off x="6583680" y="2621279"/>
              <a:ext cx="4267200" cy="0"/>
            </a:xfrm>
            <a:custGeom>
              <a:rect b="b" l="l" r="r" t="t"/>
              <a:pathLst>
                <a:path extrusionOk="0" h="120000" w="4267200">
                  <a:moveTo>
                    <a:pt x="0" y="0"/>
                  </a:moveTo>
                  <a:lnTo>
                    <a:pt x="4267200" y="0"/>
                  </a:lnTo>
                </a:path>
              </a:pathLst>
            </a:custGeom>
            <a:noFill/>
            <a:ln cap="flat" cmpd="sng" w="25400">
              <a:solidFill>
                <a:srgbClr val="00E02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365759" y="4940300"/>
              <a:ext cx="11765280" cy="1341120"/>
            </a:xfrm>
            <a:custGeom>
              <a:rect b="b" l="l" r="r" t="t"/>
              <a:pathLst>
                <a:path extrusionOk="0" h="1341120" w="11765280">
                  <a:moveTo>
                    <a:pt x="11667744" y="0"/>
                  </a:moveTo>
                  <a:lnTo>
                    <a:pt x="97535" y="0"/>
                  </a:lnTo>
                  <a:lnTo>
                    <a:pt x="59573" y="7667"/>
                  </a:lnTo>
                  <a:lnTo>
                    <a:pt x="28570" y="28575"/>
                  </a:lnTo>
                  <a:lnTo>
                    <a:pt x="7665" y="59578"/>
                  </a:lnTo>
                  <a:lnTo>
                    <a:pt x="0" y="97536"/>
                  </a:lnTo>
                  <a:lnTo>
                    <a:pt x="0" y="1243558"/>
                  </a:lnTo>
                  <a:lnTo>
                    <a:pt x="7665" y="1281528"/>
                  </a:lnTo>
                  <a:lnTo>
                    <a:pt x="28570" y="1312535"/>
                  </a:lnTo>
                  <a:lnTo>
                    <a:pt x="59573" y="1333441"/>
                  </a:lnTo>
                  <a:lnTo>
                    <a:pt x="97535" y="1341107"/>
                  </a:lnTo>
                  <a:lnTo>
                    <a:pt x="11667744" y="1341107"/>
                  </a:lnTo>
                  <a:lnTo>
                    <a:pt x="11705701" y="1333441"/>
                  </a:lnTo>
                  <a:lnTo>
                    <a:pt x="11736705" y="1312535"/>
                  </a:lnTo>
                  <a:lnTo>
                    <a:pt x="11757612" y="1281528"/>
                  </a:lnTo>
                  <a:lnTo>
                    <a:pt x="11765280" y="1243558"/>
                  </a:lnTo>
                  <a:lnTo>
                    <a:pt x="11765280" y="97536"/>
                  </a:lnTo>
                  <a:lnTo>
                    <a:pt x="11757612" y="59578"/>
                  </a:lnTo>
                  <a:lnTo>
                    <a:pt x="11736705" y="28575"/>
                  </a:lnTo>
                  <a:lnTo>
                    <a:pt x="11705701" y="7667"/>
                  </a:lnTo>
                  <a:lnTo>
                    <a:pt x="11667744" y="0"/>
                  </a:lnTo>
                  <a:close/>
                </a:path>
              </a:pathLst>
            </a:custGeom>
            <a:solidFill>
              <a:srgbClr val="003B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23"/>
          <p:cNvSpPr txBox="1"/>
          <p:nvPr/>
        </p:nvSpPr>
        <p:spPr>
          <a:xfrm>
            <a:off x="6663308" y="2877170"/>
            <a:ext cx="4056379" cy="125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5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R$ 652 MILHÕES</a:t>
            </a:r>
            <a:endParaRPr sz="42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em negócios movimentados</a:t>
            </a:r>
            <a:endParaRPr sz="14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no evento com presença do Banco</a:t>
            </a:r>
            <a:endParaRPr sz="14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6" name="Google Shape;396;p23"/>
          <p:cNvSpPr txBox="1"/>
          <p:nvPr/>
        </p:nvSpPr>
        <p:spPr>
          <a:xfrm>
            <a:off x="1715525" y="5249625"/>
            <a:ext cx="90042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5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B8EFC9"/>
                </a:solidFill>
                <a:latin typeface="Trebuchet MS"/>
                <a:ea typeface="Trebuchet MS"/>
                <a:cs typeface="Trebuchet MS"/>
                <a:sym typeface="Trebuchet MS"/>
              </a:rPr>
              <a:t>Presença do Banco em eventos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B8EFC9"/>
                </a:solidFill>
                <a:latin typeface="Trebuchet MS"/>
                <a:ea typeface="Trebuchet MS"/>
                <a:cs typeface="Trebuchet MS"/>
                <a:sym typeface="Trebuchet MS"/>
              </a:rPr>
              <a:t>fortalece crédito rural e posicionamento institucional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2" name="Google Shape;4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9595" y="110236"/>
            <a:ext cx="626744" cy="97028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403" name="Google Shape;403;p24"/>
          <p:cNvSpPr txBox="1"/>
          <p:nvPr>
            <p:ph type="title"/>
          </p:nvPr>
        </p:nvSpPr>
        <p:spPr>
          <a:xfrm>
            <a:off x="306730" y="-13781"/>
            <a:ext cx="10750550" cy="13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4925">
            <a:spAutoFit/>
          </a:bodyPr>
          <a:lstStyle/>
          <a:p>
            <a:pPr indent="0" lvl="0" marL="210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 E P U T A Ç Ã O  I N S T I T U C I O N A L</a:t>
            </a:r>
            <a:endParaRPr/>
          </a:p>
          <a:p>
            <a:pPr indent="0" lvl="0" marL="210820" rtl="0" algn="l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None/>
            </a:pPr>
            <a:r>
              <a:rPr lang="en-US" sz="1200"/>
              <a:t>Assessoria de Imprensa</a:t>
            </a:r>
            <a:endParaRPr sz="1200"/>
          </a:p>
        </p:txBody>
      </p:sp>
      <p:grpSp>
        <p:nvGrpSpPr>
          <p:cNvPr id="404" name="Google Shape;404;p24"/>
          <p:cNvGrpSpPr/>
          <p:nvPr/>
        </p:nvGrpSpPr>
        <p:grpSpPr>
          <a:xfrm>
            <a:off x="272795" y="1004316"/>
            <a:ext cx="2932176" cy="2383536"/>
            <a:chOff x="272795" y="1004316"/>
            <a:chExt cx="2932176" cy="2383536"/>
          </a:xfrm>
        </p:grpSpPr>
        <p:pic>
          <p:nvPicPr>
            <p:cNvPr id="405" name="Google Shape;405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2795" y="1004316"/>
              <a:ext cx="2932176" cy="2383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6" name="Google Shape;406;p24"/>
            <p:cNvSpPr/>
            <p:nvPr/>
          </p:nvSpPr>
          <p:spPr>
            <a:xfrm>
              <a:off x="365759" y="1097280"/>
              <a:ext cx="2682240" cy="2133600"/>
            </a:xfrm>
            <a:custGeom>
              <a:rect b="b" l="l" r="r" t="t"/>
              <a:pathLst>
                <a:path extrusionOk="0" h="2133600" w="2682240">
                  <a:moveTo>
                    <a:pt x="2523744" y="0"/>
                  </a:moveTo>
                  <a:lnTo>
                    <a:pt x="158508" y="0"/>
                  </a:lnTo>
                  <a:lnTo>
                    <a:pt x="108408" y="8083"/>
                  </a:lnTo>
                  <a:lnTo>
                    <a:pt x="64895" y="30589"/>
                  </a:lnTo>
                  <a:lnTo>
                    <a:pt x="30583" y="64904"/>
                  </a:lnTo>
                  <a:lnTo>
                    <a:pt x="8080" y="108411"/>
                  </a:lnTo>
                  <a:lnTo>
                    <a:pt x="0" y="158496"/>
                  </a:lnTo>
                  <a:lnTo>
                    <a:pt x="0" y="1975104"/>
                  </a:lnTo>
                  <a:lnTo>
                    <a:pt x="8080" y="2025188"/>
                  </a:lnTo>
                  <a:lnTo>
                    <a:pt x="30583" y="2068695"/>
                  </a:lnTo>
                  <a:lnTo>
                    <a:pt x="64895" y="2103010"/>
                  </a:lnTo>
                  <a:lnTo>
                    <a:pt x="108408" y="2125516"/>
                  </a:lnTo>
                  <a:lnTo>
                    <a:pt x="158508" y="2133600"/>
                  </a:lnTo>
                  <a:lnTo>
                    <a:pt x="2523744" y="2133600"/>
                  </a:lnTo>
                  <a:lnTo>
                    <a:pt x="2573828" y="2125516"/>
                  </a:lnTo>
                  <a:lnTo>
                    <a:pt x="2617335" y="2103010"/>
                  </a:lnTo>
                  <a:lnTo>
                    <a:pt x="2651650" y="2068695"/>
                  </a:lnTo>
                  <a:lnTo>
                    <a:pt x="2674156" y="2025188"/>
                  </a:lnTo>
                  <a:lnTo>
                    <a:pt x="2682240" y="1975104"/>
                  </a:lnTo>
                  <a:lnTo>
                    <a:pt x="2682240" y="158496"/>
                  </a:lnTo>
                  <a:lnTo>
                    <a:pt x="2674156" y="108411"/>
                  </a:lnTo>
                  <a:lnTo>
                    <a:pt x="2651650" y="64904"/>
                  </a:lnTo>
                  <a:lnTo>
                    <a:pt x="2617335" y="30589"/>
                  </a:lnTo>
                  <a:lnTo>
                    <a:pt x="2573828" y="8083"/>
                  </a:lnTo>
                  <a:lnTo>
                    <a:pt x="252374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7" name="Google Shape;407;p24"/>
          <p:cNvSpPr txBox="1"/>
          <p:nvPr/>
        </p:nvSpPr>
        <p:spPr>
          <a:xfrm>
            <a:off x="834034" y="1580612"/>
            <a:ext cx="1744980" cy="152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386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Matérias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Espontâneas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08" name="Google Shape;408;p24"/>
          <p:cNvGrpSpPr/>
          <p:nvPr/>
        </p:nvGrpSpPr>
        <p:grpSpPr>
          <a:xfrm>
            <a:off x="3198876" y="1004316"/>
            <a:ext cx="2932176" cy="2383536"/>
            <a:chOff x="3198876" y="1004316"/>
            <a:chExt cx="2932176" cy="2383536"/>
          </a:xfrm>
        </p:grpSpPr>
        <p:pic>
          <p:nvPicPr>
            <p:cNvPr id="409" name="Google Shape;409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98876" y="1004316"/>
              <a:ext cx="2932176" cy="2383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24"/>
            <p:cNvSpPr/>
            <p:nvPr/>
          </p:nvSpPr>
          <p:spPr>
            <a:xfrm>
              <a:off x="3291840" y="1097280"/>
              <a:ext cx="2682240" cy="2133600"/>
            </a:xfrm>
            <a:custGeom>
              <a:rect b="b" l="l" r="r" t="t"/>
              <a:pathLst>
                <a:path extrusionOk="0" h="2133600" w="2682240">
                  <a:moveTo>
                    <a:pt x="2523744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1975104"/>
                  </a:lnTo>
                  <a:lnTo>
                    <a:pt x="8083" y="2025188"/>
                  </a:lnTo>
                  <a:lnTo>
                    <a:pt x="30589" y="2068695"/>
                  </a:lnTo>
                  <a:lnTo>
                    <a:pt x="64904" y="2103010"/>
                  </a:lnTo>
                  <a:lnTo>
                    <a:pt x="108411" y="2125516"/>
                  </a:lnTo>
                  <a:lnTo>
                    <a:pt x="158496" y="2133600"/>
                  </a:lnTo>
                  <a:lnTo>
                    <a:pt x="2523744" y="2133600"/>
                  </a:lnTo>
                  <a:lnTo>
                    <a:pt x="2573828" y="2125516"/>
                  </a:lnTo>
                  <a:lnTo>
                    <a:pt x="2617335" y="2103010"/>
                  </a:lnTo>
                  <a:lnTo>
                    <a:pt x="2651650" y="2068695"/>
                  </a:lnTo>
                  <a:lnTo>
                    <a:pt x="2674156" y="2025188"/>
                  </a:lnTo>
                  <a:lnTo>
                    <a:pt x="2682240" y="1975104"/>
                  </a:lnTo>
                  <a:lnTo>
                    <a:pt x="2682240" y="158496"/>
                  </a:lnTo>
                  <a:lnTo>
                    <a:pt x="2674156" y="108411"/>
                  </a:lnTo>
                  <a:lnTo>
                    <a:pt x="2651650" y="64904"/>
                  </a:lnTo>
                  <a:lnTo>
                    <a:pt x="2617335" y="30589"/>
                  </a:lnTo>
                  <a:lnTo>
                    <a:pt x="2573828" y="8083"/>
                  </a:lnTo>
                  <a:lnTo>
                    <a:pt x="252374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1" name="Google Shape;411;p24"/>
          <p:cNvSpPr txBox="1"/>
          <p:nvPr/>
        </p:nvSpPr>
        <p:spPr>
          <a:xfrm>
            <a:off x="3343926" y="1580600"/>
            <a:ext cx="25782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+2 Bi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1270" lvl="0" marL="12065" marR="508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Impactos na Imprensa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12" name="Google Shape;412;p24"/>
          <p:cNvGrpSpPr/>
          <p:nvPr/>
        </p:nvGrpSpPr>
        <p:grpSpPr>
          <a:xfrm>
            <a:off x="6124955" y="1004316"/>
            <a:ext cx="2932176" cy="2383536"/>
            <a:chOff x="6124955" y="1004316"/>
            <a:chExt cx="2932176" cy="2383536"/>
          </a:xfrm>
        </p:grpSpPr>
        <p:pic>
          <p:nvPicPr>
            <p:cNvPr id="413" name="Google Shape;41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24955" y="1004316"/>
              <a:ext cx="2932176" cy="2383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24"/>
            <p:cNvSpPr/>
            <p:nvPr/>
          </p:nvSpPr>
          <p:spPr>
            <a:xfrm>
              <a:off x="6217919" y="1097280"/>
              <a:ext cx="2682240" cy="2133600"/>
            </a:xfrm>
            <a:custGeom>
              <a:rect b="b" l="l" r="r" t="t"/>
              <a:pathLst>
                <a:path extrusionOk="0" h="2133600" w="2682240">
                  <a:moveTo>
                    <a:pt x="2523744" y="0"/>
                  </a:moveTo>
                  <a:lnTo>
                    <a:pt x="158495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1975104"/>
                  </a:lnTo>
                  <a:lnTo>
                    <a:pt x="8083" y="2025188"/>
                  </a:lnTo>
                  <a:lnTo>
                    <a:pt x="30589" y="2068695"/>
                  </a:lnTo>
                  <a:lnTo>
                    <a:pt x="64904" y="2103010"/>
                  </a:lnTo>
                  <a:lnTo>
                    <a:pt x="108411" y="2125516"/>
                  </a:lnTo>
                  <a:lnTo>
                    <a:pt x="158495" y="2133600"/>
                  </a:lnTo>
                  <a:lnTo>
                    <a:pt x="2523744" y="2133600"/>
                  </a:lnTo>
                  <a:lnTo>
                    <a:pt x="2573828" y="2125516"/>
                  </a:lnTo>
                  <a:lnTo>
                    <a:pt x="2617335" y="2103010"/>
                  </a:lnTo>
                  <a:lnTo>
                    <a:pt x="2651650" y="2068695"/>
                  </a:lnTo>
                  <a:lnTo>
                    <a:pt x="2674156" y="2025188"/>
                  </a:lnTo>
                  <a:lnTo>
                    <a:pt x="2682239" y="1975104"/>
                  </a:lnTo>
                  <a:lnTo>
                    <a:pt x="2682239" y="158496"/>
                  </a:lnTo>
                  <a:lnTo>
                    <a:pt x="2674156" y="108411"/>
                  </a:lnTo>
                  <a:lnTo>
                    <a:pt x="2651650" y="64904"/>
                  </a:lnTo>
                  <a:lnTo>
                    <a:pt x="2617335" y="30589"/>
                  </a:lnTo>
                  <a:lnTo>
                    <a:pt x="2573828" y="8083"/>
                  </a:lnTo>
                  <a:lnTo>
                    <a:pt x="2523744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5" name="Google Shape;415;p24"/>
          <p:cNvSpPr txBox="1"/>
          <p:nvPr/>
        </p:nvSpPr>
        <p:spPr>
          <a:xfrm>
            <a:off x="6270700" y="1580600"/>
            <a:ext cx="25782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R$ 8,5 Mi</a:t>
            </a:r>
            <a:endParaRPr sz="4000"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Valor Midiático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16" name="Google Shape;416;p24"/>
          <p:cNvGrpSpPr/>
          <p:nvPr/>
        </p:nvGrpSpPr>
        <p:grpSpPr>
          <a:xfrm>
            <a:off x="9051035" y="1004316"/>
            <a:ext cx="2932176" cy="2383536"/>
            <a:chOff x="9051035" y="1004316"/>
            <a:chExt cx="2932176" cy="2383536"/>
          </a:xfrm>
        </p:grpSpPr>
        <p:pic>
          <p:nvPicPr>
            <p:cNvPr id="417" name="Google Shape;417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51035" y="1004316"/>
              <a:ext cx="2932176" cy="2383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8" name="Google Shape;418;p24"/>
            <p:cNvSpPr/>
            <p:nvPr/>
          </p:nvSpPr>
          <p:spPr>
            <a:xfrm>
              <a:off x="9143999" y="1097280"/>
              <a:ext cx="2682240" cy="2133600"/>
            </a:xfrm>
            <a:custGeom>
              <a:rect b="b" l="l" r="r" t="t"/>
              <a:pathLst>
                <a:path extrusionOk="0" h="2133600" w="2682240">
                  <a:moveTo>
                    <a:pt x="2523744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1975104"/>
                  </a:lnTo>
                  <a:lnTo>
                    <a:pt x="8083" y="2025188"/>
                  </a:lnTo>
                  <a:lnTo>
                    <a:pt x="30589" y="2068695"/>
                  </a:lnTo>
                  <a:lnTo>
                    <a:pt x="64904" y="2103010"/>
                  </a:lnTo>
                  <a:lnTo>
                    <a:pt x="108411" y="2125516"/>
                  </a:lnTo>
                  <a:lnTo>
                    <a:pt x="158496" y="2133600"/>
                  </a:lnTo>
                  <a:lnTo>
                    <a:pt x="2523744" y="2133600"/>
                  </a:lnTo>
                  <a:lnTo>
                    <a:pt x="2573828" y="2125516"/>
                  </a:lnTo>
                  <a:lnTo>
                    <a:pt x="2617335" y="2103010"/>
                  </a:lnTo>
                  <a:lnTo>
                    <a:pt x="2651650" y="2068695"/>
                  </a:lnTo>
                  <a:lnTo>
                    <a:pt x="2674156" y="2025188"/>
                  </a:lnTo>
                  <a:lnTo>
                    <a:pt x="2682240" y="1975104"/>
                  </a:lnTo>
                  <a:lnTo>
                    <a:pt x="2682240" y="158496"/>
                  </a:lnTo>
                  <a:lnTo>
                    <a:pt x="2674156" y="108411"/>
                  </a:lnTo>
                  <a:lnTo>
                    <a:pt x="2651650" y="64904"/>
                  </a:lnTo>
                  <a:lnTo>
                    <a:pt x="2617335" y="30589"/>
                  </a:lnTo>
                  <a:lnTo>
                    <a:pt x="2573828" y="8083"/>
                  </a:lnTo>
                  <a:lnTo>
                    <a:pt x="2523744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" name="Google Shape;419;p24"/>
          <p:cNvSpPr txBox="1"/>
          <p:nvPr/>
        </p:nvSpPr>
        <p:spPr>
          <a:xfrm>
            <a:off x="9707626" y="1580612"/>
            <a:ext cx="1556385" cy="152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253365" lvl="0" marL="265430" marR="5080" rtl="0" algn="l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Sentimento Positivo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20" name="Google Shape;420;p24"/>
          <p:cNvGrpSpPr/>
          <p:nvPr/>
        </p:nvGrpSpPr>
        <p:grpSpPr>
          <a:xfrm>
            <a:off x="272795" y="3345179"/>
            <a:ext cx="11710416" cy="3214116"/>
            <a:chOff x="272795" y="3345179"/>
            <a:chExt cx="11710416" cy="3214116"/>
          </a:xfrm>
        </p:grpSpPr>
        <p:pic>
          <p:nvPicPr>
            <p:cNvPr id="421" name="Google Shape;421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2795" y="3345179"/>
              <a:ext cx="11710416" cy="2017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" name="Google Shape;422;p24"/>
            <p:cNvSpPr/>
            <p:nvPr/>
          </p:nvSpPr>
          <p:spPr>
            <a:xfrm>
              <a:off x="365759" y="3438143"/>
              <a:ext cx="11460480" cy="1767839"/>
            </a:xfrm>
            <a:custGeom>
              <a:rect b="b" l="l" r="r" t="t"/>
              <a:pathLst>
                <a:path extrusionOk="0" h="1767839" w="11460480">
                  <a:moveTo>
                    <a:pt x="11314176" y="0"/>
                  </a:moveTo>
                  <a:lnTo>
                    <a:pt x="146304" y="0"/>
                  </a:ln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3"/>
                  </a:lnTo>
                  <a:lnTo>
                    <a:pt x="0" y="1621535"/>
                  </a:lnTo>
                  <a:lnTo>
                    <a:pt x="7459" y="1667768"/>
                  </a:lnTo>
                  <a:lnTo>
                    <a:pt x="28229" y="1707928"/>
                  </a:lnTo>
                  <a:lnTo>
                    <a:pt x="59900" y="1739603"/>
                  </a:lnTo>
                  <a:lnTo>
                    <a:pt x="100062" y="1760378"/>
                  </a:lnTo>
                  <a:lnTo>
                    <a:pt x="146304" y="1767839"/>
                  </a:lnTo>
                  <a:lnTo>
                    <a:pt x="11314176" y="1767839"/>
                  </a:lnTo>
                  <a:lnTo>
                    <a:pt x="11360408" y="1760378"/>
                  </a:lnTo>
                  <a:lnTo>
                    <a:pt x="11400568" y="1739603"/>
                  </a:lnTo>
                  <a:lnTo>
                    <a:pt x="11432243" y="1707928"/>
                  </a:lnTo>
                  <a:lnTo>
                    <a:pt x="11453018" y="1667768"/>
                  </a:lnTo>
                  <a:lnTo>
                    <a:pt x="11460480" y="1621535"/>
                  </a:lnTo>
                  <a:lnTo>
                    <a:pt x="11460480" y="146303"/>
                  </a:lnTo>
                  <a:lnTo>
                    <a:pt x="11453018" y="100071"/>
                  </a:lnTo>
                  <a:lnTo>
                    <a:pt x="11432243" y="59911"/>
                  </a:lnTo>
                  <a:lnTo>
                    <a:pt x="11400568" y="28236"/>
                  </a:lnTo>
                  <a:lnTo>
                    <a:pt x="11360408" y="7461"/>
                  </a:lnTo>
                  <a:lnTo>
                    <a:pt x="11314176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365759" y="5340095"/>
              <a:ext cx="11460480" cy="1219200"/>
            </a:xfrm>
            <a:custGeom>
              <a:rect b="b" l="l" r="r" t="t"/>
              <a:pathLst>
                <a:path extrusionOk="0" h="1219200" w="11460480">
                  <a:moveTo>
                    <a:pt x="11338560" y="0"/>
                  </a:moveTo>
                  <a:lnTo>
                    <a:pt x="121919" y="0"/>
                  </a:lnTo>
                  <a:lnTo>
                    <a:pt x="74462" y="9584"/>
                  </a:lnTo>
                  <a:lnTo>
                    <a:pt x="35709" y="35718"/>
                  </a:lnTo>
                  <a:lnTo>
                    <a:pt x="9580" y="74473"/>
                  </a:lnTo>
                  <a:lnTo>
                    <a:pt x="0" y="121919"/>
                  </a:lnTo>
                  <a:lnTo>
                    <a:pt x="0" y="1097279"/>
                  </a:lnTo>
                  <a:lnTo>
                    <a:pt x="9580" y="1144737"/>
                  </a:lnTo>
                  <a:lnTo>
                    <a:pt x="35709" y="1183490"/>
                  </a:lnTo>
                  <a:lnTo>
                    <a:pt x="74462" y="1209619"/>
                  </a:lnTo>
                  <a:lnTo>
                    <a:pt x="121919" y="1219199"/>
                  </a:lnTo>
                  <a:lnTo>
                    <a:pt x="11338560" y="1219199"/>
                  </a:lnTo>
                  <a:lnTo>
                    <a:pt x="11386006" y="1209619"/>
                  </a:lnTo>
                  <a:lnTo>
                    <a:pt x="11424761" y="1183490"/>
                  </a:lnTo>
                  <a:lnTo>
                    <a:pt x="11450895" y="1144737"/>
                  </a:lnTo>
                  <a:lnTo>
                    <a:pt x="11460480" y="1097279"/>
                  </a:lnTo>
                  <a:lnTo>
                    <a:pt x="11460480" y="121919"/>
                  </a:lnTo>
                  <a:lnTo>
                    <a:pt x="11450895" y="74473"/>
                  </a:lnTo>
                  <a:lnTo>
                    <a:pt x="11424761" y="35718"/>
                  </a:lnTo>
                  <a:lnTo>
                    <a:pt x="11386006" y="9584"/>
                  </a:lnTo>
                  <a:lnTo>
                    <a:pt x="11338560" y="0"/>
                  </a:lnTo>
                  <a:close/>
                </a:path>
              </a:pathLst>
            </a:custGeom>
            <a:solidFill>
              <a:srgbClr val="003B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4" name="Google Shape;424;p24"/>
          <p:cNvSpPr txBox="1"/>
          <p:nvPr/>
        </p:nvSpPr>
        <p:spPr>
          <a:xfrm>
            <a:off x="688340" y="3423285"/>
            <a:ext cx="9761220" cy="278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O que isso significa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→ 386 inserções orgânicas — sem custo de mídia, conquistadas por relevância editorial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→ R$8,5M em valor equivalente ao que custaria contratar esse espaço como publicidade paga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→ Zero ocorrências negativas em 5 meses — resultado de estratégia consistente de porta-vozes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0A89E"/>
                </a:solidFill>
                <a:latin typeface="Tahoma"/>
                <a:ea typeface="Tahoma"/>
                <a:cs typeface="Tahoma"/>
                <a:sym typeface="Tahoma"/>
              </a:rPr>
              <a:t>Presença confirmada em: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066165" rtl="0" algn="l">
              <a:lnSpc>
                <a:spcPct val="100000"/>
              </a:lnSpc>
              <a:spcBef>
                <a:spcPts val="163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Globo  ·  Valor Econômico  ·  Estadão  ·  CNN Brasil  ·  UOL  ·  Exame  ·  Infomoney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2A2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0" name="Google Shape;430;p25"/>
          <p:cNvGrpSpPr/>
          <p:nvPr/>
        </p:nvGrpSpPr>
        <p:grpSpPr>
          <a:xfrm>
            <a:off x="7778750" y="-4"/>
            <a:ext cx="4413250" cy="6858000"/>
            <a:chOff x="7778750" y="-4"/>
            <a:chExt cx="4413250" cy="6858000"/>
          </a:xfrm>
        </p:grpSpPr>
        <p:pic>
          <p:nvPicPr>
            <p:cNvPr id="431" name="Google Shape;431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99596" y="110236"/>
              <a:ext cx="626744" cy="97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78750" y="-4"/>
              <a:ext cx="441325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645772" y="173445"/>
              <a:ext cx="371195" cy="2992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434" name="Google Shape;434;p25"/>
          <p:cNvSpPr txBox="1"/>
          <p:nvPr>
            <p:ph type="title"/>
          </p:nvPr>
        </p:nvSpPr>
        <p:spPr>
          <a:xfrm>
            <a:off x="398773" y="923925"/>
            <a:ext cx="52410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E02C"/>
                </a:solidFill>
              </a:rPr>
              <a:t>CENTRO CULTURAL</a:t>
            </a:r>
            <a:endParaRPr/>
          </a:p>
          <a:p>
            <a:pPr indent="0" lvl="0" marL="12700" marR="104140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</a:rPr>
              <a:t>Muito além da cultura.</a:t>
            </a:r>
            <a:endParaRPr sz="3400"/>
          </a:p>
        </p:txBody>
      </p:sp>
      <p:grpSp>
        <p:nvGrpSpPr>
          <p:cNvPr id="435" name="Google Shape;435;p25"/>
          <p:cNvGrpSpPr/>
          <p:nvPr/>
        </p:nvGrpSpPr>
        <p:grpSpPr>
          <a:xfrm>
            <a:off x="227075" y="2513088"/>
            <a:ext cx="7266432" cy="961631"/>
            <a:chOff x="227075" y="2513088"/>
            <a:chExt cx="7266432" cy="961631"/>
          </a:xfrm>
        </p:grpSpPr>
        <p:pic>
          <p:nvPicPr>
            <p:cNvPr id="436" name="Google Shape;436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7075" y="2513088"/>
              <a:ext cx="7266432" cy="9616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25"/>
            <p:cNvSpPr/>
            <p:nvPr/>
          </p:nvSpPr>
          <p:spPr>
            <a:xfrm>
              <a:off x="320039" y="2606039"/>
              <a:ext cx="7017384" cy="711835"/>
            </a:xfrm>
            <a:custGeom>
              <a:rect b="b" l="l" r="r" t="t"/>
              <a:pathLst>
                <a:path extrusionOk="0" h="711835" w="7017384">
                  <a:moveTo>
                    <a:pt x="6887463" y="0"/>
                  </a:moveTo>
                  <a:lnTo>
                    <a:pt x="129438" y="0"/>
                  </a:lnTo>
                  <a:lnTo>
                    <a:pt x="79054" y="10165"/>
                  </a:lnTo>
                  <a:lnTo>
                    <a:pt x="37911" y="37893"/>
                  </a:lnTo>
                  <a:lnTo>
                    <a:pt x="10171" y="79027"/>
                  </a:lnTo>
                  <a:lnTo>
                    <a:pt x="0" y="129412"/>
                  </a:lnTo>
                  <a:lnTo>
                    <a:pt x="0" y="582422"/>
                  </a:lnTo>
                  <a:lnTo>
                    <a:pt x="10171" y="632807"/>
                  </a:lnTo>
                  <a:lnTo>
                    <a:pt x="37911" y="673941"/>
                  </a:lnTo>
                  <a:lnTo>
                    <a:pt x="79054" y="701669"/>
                  </a:lnTo>
                  <a:lnTo>
                    <a:pt x="129438" y="711835"/>
                  </a:lnTo>
                  <a:lnTo>
                    <a:pt x="6887463" y="711835"/>
                  </a:lnTo>
                  <a:lnTo>
                    <a:pt x="6937849" y="701669"/>
                  </a:lnTo>
                  <a:lnTo>
                    <a:pt x="6978983" y="673941"/>
                  </a:lnTo>
                  <a:lnTo>
                    <a:pt x="7006711" y="632807"/>
                  </a:lnTo>
                  <a:lnTo>
                    <a:pt x="7016877" y="582422"/>
                  </a:lnTo>
                  <a:lnTo>
                    <a:pt x="7016877" y="129412"/>
                  </a:lnTo>
                  <a:lnTo>
                    <a:pt x="7006711" y="79027"/>
                  </a:lnTo>
                  <a:lnTo>
                    <a:pt x="6978983" y="37893"/>
                  </a:lnTo>
                  <a:lnTo>
                    <a:pt x="6937849" y="10165"/>
                  </a:lnTo>
                  <a:lnTo>
                    <a:pt x="6887463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8" name="Google Shape;438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9767" y="2746247"/>
              <a:ext cx="585978" cy="4808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9" name="Google Shape;439;p25"/>
          <p:cNvSpPr txBox="1"/>
          <p:nvPr/>
        </p:nvSpPr>
        <p:spPr>
          <a:xfrm>
            <a:off x="954125" y="2797550"/>
            <a:ext cx="1622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Reputação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"/>
          <p:cNvSpPr txBox="1"/>
          <p:nvPr/>
        </p:nvSpPr>
        <p:spPr>
          <a:xfrm>
            <a:off x="3049904" y="2657347"/>
            <a:ext cx="38855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Presença cultural consolida autoridade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1" name="Google Shape;441;p25"/>
          <p:cNvSpPr txBox="1"/>
          <p:nvPr/>
        </p:nvSpPr>
        <p:spPr>
          <a:xfrm>
            <a:off x="3049904" y="2931667"/>
            <a:ext cx="12534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institucional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42" name="Google Shape;442;p25"/>
          <p:cNvGrpSpPr/>
          <p:nvPr/>
        </p:nvGrpSpPr>
        <p:grpSpPr>
          <a:xfrm>
            <a:off x="227075" y="3337572"/>
            <a:ext cx="7266432" cy="961631"/>
            <a:chOff x="227075" y="3337572"/>
            <a:chExt cx="7266432" cy="961631"/>
          </a:xfrm>
        </p:grpSpPr>
        <p:pic>
          <p:nvPicPr>
            <p:cNvPr id="443" name="Google Shape;443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7075" y="3337572"/>
              <a:ext cx="7266432" cy="9616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4" name="Google Shape;444;p25"/>
            <p:cNvSpPr/>
            <p:nvPr/>
          </p:nvSpPr>
          <p:spPr>
            <a:xfrm>
              <a:off x="320039" y="3431158"/>
              <a:ext cx="7017384" cy="712470"/>
            </a:xfrm>
            <a:custGeom>
              <a:rect b="b" l="l" r="r" t="t"/>
              <a:pathLst>
                <a:path extrusionOk="0" h="712470" w="7017384">
                  <a:moveTo>
                    <a:pt x="6887463" y="0"/>
                  </a:moveTo>
                  <a:lnTo>
                    <a:pt x="129438" y="0"/>
                  </a:lnTo>
                  <a:lnTo>
                    <a:pt x="79054" y="10183"/>
                  </a:lnTo>
                  <a:lnTo>
                    <a:pt x="37911" y="37941"/>
                  </a:lnTo>
                  <a:lnTo>
                    <a:pt x="10171" y="79081"/>
                  </a:lnTo>
                  <a:lnTo>
                    <a:pt x="0" y="129412"/>
                  </a:lnTo>
                  <a:lnTo>
                    <a:pt x="0" y="582421"/>
                  </a:lnTo>
                  <a:lnTo>
                    <a:pt x="10171" y="632827"/>
                  </a:lnTo>
                  <a:lnTo>
                    <a:pt x="37911" y="674004"/>
                  </a:lnTo>
                  <a:lnTo>
                    <a:pt x="79054" y="701776"/>
                  </a:lnTo>
                  <a:lnTo>
                    <a:pt x="129438" y="711961"/>
                  </a:lnTo>
                  <a:lnTo>
                    <a:pt x="6887463" y="711961"/>
                  </a:lnTo>
                  <a:lnTo>
                    <a:pt x="6937849" y="701776"/>
                  </a:lnTo>
                  <a:lnTo>
                    <a:pt x="6978983" y="674004"/>
                  </a:lnTo>
                  <a:lnTo>
                    <a:pt x="7006711" y="632827"/>
                  </a:lnTo>
                  <a:lnTo>
                    <a:pt x="7016877" y="582421"/>
                  </a:lnTo>
                  <a:lnTo>
                    <a:pt x="7016877" y="129412"/>
                  </a:lnTo>
                  <a:lnTo>
                    <a:pt x="7006711" y="79081"/>
                  </a:lnTo>
                  <a:lnTo>
                    <a:pt x="6978983" y="37941"/>
                  </a:lnTo>
                  <a:lnTo>
                    <a:pt x="6937849" y="10183"/>
                  </a:lnTo>
                  <a:lnTo>
                    <a:pt x="6887463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29767" y="3570731"/>
              <a:ext cx="585978" cy="480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p25"/>
          <p:cNvSpPr txBox="1"/>
          <p:nvPr/>
        </p:nvSpPr>
        <p:spPr>
          <a:xfrm>
            <a:off x="954125" y="3622925"/>
            <a:ext cx="2015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Pertencimento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5"/>
          <p:cNvSpPr txBox="1"/>
          <p:nvPr/>
        </p:nvSpPr>
        <p:spPr>
          <a:xfrm>
            <a:off x="3049904" y="3482720"/>
            <a:ext cx="356298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Conexão real com a comunidade de Belém e região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48" name="Google Shape;448;p25"/>
          <p:cNvGrpSpPr/>
          <p:nvPr/>
        </p:nvGrpSpPr>
        <p:grpSpPr>
          <a:xfrm>
            <a:off x="227075" y="4162069"/>
            <a:ext cx="7266432" cy="963142"/>
            <a:chOff x="227075" y="4162069"/>
            <a:chExt cx="7266432" cy="963142"/>
          </a:xfrm>
        </p:grpSpPr>
        <p:pic>
          <p:nvPicPr>
            <p:cNvPr id="449" name="Google Shape;449;p2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7075" y="4162069"/>
              <a:ext cx="7266432" cy="9631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0" name="Google Shape;450;p25"/>
            <p:cNvSpPr/>
            <p:nvPr/>
          </p:nvSpPr>
          <p:spPr>
            <a:xfrm>
              <a:off x="320039" y="4256277"/>
              <a:ext cx="7017384" cy="712470"/>
            </a:xfrm>
            <a:custGeom>
              <a:rect b="b" l="l" r="r" t="t"/>
              <a:pathLst>
                <a:path extrusionOk="0" h="712470" w="7017384">
                  <a:moveTo>
                    <a:pt x="6887463" y="0"/>
                  </a:moveTo>
                  <a:lnTo>
                    <a:pt x="129438" y="0"/>
                  </a:lnTo>
                  <a:lnTo>
                    <a:pt x="79054" y="10185"/>
                  </a:lnTo>
                  <a:lnTo>
                    <a:pt x="37911" y="37957"/>
                  </a:lnTo>
                  <a:lnTo>
                    <a:pt x="10171" y="79134"/>
                  </a:lnTo>
                  <a:lnTo>
                    <a:pt x="0" y="129540"/>
                  </a:lnTo>
                  <a:lnTo>
                    <a:pt x="0" y="582549"/>
                  </a:lnTo>
                  <a:lnTo>
                    <a:pt x="10171" y="632934"/>
                  </a:lnTo>
                  <a:lnTo>
                    <a:pt x="37911" y="674068"/>
                  </a:lnTo>
                  <a:lnTo>
                    <a:pt x="79054" y="701796"/>
                  </a:lnTo>
                  <a:lnTo>
                    <a:pt x="129438" y="711962"/>
                  </a:lnTo>
                  <a:lnTo>
                    <a:pt x="6887463" y="711962"/>
                  </a:lnTo>
                  <a:lnTo>
                    <a:pt x="6937849" y="701796"/>
                  </a:lnTo>
                  <a:lnTo>
                    <a:pt x="6978983" y="674068"/>
                  </a:lnTo>
                  <a:lnTo>
                    <a:pt x="7006711" y="632934"/>
                  </a:lnTo>
                  <a:lnTo>
                    <a:pt x="7016877" y="582549"/>
                  </a:lnTo>
                  <a:lnTo>
                    <a:pt x="7016877" y="129540"/>
                  </a:lnTo>
                  <a:lnTo>
                    <a:pt x="7006711" y="79134"/>
                  </a:lnTo>
                  <a:lnTo>
                    <a:pt x="6978983" y="37957"/>
                  </a:lnTo>
                  <a:lnTo>
                    <a:pt x="6937849" y="10185"/>
                  </a:lnTo>
                  <a:lnTo>
                    <a:pt x="6887463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1" name="Google Shape;451;p2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767" y="4396739"/>
              <a:ext cx="585978" cy="4808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2" name="Google Shape;452;p25"/>
          <p:cNvSpPr txBox="1"/>
          <p:nvPr/>
        </p:nvSpPr>
        <p:spPr>
          <a:xfrm>
            <a:off x="954125" y="4448300"/>
            <a:ext cx="1690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Inclusão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3049904" y="4308094"/>
            <a:ext cx="34759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Arte e cultura acessíveis a todos os públicos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54" name="Google Shape;454;p25"/>
          <p:cNvGrpSpPr/>
          <p:nvPr/>
        </p:nvGrpSpPr>
        <p:grpSpPr>
          <a:xfrm>
            <a:off x="227075" y="4988052"/>
            <a:ext cx="7266432" cy="961631"/>
            <a:chOff x="227075" y="4988052"/>
            <a:chExt cx="7266432" cy="961631"/>
          </a:xfrm>
        </p:grpSpPr>
        <p:pic>
          <p:nvPicPr>
            <p:cNvPr id="455" name="Google Shape;455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27075" y="4988052"/>
              <a:ext cx="7266432" cy="9616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25"/>
            <p:cNvSpPr/>
            <p:nvPr/>
          </p:nvSpPr>
          <p:spPr>
            <a:xfrm>
              <a:off x="320039" y="5081524"/>
              <a:ext cx="7017384" cy="712470"/>
            </a:xfrm>
            <a:custGeom>
              <a:rect b="b" l="l" r="r" t="t"/>
              <a:pathLst>
                <a:path extrusionOk="0" h="712470" w="7017384">
                  <a:moveTo>
                    <a:pt x="6887463" y="0"/>
                  </a:moveTo>
                  <a:lnTo>
                    <a:pt x="129438" y="0"/>
                  </a:lnTo>
                  <a:lnTo>
                    <a:pt x="79054" y="10165"/>
                  </a:lnTo>
                  <a:lnTo>
                    <a:pt x="37911" y="37893"/>
                  </a:lnTo>
                  <a:lnTo>
                    <a:pt x="10171" y="79027"/>
                  </a:lnTo>
                  <a:lnTo>
                    <a:pt x="0" y="129412"/>
                  </a:lnTo>
                  <a:lnTo>
                    <a:pt x="0" y="582409"/>
                  </a:lnTo>
                  <a:lnTo>
                    <a:pt x="10171" y="632793"/>
                  </a:lnTo>
                  <a:lnTo>
                    <a:pt x="37911" y="673936"/>
                  </a:lnTo>
                  <a:lnTo>
                    <a:pt x="79054" y="701675"/>
                  </a:lnTo>
                  <a:lnTo>
                    <a:pt x="129438" y="711847"/>
                  </a:lnTo>
                  <a:lnTo>
                    <a:pt x="6887463" y="711847"/>
                  </a:lnTo>
                  <a:lnTo>
                    <a:pt x="6937849" y="701675"/>
                  </a:lnTo>
                  <a:lnTo>
                    <a:pt x="6978983" y="673936"/>
                  </a:lnTo>
                  <a:lnTo>
                    <a:pt x="7006711" y="632793"/>
                  </a:lnTo>
                  <a:lnTo>
                    <a:pt x="7016877" y="582409"/>
                  </a:lnTo>
                  <a:lnTo>
                    <a:pt x="7016877" y="129412"/>
                  </a:lnTo>
                  <a:lnTo>
                    <a:pt x="7006711" y="79027"/>
                  </a:lnTo>
                  <a:lnTo>
                    <a:pt x="6978983" y="37893"/>
                  </a:lnTo>
                  <a:lnTo>
                    <a:pt x="6937849" y="10165"/>
                  </a:lnTo>
                  <a:lnTo>
                    <a:pt x="6887463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7" name="Google Shape;457;p2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29767" y="5221224"/>
              <a:ext cx="585978" cy="4808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8" name="Google Shape;458;p25"/>
          <p:cNvSpPr txBox="1"/>
          <p:nvPr/>
        </p:nvSpPr>
        <p:spPr>
          <a:xfrm>
            <a:off x="954125" y="5273125"/>
            <a:ext cx="1943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Presença Social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5"/>
          <p:cNvSpPr txBox="1"/>
          <p:nvPr/>
        </p:nvSpPr>
        <p:spPr>
          <a:xfrm>
            <a:off x="3049904" y="5270068"/>
            <a:ext cx="381000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Banco presente na vida das pessoas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60" name="Google Shape;460;p25"/>
          <p:cNvGrpSpPr/>
          <p:nvPr/>
        </p:nvGrpSpPr>
        <p:grpSpPr>
          <a:xfrm>
            <a:off x="227075" y="5812533"/>
            <a:ext cx="7266432" cy="961631"/>
            <a:chOff x="227075" y="5812533"/>
            <a:chExt cx="7266432" cy="961631"/>
          </a:xfrm>
        </p:grpSpPr>
        <p:pic>
          <p:nvPicPr>
            <p:cNvPr id="461" name="Google Shape;461;p2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27075" y="5812533"/>
              <a:ext cx="7266432" cy="9616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2" name="Google Shape;462;p25"/>
            <p:cNvSpPr/>
            <p:nvPr/>
          </p:nvSpPr>
          <p:spPr>
            <a:xfrm>
              <a:off x="320039" y="5906617"/>
              <a:ext cx="7017384" cy="712470"/>
            </a:xfrm>
            <a:custGeom>
              <a:rect b="b" l="l" r="r" t="t"/>
              <a:pathLst>
                <a:path extrusionOk="0" h="712470" w="7017384">
                  <a:moveTo>
                    <a:pt x="6887463" y="0"/>
                  </a:moveTo>
                  <a:lnTo>
                    <a:pt x="129438" y="0"/>
                  </a:lnTo>
                  <a:lnTo>
                    <a:pt x="79054" y="10171"/>
                  </a:lnTo>
                  <a:lnTo>
                    <a:pt x="37911" y="37911"/>
                  </a:lnTo>
                  <a:lnTo>
                    <a:pt x="10171" y="79054"/>
                  </a:lnTo>
                  <a:lnTo>
                    <a:pt x="0" y="129438"/>
                  </a:lnTo>
                  <a:lnTo>
                    <a:pt x="0" y="582460"/>
                  </a:lnTo>
                  <a:lnTo>
                    <a:pt x="10171" y="632843"/>
                  </a:lnTo>
                  <a:lnTo>
                    <a:pt x="37911" y="673987"/>
                  </a:lnTo>
                  <a:lnTo>
                    <a:pt x="79054" y="701726"/>
                  </a:lnTo>
                  <a:lnTo>
                    <a:pt x="129438" y="711898"/>
                  </a:lnTo>
                  <a:lnTo>
                    <a:pt x="6887463" y="711898"/>
                  </a:lnTo>
                  <a:lnTo>
                    <a:pt x="6937849" y="701726"/>
                  </a:lnTo>
                  <a:lnTo>
                    <a:pt x="6978983" y="673987"/>
                  </a:lnTo>
                  <a:lnTo>
                    <a:pt x="7006711" y="632843"/>
                  </a:lnTo>
                  <a:lnTo>
                    <a:pt x="7016877" y="582460"/>
                  </a:lnTo>
                  <a:lnTo>
                    <a:pt x="7016877" y="129438"/>
                  </a:lnTo>
                  <a:lnTo>
                    <a:pt x="7006711" y="79054"/>
                  </a:lnTo>
                  <a:lnTo>
                    <a:pt x="6978983" y="37911"/>
                  </a:lnTo>
                  <a:lnTo>
                    <a:pt x="6937849" y="10171"/>
                  </a:lnTo>
                  <a:lnTo>
                    <a:pt x="6887463" y="0"/>
                  </a:lnTo>
                  <a:close/>
                </a:path>
              </a:pathLst>
            </a:custGeom>
            <a:solidFill>
              <a:srgbClr val="0052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63" name="Google Shape;463;p2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29767" y="5910072"/>
              <a:ext cx="585978" cy="4808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4" name="Google Shape;464;p25"/>
          <p:cNvSpPr txBox="1"/>
          <p:nvPr/>
        </p:nvSpPr>
        <p:spPr>
          <a:xfrm>
            <a:off x="554825" y="5961675"/>
            <a:ext cx="249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2FF6A"/>
                </a:solidFill>
              </a:rPr>
              <a:t>     </a:t>
            </a: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Valorização da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2FF6A"/>
                </a:solidFill>
              </a:rPr>
              <a:t>    </a:t>
            </a: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Amazônia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5"/>
          <p:cNvSpPr txBox="1"/>
          <p:nvPr/>
        </p:nvSpPr>
        <p:spPr>
          <a:xfrm>
            <a:off x="3049899" y="5958625"/>
            <a:ext cx="4148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Identidade regional como vantagem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competitiva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7E8F4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1" name="Google Shape;471;p26"/>
          <p:cNvGrpSpPr/>
          <p:nvPr/>
        </p:nvGrpSpPr>
        <p:grpSpPr>
          <a:xfrm>
            <a:off x="7362317" y="0"/>
            <a:ext cx="4829810" cy="6858000"/>
            <a:chOff x="7362317" y="0"/>
            <a:chExt cx="4829810" cy="6858000"/>
          </a:xfrm>
        </p:grpSpPr>
        <p:pic>
          <p:nvPicPr>
            <p:cNvPr id="472" name="Google Shape;472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99596" y="110236"/>
              <a:ext cx="626744" cy="97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3" name="Google Shape;473;p26"/>
            <p:cNvSpPr/>
            <p:nvPr/>
          </p:nvSpPr>
          <p:spPr>
            <a:xfrm>
              <a:off x="7362317" y="0"/>
              <a:ext cx="4829810" cy="6858000"/>
            </a:xfrm>
            <a:custGeom>
              <a:rect b="b" l="l" r="r" t="t"/>
              <a:pathLst>
                <a:path extrusionOk="0" h="6858000" w="4829809">
                  <a:moveTo>
                    <a:pt x="4829683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829683" y="6858000"/>
                  </a:lnTo>
                  <a:lnTo>
                    <a:pt x="4829683" y="0"/>
                  </a:lnTo>
                  <a:close/>
                </a:path>
              </a:pathLst>
            </a:custGeom>
            <a:solidFill>
              <a:srgbClr val="44601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4" name="Google Shape;474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645773" y="173445"/>
              <a:ext cx="371195" cy="2992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5" name="Google Shape;475;p26"/>
          <p:cNvGrpSpPr/>
          <p:nvPr/>
        </p:nvGrpSpPr>
        <p:grpSpPr>
          <a:xfrm>
            <a:off x="2927223" y="51815"/>
            <a:ext cx="4358005" cy="6786325"/>
            <a:chOff x="2927223" y="51815"/>
            <a:chExt cx="4358005" cy="6786325"/>
          </a:xfrm>
        </p:grpSpPr>
        <p:pic>
          <p:nvPicPr>
            <p:cNvPr id="476" name="Google Shape;476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14239" y="1878838"/>
              <a:ext cx="2070989" cy="3474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7" name="Google Shape;477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27223" y="51815"/>
              <a:ext cx="2526538" cy="3332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8" name="Google Shape;478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32176" y="3490420"/>
              <a:ext cx="2484374" cy="33477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479" name="Google Shape;479;p26"/>
          <p:cNvSpPr txBox="1"/>
          <p:nvPr>
            <p:ph type="title"/>
          </p:nvPr>
        </p:nvSpPr>
        <p:spPr>
          <a:xfrm>
            <a:off x="7562468" y="305561"/>
            <a:ext cx="369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E02C"/>
                </a:solidFill>
              </a:rPr>
              <a:t>PRESENÇA CULTURAL</a:t>
            </a:r>
            <a:endParaRPr/>
          </a:p>
        </p:txBody>
      </p:sp>
      <p:pic>
        <p:nvPicPr>
          <p:cNvPr id="480" name="Google Shape;480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08" y="51815"/>
            <a:ext cx="2784219" cy="3357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508" y="3490517"/>
            <a:ext cx="2737356" cy="33155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2" name="Google Shape;482;p26"/>
          <p:cNvGrpSpPr/>
          <p:nvPr/>
        </p:nvGrpSpPr>
        <p:grpSpPr>
          <a:xfrm>
            <a:off x="7461504" y="812291"/>
            <a:ext cx="2261616" cy="1804415"/>
            <a:chOff x="7461504" y="812291"/>
            <a:chExt cx="2261616" cy="1804415"/>
          </a:xfrm>
        </p:grpSpPr>
        <p:pic>
          <p:nvPicPr>
            <p:cNvPr id="483" name="Google Shape;483;p2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61504" y="812291"/>
              <a:ext cx="2261616" cy="1804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4" name="Google Shape;484;p26"/>
            <p:cNvSpPr/>
            <p:nvPr/>
          </p:nvSpPr>
          <p:spPr>
            <a:xfrm>
              <a:off x="7555484" y="905509"/>
              <a:ext cx="2011680" cy="1554480"/>
            </a:xfrm>
            <a:custGeom>
              <a:rect b="b" l="l" r="r" t="t"/>
              <a:pathLst>
                <a:path extrusionOk="0" h="1554480" w="2011679">
                  <a:moveTo>
                    <a:pt x="1892808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607"/>
                  </a:lnTo>
                  <a:lnTo>
                    <a:pt x="9340" y="1481881"/>
                  </a:lnTo>
                  <a:lnTo>
                    <a:pt x="34813" y="1519666"/>
                  </a:lnTo>
                  <a:lnTo>
                    <a:pt x="72598" y="1545139"/>
                  </a:lnTo>
                  <a:lnTo>
                    <a:pt x="118872" y="1554479"/>
                  </a:lnTo>
                  <a:lnTo>
                    <a:pt x="1892808" y="1554479"/>
                  </a:lnTo>
                  <a:lnTo>
                    <a:pt x="1939081" y="1545139"/>
                  </a:lnTo>
                  <a:lnTo>
                    <a:pt x="1976866" y="1519666"/>
                  </a:lnTo>
                  <a:lnTo>
                    <a:pt x="2002339" y="1481881"/>
                  </a:lnTo>
                  <a:lnTo>
                    <a:pt x="2011680" y="1435607"/>
                  </a:lnTo>
                  <a:lnTo>
                    <a:pt x="2011680" y="118872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8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" name="Google Shape;485;p26"/>
          <p:cNvSpPr txBox="1"/>
          <p:nvPr/>
        </p:nvSpPr>
        <p:spPr>
          <a:xfrm>
            <a:off x="7855457" y="1208331"/>
            <a:ext cx="14142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Exposições 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em 2026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86" name="Google Shape;486;p26"/>
          <p:cNvGrpSpPr/>
          <p:nvPr/>
        </p:nvGrpSpPr>
        <p:grpSpPr>
          <a:xfrm>
            <a:off x="9846564" y="853439"/>
            <a:ext cx="2261616" cy="1804416"/>
            <a:chOff x="9846564" y="853439"/>
            <a:chExt cx="2261616" cy="1804416"/>
          </a:xfrm>
        </p:grpSpPr>
        <p:pic>
          <p:nvPicPr>
            <p:cNvPr id="487" name="Google Shape;487;p2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846564" y="853439"/>
              <a:ext cx="2261616" cy="1804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26"/>
            <p:cNvSpPr/>
            <p:nvPr/>
          </p:nvSpPr>
          <p:spPr>
            <a:xfrm>
              <a:off x="9939528" y="947038"/>
              <a:ext cx="2011680" cy="1554480"/>
            </a:xfrm>
            <a:custGeom>
              <a:rect b="b" l="l" r="r" t="t"/>
              <a:pathLst>
                <a:path extrusionOk="0" h="1554480" w="2011679">
                  <a:moveTo>
                    <a:pt x="1892807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608"/>
                  </a:lnTo>
                  <a:lnTo>
                    <a:pt x="9340" y="1481881"/>
                  </a:lnTo>
                  <a:lnTo>
                    <a:pt x="34813" y="1519666"/>
                  </a:lnTo>
                  <a:lnTo>
                    <a:pt x="72598" y="1545139"/>
                  </a:lnTo>
                  <a:lnTo>
                    <a:pt x="118872" y="1554480"/>
                  </a:lnTo>
                  <a:lnTo>
                    <a:pt x="1892807" y="1554480"/>
                  </a:lnTo>
                  <a:lnTo>
                    <a:pt x="1939081" y="1545139"/>
                  </a:lnTo>
                  <a:lnTo>
                    <a:pt x="1976866" y="1519666"/>
                  </a:lnTo>
                  <a:lnTo>
                    <a:pt x="2002339" y="1481881"/>
                  </a:lnTo>
                  <a:lnTo>
                    <a:pt x="2011679" y="1435608"/>
                  </a:lnTo>
                  <a:lnTo>
                    <a:pt x="2011679" y="118872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7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" name="Google Shape;489;p26"/>
          <p:cNvSpPr txBox="1"/>
          <p:nvPr/>
        </p:nvSpPr>
        <p:spPr>
          <a:xfrm>
            <a:off x="10091166" y="1249665"/>
            <a:ext cx="1710689" cy="112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Nota 4,7/5,0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54940" marR="14859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Avaliação do Google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90" name="Google Shape;490;p26"/>
          <p:cNvGrpSpPr/>
          <p:nvPr/>
        </p:nvGrpSpPr>
        <p:grpSpPr>
          <a:xfrm>
            <a:off x="7461504" y="2846832"/>
            <a:ext cx="2261616" cy="1804416"/>
            <a:chOff x="7461504" y="2846832"/>
            <a:chExt cx="2261616" cy="1804416"/>
          </a:xfrm>
        </p:grpSpPr>
        <p:pic>
          <p:nvPicPr>
            <p:cNvPr id="491" name="Google Shape;491;p2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461504" y="2846832"/>
              <a:ext cx="2261616" cy="1804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26"/>
            <p:cNvSpPr/>
            <p:nvPr/>
          </p:nvSpPr>
          <p:spPr>
            <a:xfrm>
              <a:off x="7555484" y="2941066"/>
              <a:ext cx="2011680" cy="1554480"/>
            </a:xfrm>
            <a:custGeom>
              <a:rect b="b" l="l" r="r" t="t"/>
              <a:pathLst>
                <a:path extrusionOk="0" h="1554479" w="2011679">
                  <a:moveTo>
                    <a:pt x="1892808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608"/>
                  </a:lnTo>
                  <a:lnTo>
                    <a:pt x="9340" y="1481881"/>
                  </a:lnTo>
                  <a:lnTo>
                    <a:pt x="34813" y="1519666"/>
                  </a:lnTo>
                  <a:lnTo>
                    <a:pt x="72598" y="1545139"/>
                  </a:lnTo>
                  <a:lnTo>
                    <a:pt x="118872" y="1554480"/>
                  </a:lnTo>
                  <a:lnTo>
                    <a:pt x="1892808" y="1554480"/>
                  </a:lnTo>
                  <a:lnTo>
                    <a:pt x="1939081" y="1545139"/>
                  </a:lnTo>
                  <a:lnTo>
                    <a:pt x="1976866" y="1519666"/>
                  </a:lnTo>
                  <a:lnTo>
                    <a:pt x="2002339" y="1481881"/>
                  </a:lnTo>
                  <a:lnTo>
                    <a:pt x="2011680" y="1435608"/>
                  </a:lnTo>
                  <a:lnTo>
                    <a:pt x="2011680" y="118872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8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3" name="Google Shape;493;p26"/>
          <p:cNvSpPr txBox="1"/>
          <p:nvPr/>
        </p:nvSpPr>
        <p:spPr>
          <a:xfrm>
            <a:off x="8065769" y="3244394"/>
            <a:ext cx="993775" cy="112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50">
            <a:spAutoFit/>
          </a:bodyPr>
          <a:lstStyle/>
          <a:p>
            <a:pPr indent="2540" lvl="0" marL="12700" marR="508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xx </a:t>
            </a: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Bilhetes Emitidos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94" name="Google Shape;494;p26"/>
          <p:cNvGrpSpPr/>
          <p:nvPr/>
        </p:nvGrpSpPr>
        <p:grpSpPr>
          <a:xfrm>
            <a:off x="9846564" y="2889504"/>
            <a:ext cx="2261616" cy="1804416"/>
            <a:chOff x="9846564" y="2889504"/>
            <a:chExt cx="2261616" cy="1804416"/>
          </a:xfrm>
        </p:grpSpPr>
        <p:pic>
          <p:nvPicPr>
            <p:cNvPr id="495" name="Google Shape;495;p2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846564" y="2889504"/>
              <a:ext cx="2261616" cy="1804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26"/>
            <p:cNvSpPr/>
            <p:nvPr/>
          </p:nvSpPr>
          <p:spPr>
            <a:xfrm>
              <a:off x="9939528" y="2982722"/>
              <a:ext cx="2011680" cy="1554480"/>
            </a:xfrm>
            <a:custGeom>
              <a:rect b="b" l="l" r="r" t="t"/>
              <a:pathLst>
                <a:path extrusionOk="0" h="1554479" w="2011679">
                  <a:moveTo>
                    <a:pt x="1892807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608"/>
                  </a:lnTo>
                  <a:lnTo>
                    <a:pt x="9340" y="1481881"/>
                  </a:lnTo>
                  <a:lnTo>
                    <a:pt x="34813" y="1519666"/>
                  </a:lnTo>
                  <a:lnTo>
                    <a:pt x="72598" y="1545139"/>
                  </a:lnTo>
                  <a:lnTo>
                    <a:pt x="118872" y="1554479"/>
                  </a:lnTo>
                  <a:lnTo>
                    <a:pt x="1892807" y="1554479"/>
                  </a:lnTo>
                  <a:lnTo>
                    <a:pt x="1939081" y="1545139"/>
                  </a:lnTo>
                  <a:lnTo>
                    <a:pt x="1976866" y="1519666"/>
                  </a:lnTo>
                  <a:lnTo>
                    <a:pt x="2002339" y="1481881"/>
                  </a:lnTo>
                  <a:lnTo>
                    <a:pt x="2011679" y="1435608"/>
                  </a:lnTo>
                  <a:lnTo>
                    <a:pt x="2011679" y="118872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7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26"/>
          <p:cNvSpPr txBox="1"/>
          <p:nvPr/>
        </p:nvSpPr>
        <p:spPr>
          <a:xfrm>
            <a:off x="10388854" y="3285730"/>
            <a:ext cx="1113790" cy="824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Visitantes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98" name="Google Shape;498;p26"/>
          <p:cNvGrpSpPr/>
          <p:nvPr/>
        </p:nvGrpSpPr>
        <p:grpSpPr>
          <a:xfrm>
            <a:off x="7461504" y="4927075"/>
            <a:ext cx="2261616" cy="1804416"/>
            <a:chOff x="7461504" y="4927075"/>
            <a:chExt cx="2261616" cy="1804416"/>
          </a:xfrm>
        </p:grpSpPr>
        <p:pic>
          <p:nvPicPr>
            <p:cNvPr id="499" name="Google Shape;499;p2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461504" y="4927075"/>
              <a:ext cx="2261616" cy="1804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26"/>
            <p:cNvSpPr/>
            <p:nvPr/>
          </p:nvSpPr>
          <p:spPr>
            <a:xfrm>
              <a:off x="7555484" y="5020945"/>
              <a:ext cx="2011680" cy="1555115"/>
            </a:xfrm>
            <a:custGeom>
              <a:rect b="b" l="l" r="r" t="t"/>
              <a:pathLst>
                <a:path extrusionOk="0" h="1555115" w="2011679">
                  <a:moveTo>
                    <a:pt x="1892808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1"/>
                  </a:lnTo>
                  <a:lnTo>
                    <a:pt x="0" y="1435633"/>
                  </a:lnTo>
                  <a:lnTo>
                    <a:pt x="9340" y="1481901"/>
                  </a:lnTo>
                  <a:lnTo>
                    <a:pt x="34813" y="1519686"/>
                  </a:lnTo>
                  <a:lnTo>
                    <a:pt x="72598" y="1545163"/>
                  </a:lnTo>
                  <a:lnTo>
                    <a:pt x="118872" y="1554505"/>
                  </a:lnTo>
                  <a:lnTo>
                    <a:pt x="1892808" y="1554505"/>
                  </a:lnTo>
                  <a:lnTo>
                    <a:pt x="1939081" y="1545163"/>
                  </a:lnTo>
                  <a:lnTo>
                    <a:pt x="1976866" y="1519686"/>
                  </a:lnTo>
                  <a:lnTo>
                    <a:pt x="2002339" y="1481901"/>
                  </a:lnTo>
                  <a:lnTo>
                    <a:pt x="2011680" y="1435633"/>
                  </a:lnTo>
                  <a:lnTo>
                    <a:pt x="2011680" y="118871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8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1" name="Google Shape;501;p26"/>
          <p:cNvSpPr txBox="1"/>
          <p:nvPr/>
        </p:nvSpPr>
        <p:spPr>
          <a:xfrm>
            <a:off x="7905750" y="5323515"/>
            <a:ext cx="1312545" cy="1129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49149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xx </a:t>
            </a: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Escolas e Faculdades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02" name="Google Shape;502;p26"/>
          <p:cNvGrpSpPr/>
          <p:nvPr/>
        </p:nvGrpSpPr>
        <p:grpSpPr>
          <a:xfrm>
            <a:off x="9846564" y="4968223"/>
            <a:ext cx="2261616" cy="1804416"/>
            <a:chOff x="9846564" y="4968223"/>
            <a:chExt cx="2261616" cy="1804416"/>
          </a:xfrm>
        </p:grpSpPr>
        <p:pic>
          <p:nvPicPr>
            <p:cNvPr id="503" name="Google Shape;503;p2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846564" y="4968223"/>
              <a:ext cx="2261616" cy="1804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26"/>
            <p:cNvSpPr/>
            <p:nvPr/>
          </p:nvSpPr>
          <p:spPr>
            <a:xfrm>
              <a:off x="9939528" y="5062601"/>
              <a:ext cx="2011680" cy="1554480"/>
            </a:xfrm>
            <a:custGeom>
              <a:rect b="b" l="l" r="r" t="t"/>
              <a:pathLst>
                <a:path extrusionOk="0" h="1554479" w="2011679">
                  <a:moveTo>
                    <a:pt x="1892807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557"/>
                  </a:lnTo>
                  <a:lnTo>
                    <a:pt x="9340" y="1481830"/>
                  </a:lnTo>
                  <a:lnTo>
                    <a:pt x="34813" y="1519615"/>
                  </a:lnTo>
                  <a:lnTo>
                    <a:pt x="72598" y="1545088"/>
                  </a:lnTo>
                  <a:lnTo>
                    <a:pt x="118872" y="1554429"/>
                  </a:lnTo>
                  <a:lnTo>
                    <a:pt x="1892807" y="1554429"/>
                  </a:lnTo>
                  <a:lnTo>
                    <a:pt x="1939081" y="1545088"/>
                  </a:lnTo>
                  <a:lnTo>
                    <a:pt x="1976866" y="1519615"/>
                  </a:lnTo>
                  <a:lnTo>
                    <a:pt x="2002339" y="1481830"/>
                  </a:lnTo>
                  <a:lnTo>
                    <a:pt x="2011679" y="1435557"/>
                  </a:lnTo>
                  <a:lnTo>
                    <a:pt x="2011679" y="118872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7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5" name="Google Shape;505;p26"/>
          <p:cNvSpPr txBox="1"/>
          <p:nvPr/>
        </p:nvSpPr>
        <p:spPr>
          <a:xfrm>
            <a:off x="9899400" y="5324950"/>
            <a:ext cx="21009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444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Alunos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participantes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7"/>
          <p:cNvGrpSpPr/>
          <p:nvPr/>
        </p:nvGrpSpPr>
        <p:grpSpPr>
          <a:xfrm>
            <a:off x="19" y="0"/>
            <a:ext cx="12191980" cy="6857999"/>
            <a:chOff x="19" y="0"/>
            <a:chExt cx="12191980" cy="6857999"/>
          </a:xfrm>
        </p:grpSpPr>
        <p:pic>
          <p:nvPicPr>
            <p:cNvPr id="511" name="Google Shape;51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639169" y="179169"/>
              <a:ext cx="371195" cy="2992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" y="0"/>
              <a:ext cx="12191980" cy="6857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3" name="Google Shape;513;p27"/>
          <p:cNvSpPr txBox="1"/>
          <p:nvPr/>
        </p:nvSpPr>
        <p:spPr>
          <a:xfrm>
            <a:off x="307644" y="6317996"/>
            <a:ext cx="277431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Dados referente ao 1º trimestre.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7E8F4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9" name="Google Shape;519;p28"/>
          <p:cNvGrpSpPr/>
          <p:nvPr/>
        </p:nvGrpSpPr>
        <p:grpSpPr>
          <a:xfrm>
            <a:off x="6993635" y="0"/>
            <a:ext cx="5198491" cy="6858000"/>
            <a:chOff x="6993635" y="0"/>
            <a:chExt cx="5198491" cy="6858000"/>
          </a:xfrm>
        </p:grpSpPr>
        <p:pic>
          <p:nvPicPr>
            <p:cNvPr id="520" name="Google Shape;52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99595" y="110236"/>
              <a:ext cx="626744" cy="97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28"/>
            <p:cNvSpPr/>
            <p:nvPr/>
          </p:nvSpPr>
          <p:spPr>
            <a:xfrm>
              <a:off x="7362316" y="0"/>
              <a:ext cx="4829810" cy="6858000"/>
            </a:xfrm>
            <a:custGeom>
              <a:rect b="b" l="l" r="r" t="t"/>
              <a:pathLst>
                <a:path extrusionOk="0" h="6858000" w="4829809">
                  <a:moveTo>
                    <a:pt x="4829683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829683" y="6858000"/>
                  </a:lnTo>
                  <a:lnTo>
                    <a:pt x="4829683" y="0"/>
                  </a:lnTo>
                  <a:close/>
                </a:path>
              </a:pathLst>
            </a:custGeom>
            <a:solidFill>
              <a:srgbClr val="44601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22" name="Google Shape;522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645772" y="173445"/>
              <a:ext cx="371195" cy="299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874380" y="4605083"/>
              <a:ext cx="962634" cy="963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4" name="Google Shape;524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946643" y="4668354"/>
              <a:ext cx="687133" cy="7461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5" name="Google Shape;525;p2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091423" y="4993652"/>
              <a:ext cx="542417" cy="4434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p2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874380" y="3641585"/>
              <a:ext cx="962634" cy="963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p2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949564" y="3723347"/>
              <a:ext cx="801839" cy="7984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p2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119998" y="4031678"/>
              <a:ext cx="463537" cy="3038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2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295385" y="4282236"/>
              <a:ext cx="112374" cy="2395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2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865871" y="2678036"/>
              <a:ext cx="953909" cy="963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2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907654" y="2741117"/>
              <a:ext cx="786409" cy="795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2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837929" y="3645903"/>
              <a:ext cx="963561" cy="963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3" name="Google Shape;533;p2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928353" y="3729011"/>
              <a:ext cx="702843" cy="7942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4" name="Google Shape;534;p2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8837929" y="4609388"/>
              <a:ext cx="963561" cy="958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5" name="Google Shape;535;p2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881236" y="4672584"/>
              <a:ext cx="854354" cy="749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6" name="Google Shape;536;p2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801478" y="4605083"/>
              <a:ext cx="963561" cy="963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2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9841610" y="4689068"/>
              <a:ext cx="676071" cy="766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8" name="Google Shape;538;p2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10765154" y="4605083"/>
              <a:ext cx="967867" cy="963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9" name="Google Shape;539;p2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0805795" y="4687303"/>
              <a:ext cx="738289" cy="7936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0" name="Google Shape;540;p2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1007851" y="5080812"/>
              <a:ext cx="435571" cy="3678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1" name="Google Shape;541;p2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993635" y="542544"/>
              <a:ext cx="5198364" cy="21958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2" name="Google Shape;542;p28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631429" y="1180211"/>
              <a:ext cx="4480941" cy="9631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3" name="Google Shape;543;p28"/>
          <p:cNvSpPr txBox="1"/>
          <p:nvPr/>
        </p:nvSpPr>
        <p:spPr>
          <a:xfrm>
            <a:off x="314045" y="2559253"/>
            <a:ext cx="2510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EVENTOS 2026 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4" name="Google Shape;544;p28"/>
          <p:cNvGrpSpPr/>
          <p:nvPr/>
        </p:nvGrpSpPr>
        <p:grpSpPr>
          <a:xfrm>
            <a:off x="2378964" y="3174492"/>
            <a:ext cx="2261616" cy="1804416"/>
            <a:chOff x="2378964" y="3174492"/>
            <a:chExt cx="2261616" cy="1804416"/>
          </a:xfrm>
        </p:grpSpPr>
        <p:pic>
          <p:nvPicPr>
            <p:cNvPr id="545" name="Google Shape;545;p28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2378964" y="3174492"/>
              <a:ext cx="2261616" cy="1804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6" name="Google Shape;546;p28"/>
            <p:cNvSpPr/>
            <p:nvPr/>
          </p:nvSpPr>
          <p:spPr>
            <a:xfrm>
              <a:off x="2472944" y="3268091"/>
              <a:ext cx="2011680" cy="1554480"/>
            </a:xfrm>
            <a:custGeom>
              <a:rect b="b" l="l" r="r" t="t"/>
              <a:pathLst>
                <a:path extrusionOk="0" h="1554479" w="2011679">
                  <a:moveTo>
                    <a:pt x="1892808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608"/>
                  </a:lnTo>
                  <a:lnTo>
                    <a:pt x="9340" y="1481881"/>
                  </a:lnTo>
                  <a:lnTo>
                    <a:pt x="34813" y="1519666"/>
                  </a:lnTo>
                  <a:lnTo>
                    <a:pt x="72598" y="1545139"/>
                  </a:lnTo>
                  <a:lnTo>
                    <a:pt x="118872" y="1554480"/>
                  </a:lnTo>
                  <a:lnTo>
                    <a:pt x="1892808" y="1554480"/>
                  </a:lnTo>
                  <a:lnTo>
                    <a:pt x="1939081" y="1545139"/>
                  </a:lnTo>
                  <a:lnTo>
                    <a:pt x="1976866" y="1519666"/>
                  </a:lnTo>
                  <a:lnTo>
                    <a:pt x="2002339" y="1481881"/>
                  </a:lnTo>
                  <a:lnTo>
                    <a:pt x="2011680" y="1435608"/>
                  </a:lnTo>
                  <a:lnTo>
                    <a:pt x="2011680" y="118872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8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7" name="Google Shape;547;p28"/>
          <p:cNvSpPr txBox="1"/>
          <p:nvPr/>
        </p:nvSpPr>
        <p:spPr>
          <a:xfrm>
            <a:off x="2772282" y="3571419"/>
            <a:ext cx="1411605" cy="112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635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Oficinas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Pedagógicas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48" name="Google Shape;548;p28"/>
          <p:cNvGrpSpPr/>
          <p:nvPr/>
        </p:nvGrpSpPr>
        <p:grpSpPr>
          <a:xfrm>
            <a:off x="4617720" y="3189732"/>
            <a:ext cx="2261616" cy="1804416"/>
            <a:chOff x="4617720" y="3189732"/>
            <a:chExt cx="2261616" cy="1804416"/>
          </a:xfrm>
        </p:grpSpPr>
        <p:pic>
          <p:nvPicPr>
            <p:cNvPr id="549" name="Google Shape;549;p28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4617720" y="3189732"/>
              <a:ext cx="2261616" cy="1804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0" name="Google Shape;550;p28"/>
            <p:cNvSpPr/>
            <p:nvPr/>
          </p:nvSpPr>
          <p:spPr>
            <a:xfrm>
              <a:off x="4710684" y="3283839"/>
              <a:ext cx="2011680" cy="1554480"/>
            </a:xfrm>
            <a:custGeom>
              <a:rect b="b" l="l" r="r" t="t"/>
              <a:pathLst>
                <a:path extrusionOk="0" h="1554479" w="2011679">
                  <a:moveTo>
                    <a:pt x="1892808" y="0"/>
                  </a:moveTo>
                  <a:lnTo>
                    <a:pt x="118871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608"/>
                  </a:lnTo>
                  <a:lnTo>
                    <a:pt x="9340" y="1481881"/>
                  </a:lnTo>
                  <a:lnTo>
                    <a:pt x="34813" y="1519666"/>
                  </a:lnTo>
                  <a:lnTo>
                    <a:pt x="72598" y="1545139"/>
                  </a:lnTo>
                  <a:lnTo>
                    <a:pt x="118871" y="1554480"/>
                  </a:lnTo>
                  <a:lnTo>
                    <a:pt x="1892808" y="1554480"/>
                  </a:lnTo>
                  <a:lnTo>
                    <a:pt x="1939081" y="1545139"/>
                  </a:lnTo>
                  <a:lnTo>
                    <a:pt x="1976866" y="1519666"/>
                  </a:lnTo>
                  <a:lnTo>
                    <a:pt x="2002339" y="1481881"/>
                  </a:lnTo>
                  <a:lnTo>
                    <a:pt x="2011680" y="1435608"/>
                  </a:lnTo>
                  <a:lnTo>
                    <a:pt x="2011680" y="118872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8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1" name="Google Shape;551;p28"/>
          <p:cNvSpPr txBox="1"/>
          <p:nvPr/>
        </p:nvSpPr>
        <p:spPr>
          <a:xfrm>
            <a:off x="5165597" y="3586847"/>
            <a:ext cx="1102995" cy="112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170815" lvl="0" marL="12700" marR="5080" rtl="0" algn="l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Visitas Mediadas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52" name="Google Shape;552;p28"/>
          <p:cNvGrpSpPr/>
          <p:nvPr/>
        </p:nvGrpSpPr>
        <p:grpSpPr>
          <a:xfrm>
            <a:off x="141731" y="4968223"/>
            <a:ext cx="2261616" cy="1804416"/>
            <a:chOff x="141731" y="4968223"/>
            <a:chExt cx="2261616" cy="1804416"/>
          </a:xfrm>
        </p:grpSpPr>
        <p:pic>
          <p:nvPicPr>
            <p:cNvPr id="553" name="Google Shape;553;p28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41731" y="4968223"/>
              <a:ext cx="2261616" cy="1804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28"/>
            <p:cNvSpPr/>
            <p:nvPr/>
          </p:nvSpPr>
          <p:spPr>
            <a:xfrm>
              <a:off x="235216" y="5062601"/>
              <a:ext cx="2011680" cy="1554480"/>
            </a:xfrm>
            <a:custGeom>
              <a:rect b="b" l="l" r="r" t="t"/>
              <a:pathLst>
                <a:path extrusionOk="0" h="1554479" w="2011680">
                  <a:moveTo>
                    <a:pt x="1892795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557"/>
                  </a:lnTo>
                  <a:lnTo>
                    <a:pt x="9340" y="1481830"/>
                  </a:lnTo>
                  <a:lnTo>
                    <a:pt x="34813" y="1519615"/>
                  </a:lnTo>
                  <a:lnTo>
                    <a:pt x="72598" y="1545088"/>
                  </a:lnTo>
                  <a:lnTo>
                    <a:pt x="118872" y="1554429"/>
                  </a:lnTo>
                  <a:lnTo>
                    <a:pt x="1892795" y="1554429"/>
                  </a:lnTo>
                  <a:lnTo>
                    <a:pt x="1939068" y="1545088"/>
                  </a:lnTo>
                  <a:lnTo>
                    <a:pt x="1976853" y="1519615"/>
                  </a:lnTo>
                  <a:lnTo>
                    <a:pt x="2002326" y="1481830"/>
                  </a:lnTo>
                  <a:lnTo>
                    <a:pt x="2011667" y="1435557"/>
                  </a:lnTo>
                  <a:lnTo>
                    <a:pt x="2011667" y="118872"/>
                  </a:lnTo>
                  <a:lnTo>
                    <a:pt x="2002326" y="72598"/>
                  </a:lnTo>
                  <a:lnTo>
                    <a:pt x="1976853" y="34813"/>
                  </a:lnTo>
                  <a:lnTo>
                    <a:pt x="1939068" y="9340"/>
                  </a:lnTo>
                  <a:lnTo>
                    <a:pt x="1892795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5" name="Google Shape;555;p28"/>
          <p:cNvSpPr txBox="1"/>
          <p:nvPr/>
        </p:nvSpPr>
        <p:spPr>
          <a:xfrm>
            <a:off x="605739" y="5365939"/>
            <a:ext cx="1270000" cy="824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Seminários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56" name="Google Shape;556;p28"/>
          <p:cNvGrpSpPr/>
          <p:nvPr/>
        </p:nvGrpSpPr>
        <p:grpSpPr>
          <a:xfrm>
            <a:off x="141731" y="3169920"/>
            <a:ext cx="2261616" cy="1804415"/>
            <a:chOff x="141731" y="3169920"/>
            <a:chExt cx="2261616" cy="1804415"/>
          </a:xfrm>
        </p:grpSpPr>
        <p:pic>
          <p:nvPicPr>
            <p:cNvPr id="557" name="Google Shape;557;p28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141731" y="3169920"/>
              <a:ext cx="2261616" cy="1804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p28"/>
            <p:cNvSpPr/>
            <p:nvPr/>
          </p:nvSpPr>
          <p:spPr>
            <a:xfrm>
              <a:off x="235216" y="3263900"/>
              <a:ext cx="2011680" cy="1554480"/>
            </a:xfrm>
            <a:custGeom>
              <a:rect b="b" l="l" r="r" t="t"/>
              <a:pathLst>
                <a:path extrusionOk="0" h="1554479" w="2011680">
                  <a:moveTo>
                    <a:pt x="1892795" y="0"/>
                  </a:moveTo>
                  <a:lnTo>
                    <a:pt x="118872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608"/>
                  </a:lnTo>
                  <a:lnTo>
                    <a:pt x="9340" y="1481881"/>
                  </a:lnTo>
                  <a:lnTo>
                    <a:pt x="34813" y="1519666"/>
                  </a:lnTo>
                  <a:lnTo>
                    <a:pt x="72598" y="1545139"/>
                  </a:lnTo>
                  <a:lnTo>
                    <a:pt x="118872" y="1554480"/>
                  </a:lnTo>
                  <a:lnTo>
                    <a:pt x="1892795" y="1554480"/>
                  </a:lnTo>
                  <a:lnTo>
                    <a:pt x="1939068" y="1545139"/>
                  </a:lnTo>
                  <a:lnTo>
                    <a:pt x="1976853" y="1519666"/>
                  </a:lnTo>
                  <a:lnTo>
                    <a:pt x="2002326" y="1481881"/>
                  </a:lnTo>
                  <a:lnTo>
                    <a:pt x="2011667" y="1435608"/>
                  </a:lnTo>
                  <a:lnTo>
                    <a:pt x="2011667" y="118872"/>
                  </a:lnTo>
                  <a:lnTo>
                    <a:pt x="2002326" y="72598"/>
                  </a:lnTo>
                  <a:lnTo>
                    <a:pt x="1976853" y="34813"/>
                  </a:lnTo>
                  <a:lnTo>
                    <a:pt x="1939068" y="9340"/>
                  </a:lnTo>
                  <a:lnTo>
                    <a:pt x="1892795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9" name="Google Shape;559;p28"/>
          <p:cNvSpPr txBox="1"/>
          <p:nvPr/>
        </p:nvSpPr>
        <p:spPr>
          <a:xfrm>
            <a:off x="726135" y="3565896"/>
            <a:ext cx="1029335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635" lvl="0" marL="12700" marR="5080" rtl="0" algn="ctr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Shows Culturais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60" name="Google Shape;560;p28"/>
          <p:cNvGrpSpPr/>
          <p:nvPr/>
        </p:nvGrpSpPr>
        <p:grpSpPr>
          <a:xfrm>
            <a:off x="2333244" y="4968223"/>
            <a:ext cx="2261616" cy="1804416"/>
            <a:chOff x="2333244" y="4968223"/>
            <a:chExt cx="2261616" cy="1804416"/>
          </a:xfrm>
        </p:grpSpPr>
        <p:pic>
          <p:nvPicPr>
            <p:cNvPr id="561" name="Google Shape;561;p28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2333244" y="4968223"/>
              <a:ext cx="2261616" cy="1804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28"/>
            <p:cNvSpPr/>
            <p:nvPr/>
          </p:nvSpPr>
          <p:spPr>
            <a:xfrm>
              <a:off x="2427097" y="5062601"/>
              <a:ext cx="2011680" cy="1554480"/>
            </a:xfrm>
            <a:custGeom>
              <a:rect b="b" l="l" r="r" t="t"/>
              <a:pathLst>
                <a:path extrusionOk="0" h="1554479" w="2011679">
                  <a:moveTo>
                    <a:pt x="1892807" y="0"/>
                  </a:moveTo>
                  <a:lnTo>
                    <a:pt x="118871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557"/>
                  </a:lnTo>
                  <a:lnTo>
                    <a:pt x="9340" y="1481830"/>
                  </a:lnTo>
                  <a:lnTo>
                    <a:pt x="34813" y="1519615"/>
                  </a:lnTo>
                  <a:lnTo>
                    <a:pt x="72598" y="1545088"/>
                  </a:lnTo>
                  <a:lnTo>
                    <a:pt x="118871" y="1554429"/>
                  </a:lnTo>
                  <a:lnTo>
                    <a:pt x="1892807" y="1554429"/>
                  </a:lnTo>
                  <a:lnTo>
                    <a:pt x="1939081" y="1545088"/>
                  </a:lnTo>
                  <a:lnTo>
                    <a:pt x="1976866" y="1519615"/>
                  </a:lnTo>
                  <a:lnTo>
                    <a:pt x="2002339" y="1481830"/>
                  </a:lnTo>
                  <a:lnTo>
                    <a:pt x="2011679" y="1435557"/>
                  </a:lnTo>
                  <a:lnTo>
                    <a:pt x="2011679" y="118872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7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3" name="Google Shape;563;p28"/>
          <p:cNvSpPr txBox="1"/>
          <p:nvPr/>
        </p:nvSpPr>
        <p:spPr>
          <a:xfrm>
            <a:off x="2837433" y="5365939"/>
            <a:ext cx="1189990" cy="112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635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Rodas de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Conversas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64" name="Google Shape;564;p28"/>
          <p:cNvGrpSpPr/>
          <p:nvPr/>
        </p:nvGrpSpPr>
        <p:grpSpPr>
          <a:xfrm>
            <a:off x="4610100" y="4968223"/>
            <a:ext cx="2261616" cy="1804416"/>
            <a:chOff x="4610100" y="4968223"/>
            <a:chExt cx="2261616" cy="1804416"/>
          </a:xfrm>
        </p:grpSpPr>
        <p:pic>
          <p:nvPicPr>
            <p:cNvPr id="565" name="Google Shape;565;p28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4610100" y="4968223"/>
              <a:ext cx="2261616" cy="1804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28"/>
            <p:cNvSpPr/>
            <p:nvPr/>
          </p:nvSpPr>
          <p:spPr>
            <a:xfrm>
              <a:off x="4703444" y="5062601"/>
              <a:ext cx="2011680" cy="1554480"/>
            </a:xfrm>
            <a:custGeom>
              <a:rect b="b" l="l" r="r" t="t"/>
              <a:pathLst>
                <a:path extrusionOk="0" h="1554479" w="2011679">
                  <a:moveTo>
                    <a:pt x="1892807" y="0"/>
                  </a:moveTo>
                  <a:lnTo>
                    <a:pt x="118871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557"/>
                  </a:lnTo>
                  <a:lnTo>
                    <a:pt x="9340" y="1481830"/>
                  </a:lnTo>
                  <a:lnTo>
                    <a:pt x="34813" y="1519615"/>
                  </a:lnTo>
                  <a:lnTo>
                    <a:pt x="72598" y="1545088"/>
                  </a:lnTo>
                  <a:lnTo>
                    <a:pt x="118871" y="1554429"/>
                  </a:lnTo>
                  <a:lnTo>
                    <a:pt x="1892807" y="1554429"/>
                  </a:lnTo>
                  <a:lnTo>
                    <a:pt x="1939081" y="1545088"/>
                  </a:lnTo>
                  <a:lnTo>
                    <a:pt x="1976866" y="1519615"/>
                  </a:lnTo>
                  <a:lnTo>
                    <a:pt x="2002339" y="1481830"/>
                  </a:lnTo>
                  <a:lnTo>
                    <a:pt x="2011679" y="1435557"/>
                  </a:lnTo>
                  <a:lnTo>
                    <a:pt x="2011679" y="118872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7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7" name="Google Shape;567;p28"/>
          <p:cNvSpPr txBox="1"/>
          <p:nvPr/>
        </p:nvSpPr>
        <p:spPr>
          <a:xfrm>
            <a:off x="5068315" y="5365939"/>
            <a:ext cx="1283335" cy="112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Aberturas e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Visitações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8" name="Google Shape;568;p28"/>
          <p:cNvSpPr txBox="1"/>
          <p:nvPr/>
        </p:nvSpPr>
        <p:spPr>
          <a:xfrm>
            <a:off x="8289163" y="1340307"/>
            <a:ext cx="3531870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Atuação do Centro Cultural contribui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6428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diretamente para o Objetivo Estratégico 1 do Planejamento Estratégico do Banco.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9" name="Google Shape;569;p28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7705343" y="1407858"/>
            <a:ext cx="439229" cy="526986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570" name="Google Shape;570;p28"/>
          <p:cNvSpPr txBox="1"/>
          <p:nvPr>
            <p:ph type="title"/>
          </p:nvPr>
        </p:nvSpPr>
        <p:spPr>
          <a:xfrm>
            <a:off x="306730" y="198882"/>
            <a:ext cx="2653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E02C"/>
                </a:solidFill>
              </a:rPr>
              <a:t>CCBA NA MÍDIA</a:t>
            </a:r>
            <a:endParaRPr/>
          </a:p>
        </p:txBody>
      </p:sp>
      <p:grpSp>
        <p:nvGrpSpPr>
          <p:cNvPr id="571" name="Google Shape;571;p28"/>
          <p:cNvGrpSpPr/>
          <p:nvPr/>
        </p:nvGrpSpPr>
        <p:grpSpPr>
          <a:xfrm>
            <a:off x="2371344" y="813816"/>
            <a:ext cx="2261616" cy="1804415"/>
            <a:chOff x="2371344" y="813816"/>
            <a:chExt cx="2261616" cy="1804415"/>
          </a:xfrm>
        </p:grpSpPr>
        <p:pic>
          <p:nvPicPr>
            <p:cNvPr id="572" name="Google Shape;572;p28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2371344" y="813816"/>
              <a:ext cx="2261616" cy="1804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" name="Google Shape;573;p28"/>
            <p:cNvSpPr/>
            <p:nvPr/>
          </p:nvSpPr>
          <p:spPr>
            <a:xfrm>
              <a:off x="2465705" y="907796"/>
              <a:ext cx="2011680" cy="1554480"/>
            </a:xfrm>
            <a:custGeom>
              <a:rect b="b" l="l" r="r" t="t"/>
              <a:pathLst>
                <a:path extrusionOk="0" h="1554480" w="2011679">
                  <a:moveTo>
                    <a:pt x="1892808" y="0"/>
                  </a:moveTo>
                  <a:lnTo>
                    <a:pt x="118871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1"/>
                  </a:lnTo>
                  <a:lnTo>
                    <a:pt x="0" y="1435607"/>
                  </a:lnTo>
                  <a:lnTo>
                    <a:pt x="9340" y="1481881"/>
                  </a:lnTo>
                  <a:lnTo>
                    <a:pt x="34813" y="1519666"/>
                  </a:lnTo>
                  <a:lnTo>
                    <a:pt x="72598" y="1545139"/>
                  </a:lnTo>
                  <a:lnTo>
                    <a:pt x="118871" y="1554479"/>
                  </a:lnTo>
                  <a:lnTo>
                    <a:pt x="1892808" y="1554479"/>
                  </a:lnTo>
                  <a:lnTo>
                    <a:pt x="1939081" y="1545139"/>
                  </a:lnTo>
                  <a:lnTo>
                    <a:pt x="1976866" y="1519666"/>
                  </a:lnTo>
                  <a:lnTo>
                    <a:pt x="2002339" y="1481881"/>
                  </a:lnTo>
                  <a:lnTo>
                    <a:pt x="2011680" y="1435607"/>
                  </a:lnTo>
                  <a:lnTo>
                    <a:pt x="2011680" y="118871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8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4" name="Google Shape;574;p28"/>
          <p:cNvSpPr txBox="1"/>
          <p:nvPr/>
        </p:nvSpPr>
        <p:spPr>
          <a:xfrm>
            <a:off x="2819780" y="1210296"/>
            <a:ext cx="1303020" cy="824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1441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~1.72Bi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Impressões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75" name="Google Shape;575;p28"/>
          <p:cNvGrpSpPr/>
          <p:nvPr/>
        </p:nvGrpSpPr>
        <p:grpSpPr>
          <a:xfrm>
            <a:off x="4610100" y="830580"/>
            <a:ext cx="2261616" cy="1804416"/>
            <a:chOff x="4610100" y="830580"/>
            <a:chExt cx="2261616" cy="1804416"/>
          </a:xfrm>
        </p:grpSpPr>
        <p:pic>
          <p:nvPicPr>
            <p:cNvPr id="576" name="Google Shape;576;p28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4610100" y="830580"/>
              <a:ext cx="2261616" cy="1804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28"/>
            <p:cNvSpPr/>
            <p:nvPr/>
          </p:nvSpPr>
          <p:spPr>
            <a:xfrm>
              <a:off x="4703444" y="923417"/>
              <a:ext cx="2011680" cy="1554480"/>
            </a:xfrm>
            <a:custGeom>
              <a:rect b="b" l="l" r="r" t="t"/>
              <a:pathLst>
                <a:path extrusionOk="0" h="1554480" w="2011679">
                  <a:moveTo>
                    <a:pt x="1892807" y="0"/>
                  </a:moveTo>
                  <a:lnTo>
                    <a:pt x="118871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608"/>
                  </a:lnTo>
                  <a:lnTo>
                    <a:pt x="9340" y="1481881"/>
                  </a:lnTo>
                  <a:lnTo>
                    <a:pt x="34813" y="1519666"/>
                  </a:lnTo>
                  <a:lnTo>
                    <a:pt x="72598" y="1545139"/>
                  </a:lnTo>
                  <a:lnTo>
                    <a:pt x="118871" y="1554480"/>
                  </a:lnTo>
                  <a:lnTo>
                    <a:pt x="1892807" y="1554480"/>
                  </a:lnTo>
                  <a:lnTo>
                    <a:pt x="1939081" y="1545139"/>
                  </a:lnTo>
                  <a:lnTo>
                    <a:pt x="1976866" y="1519666"/>
                  </a:lnTo>
                  <a:lnTo>
                    <a:pt x="2002339" y="1481881"/>
                  </a:lnTo>
                  <a:lnTo>
                    <a:pt x="2011679" y="1435608"/>
                  </a:lnTo>
                  <a:lnTo>
                    <a:pt x="2011679" y="118872"/>
                  </a:lnTo>
                  <a:lnTo>
                    <a:pt x="2002339" y="72598"/>
                  </a:lnTo>
                  <a:lnTo>
                    <a:pt x="1976866" y="34813"/>
                  </a:lnTo>
                  <a:lnTo>
                    <a:pt x="1939081" y="9340"/>
                  </a:lnTo>
                  <a:lnTo>
                    <a:pt x="1892807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8" name="Google Shape;578;p28"/>
          <p:cNvSpPr txBox="1"/>
          <p:nvPr/>
        </p:nvSpPr>
        <p:spPr>
          <a:xfrm>
            <a:off x="4880864" y="1226238"/>
            <a:ext cx="1656714" cy="823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1308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~R$ 5,8 Mi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Valor Midiático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79" name="Google Shape;579;p28"/>
          <p:cNvGrpSpPr/>
          <p:nvPr/>
        </p:nvGrpSpPr>
        <p:grpSpPr>
          <a:xfrm>
            <a:off x="134112" y="809244"/>
            <a:ext cx="2261616" cy="1804415"/>
            <a:chOff x="134112" y="809244"/>
            <a:chExt cx="2261616" cy="1804415"/>
          </a:xfrm>
        </p:grpSpPr>
        <p:pic>
          <p:nvPicPr>
            <p:cNvPr id="580" name="Google Shape;580;p28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34112" y="809244"/>
              <a:ext cx="2261616" cy="1804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28"/>
            <p:cNvSpPr/>
            <p:nvPr/>
          </p:nvSpPr>
          <p:spPr>
            <a:xfrm>
              <a:off x="227952" y="903478"/>
              <a:ext cx="2012314" cy="1554480"/>
            </a:xfrm>
            <a:custGeom>
              <a:rect b="b" l="l" r="r" t="t"/>
              <a:pathLst>
                <a:path extrusionOk="0" h="1554480" w="2012314">
                  <a:moveTo>
                    <a:pt x="1892820" y="0"/>
                  </a:moveTo>
                  <a:lnTo>
                    <a:pt x="118859" y="0"/>
                  </a:lnTo>
                  <a:lnTo>
                    <a:pt x="72593" y="9340"/>
                  </a:lnTo>
                  <a:lnTo>
                    <a:pt x="34812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1435608"/>
                  </a:lnTo>
                  <a:lnTo>
                    <a:pt x="9340" y="1481881"/>
                  </a:lnTo>
                  <a:lnTo>
                    <a:pt x="34812" y="1519666"/>
                  </a:lnTo>
                  <a:lnTo>
                    <a:pt x="72593" y="1545139"/>
                  </a:lnTo>
                  <a:lnTo>
                    <a:pt x="118859" y="1554480"/>
                  </a:lnTo>
                  <a:lnTo>
                    <a:pt x="1892820" y="1554480"/>
                  </a:lnTo>
                  <a:lnTo>
                    <a:pt x="1939094" y="1545139"/>
                  </a:lnTo>
                  <a:lnTo>
                    <a:pt x="1976878" y="1519666"/>
                  </a:lnTo>
                  <a:lnTo>
                    <a:pt x="2002352" y="1481881"/>
                  </a:lnTo>
                  <a:lnTo>
                    <a:pt x="2011692" y="1435608"/>
                  </a:lnTo>
                  <a:lnTo>
                    <a:pt x="2011692" y="118872"/>
                  </a:lnTo>
                  <a:lnTo>
                    <a:pt x="2002352" y="72598"/>
                  </a:lnTo>
                  <a:lnTo>
                    <a:pt x="1976878" y="34813"/>
                  </a:lnTo>
                  <a:lnTo>
                    <a:pt x="1939094" y="9340"/>
                  </a:lnTo>
                  <a:lnTo>
                    <a:pt x="1892820" y="0"/>
                  </a:lnTo>
                  <a:close/>
                </a:path>
              </a:pathLst>
            </a:custGeom>
            <a:solidFill>
              <a:srgbClr val="002D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2" name="Google Shape;582;p28"/>
          <p:cNvSpPr txBox="1"/>
          <p:nvPr/>
        </p:nvSpPr>
        <p:spPr>
          <a:xfrm>
            <a:off x="546608" y="1205978"/>
            <a:ext cx="1374775" cy="824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1G0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Publicações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7E8F4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8" name="Google Shape;588;p29"/>
          <p:cNvGrpSpPr/>
          <p:nvPr/>
        </p:nvGrpSpPr>
        <p:grpSpPr>
          <a:xfrm>
            <a:off x="11499595" y="110236"/>
            <a:ext cx="626744" cy="362488"/>
            <a:chOff x="11499595" y="110236"/>
            <a:chExt cx="626744" cy="362488"/>
          </a:xfrm>
        </p:grpSpPr>
        <p:pic>
          <p:nvPicPr>
            <p:cNvPr id="589" name="Google Shape;58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99595" y="110236"/>
              <a:ext cx="626744" cy="97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650355" y="173445"/>
              <a:ext cx="366612" cy="2992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$PPTXTitle" id="591" name="Google Shape;591;p29"/>
          <p:cNvSpPr txBox="1"/>
          <p:nvPr>
            <p:ph type="title"/>
          </p:nvPr>
        </p:nvSpPr>
        <p:spPr>
          <a:xfrm>
            <a:off x="785876" y="1314145"/>
            <a:ext cx="9839960" cy="1671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5F0E2"/>
                </a:solidFill>
                <a:latin typeface="Arial"/>
                <a:ea typeface="Arial"/>
                <a:cs typeface="Arial"/>
                <a:sym typeface="Arial"/>
              </a:rPr>
              <a:t>É a comunicação como instrumento</a:t>
            </a:r>
            <a:endParaRPr sz="4500">
              <a:latin typeface="Arial"/>
              <a:ea typeface="Arial"/>
              <a:cs typeface="Arial"/>
              <a:sym typeface="Arial"/>
            </a:endParaRPr>
          </a:p>
          <a:p>
            <a:pPr indent="0" lvl="0" marL="231775" marR="226060" rtl="0" algn="ctr">
              <a:lnSpc>
                <a:spcPct val="7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5F0E2"/>
                </a:solidFill>
                <a:latin typeface="Arial"/>
                <a:ea typeface="Arial"/>
                <a:cs typeface="Arial"/>
                <a:sym typeface="Arial"/>
              </a:rPr>
              <a:t>estratégico de negócio e presença institucional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9"/>
          <p:cNvSpPr txBox="1"/>
          <p:nvPr/>
        </p:nvSpPr>
        <p:spPr>
          <a:xfrm>
            <a:off x="487172" y="3507994"/>
            <a:ext cx="10434955" cy="2400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ctr">
              <a:lnSpc>
                <a:spcPct val="101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100">
                <a:solidFill>
                  <a:srgbClr val="F5F0E2"/>
                </a:solidFill>
                <a:latin typeface="Arial"/>
                <a:ea typeface="Arial"/>
                <a:cs typeface="Arial"/>
                <a:sym typeface="Arial"/>
              </a:rPr>
              <a:t>Em um ambiente regulatório e semestre/ano</a:t>
            </a: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4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100">
                <a:solidFill>
                  <a:srgbClr val="F5F0E2"/>
                </a:solidFill>
                <a:latin typeface="Arial"/>
                <a:ea typeface="Arial"/>
                <a:cs typeface="Arial"/>
                <a:sym typeface="Arial"/>
              </a:rPr>
              <a:t>complexos, o Banco da Amazônia manteve</a:t>
            </a: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4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100">
                <a:solidFill>
                  <a:srgbClr val="F5F0E2"/>
                </a:solidFill>
                <a:latin typeface="Arial"/>
                <a:ea typeface="Arial"/>
                <a:cs typeface="Arial"/>
                <a:sym typeface="Arial"/>
              </a:rPr>
              <a:t>presença e conexão regional com</a:t>
            </a:r>
            <a:endParaRPr sz="41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ctr">
              <a:lnSpc>
                <a:spcPct val="7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i="1" lang="en-US" sz="4100">
                <a:solidFill>
                  <a:srgbClr val="F5F0E2"/>
                </a:solidFill>
                <a:latin typeface="Arial"/>
                <a:ea typeface="Arial"/>
                <a:cs typeface="Arial"/>
                <a:sym typeface="Arial"/>
              </a:rPr>
              <a:t>responsabilidade institucional, inteligência de mídia e foco mercadológico.</a:t>
            </a:r>
            <a:endParaRPr sz="4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E0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8" name="Google Shape;5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9595" y="110236"/>
            <a:ext cx="626744" cy="97028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599" name="Google Shape;599;p30"/>
          <p:cNvSpPr txBox="1"/>
          <p:nvPr>
            <p:ph type="title"/>
          </p:nvPr>
        </p:nvSpPr>
        <p:spPr>
          <a:xfrm>
            <a:off x="3388233" y="517905"/>
            <a:ext cx="535622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83919" lvl="0" marL="8959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comunicação do Banco da Amazônia apoiou simultaneamente:</a:t>
            </a:r>
            <a:endParaRPr/>
          </a:p>
        </p:txBody>
      </p:sp>
      <p:sp>
        <p:nvSpPr>
          <p:cNvPr id="600" name="Google Shape;600;p30"/>
          <p:cNvSpPr/>
          <p:nvPr/>
        </p:nvSpPr>
        <p:spPr>
          <a:xfrm>
            <a:off x="1097280" y="1687322"/>
            <a:ext cx="9940925" cy="767715"/>
          </a:xfrm>
          <a:custGeom>
            <a:rect b="b" l="l" r="r" t="t"/>
            <a:pathLst>
              <a:path extrusionOk="0" h="767714" w="9940925">
                <a:moveTo>
                  <a:pt x="9822688" y="0"/>
                </a:moveTo>
                <a:lnTo>
                  <a:pt x="118109" y="0"/>
                </a:lnTo>
                <a:lnTo>
                  <a:pt x="72137" y="9274"/>
                </a:lnTo>
                <a:lnTo>
                  <a:pt x="34594" y="34575"/>
                </a:lnTo>
                <a:lnTo>
                  <a:pt x="9282" y="72116"/>
                </a:lnTo>
                <a:lnTo>
                  <a:pt x="0" y="118110"/>
                </a:lnTo>
                <a:lnTo>
                  <a:pt x="0" y="649477"/>
                </a:lnTo>
                <a:lnTo>
                  <a:pt x="9282" y="695471"/>
                </a:lnTo>
                <a:lnTo>
                  <a:pt x="34594" y="733012"/>
                </a:lnTo>
                <a:lnTo>
                  <a:pt x="72137" y="758313"/>
                </a:lnTo>
                <a:lnTo>
                  <a:pt x="118109" y="767588"/>
                </a:lnTo>
                <a:lnTo>
                  <a:pt x="9822688" y="767588"/>
                </a:lnTo>
                <a:lnTo>
                  <a:pt x="9868681" y="758313"/>
                </a:lnTo>
                <a:lnTo>
                  <a:pt x="9906222" y="733012"/>
                </a:lnTo>
                <a:lnTo>
                  <a:pt x="9931523" y="695471"/>
                </a:lnTo>
                <a:lnTo>
                  <a:pt x="9940798" y="649477"/>
                </a:lnTo>
                <a:lnTo>
                  <a:pt x="9940798" y="118110"/>
                </a:lnTo>
                <a:lnTo>
                  <a:pt x="9931523" y="72116"/>
                </a:lnTo>
                <a:lnTo>
                  <a:pt x="9906222" y="34575"/>
                </a:lnTo>
                <a:lnTo>
                  <a:pt x="9868681" y="9274"/>
                </a:lnTo>
                <a:lnTo>
                  <a:pt x="9822688" y="0"/>
                </a:lnTo>
                <a:close/>
              </a:path>
            </a:pathLst>
          </a:custGeom>
          <a:solidFill>
            <a:srgbClr val="001E13">
              <a:alpha val="8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0"/>
          <p:cNvSpPr txBox="1"/>
          <p:nvPr/>
        </p:nvSpPr>
        <p:spPr>
          <a:xfrm>
            <a:off x="1307073" y="1903600"/>
            <a:ext cx="2175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718820" lvl="0" marL="7315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02C"/>
              </a:buClr>
              <a:buSzPts val="1800"/>
              <a:buFont typeface="Arial"/>
              <a:buChar char="✓"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Negócios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0"/>
          <p:cNvSpPr txBox="1"/>
          <p:nvPr/>
        </p:nvSpPr>
        <p:spPr>
          <a:xfrm>
            <a:off x="5623940" y="1903603"/>
            <a:ext cx="43802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39 mil leads · R$1,8Bi em negócios em feiras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1097280" y="2573020"/>
            <a:ext cx="9940925" cy="767715"/>
          </a:xfrm>
          <a:custGeom>
            <a:rect b="b" l="l" r="r" t="t"/>
            <a:pathLst>
              <a:path extrusionOk="0" h="767714" w="9940925">
                <a:moveTo>
                  <a:pt x="9822688" y="0"/>
                </a:moveTo>
                <a:lnTo>
                  <a:pt x="118109" y="0"/>
                </a:lnTo>
                <a:lnTo>
                  <a:pt x="72137" y="9292"/>
                </a:lnTo>
                <a:lnTo>
                  <a:pt x="34594" y="34623"/>
                </a:lnTo>
                <a:lnTo>
                  <a:pt x="9282" y="72169"/>
                </a:lnTo>
                <a:lnTo>
                  <a:pt x="0" y="118109"/>
                </a:lnTo>
                <a:lnTo>
                  <a:pt x="0" y="649604"/>
                </a:lnTo>
                <a:lnTo>
                  <a:pt x="9282" y="695598"/>
                </a:lnTo>
                <a:lnTo>
                  <a:pt x="34594" y="733139"/>
                </a:lnTo>
                <a:lnTo>
                  <a:pt x="72137" y="758440"/>
                </a:lnTo>
                <a:lnTo>
                  <a:pt x="118109" y="767714"/>
                </a:lnTo>
                <a:lnTo>
                  <a:pt x="9822688" y="767714"/>
                </a:lnTo>
                <a:lnTo>
                  <a:pt x="9868681" y="758440"/>
                </a:lnTo>
                <a:lnTo>
                  <a:pt x="9906222" y="733139"/>
                </a:lnTo>
                <a:lnTo>
                  <a:pt x="9931523" y="695598"/>
                </a:lnTo>
                <a:lnTo>
                  <a:pt x="9940798" y="649604"/>
                </a:lnTo>
                <a:lnTo>
                  <a:pt x="9940798" y="118109"/>
                </a:lnTo>
                <a:lnTo>
                  <a:pt x="9931523" y="72169"/>
                </a:lnTo>
                <a:lnTo>
                  <a:pt x="9906222" y="34623"/>
                </a:lnTo>
                <a:lnTo>
                  <a:pt x="9868681" y="9292"/>
                </a:lnTo>
                <a:lnTo>
                  <a:pt x="9822688" y="0"/>
                </a:lnTo>
                <a:close/>
              </a:path>
            </a:pathLst>
          </a:custGeom>
          <a:solidFill>
            <a:srgbClr val="001E13">
              <a:alpha val="8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0"/>
          <p:cNvSpPr txBox="1"/>
          <p:nvPr/>
        </p:nvSpPr>
        <p:spPr>
          <a:xfrm>
            <a:off x="1307083" y="2788996"/>
            <a:ext cx="379476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718820" lvl="0" marL="7315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02C"/>
              </a:buClr>
              <a:buSzPts val="1800"/>
              <a:buFont typeface="Arial"/>
              <a:buChar char="✓"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Posicionamento Institucional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0"/>
          <p:cNvSpPr txBox="1"/>
          <p:nvPr/>
        </p:nvSpPr>
        <p:spPr>
          <a:xfrm>
            <a:off x="5623940" y="2788996"/>
            <a:ext cx="386524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R$8,5M em valor midiático espontâneo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6" name="Google Shape;606;p30"/>
          <p:cNvSpPr/>
          <p:nvPr/>
        </p:nvSpPr>
        <p:spPr>
          <a:xfrm>
            <a:off x="1097280" y="3458845"/>
            <a:ext cx="9940925" cy="767715"/>
          </a:xfrm>
          <a:custGeom>
            <a:rect b="b" l="l" r="r" t="t"/>
            <a:pathLst>
              <a:path extrusionOk="0" h="767714" w="9940925">
                <a:moveTo>
                  <a:pt x="9822688" y="0"/>
                </a:moveTo>
                <a:lnTo>
                  <a:pt x="118109" y="0"/>
                </a:lnTo>
                <a:lnTo>
                  <a:pt x="72137" y="9274"/>
                </a:lnTo>
                <a:lnTo>
                  <a:pt x="34594" y="34575"/>
                </a:lnTo>
                <a:lnTo>
                  <a:pt x="9282" y="72116"/>
                </a:lnTo>
                <a:lnTo>
                  <a:pt x="0" y="118109"/>
                </a:lnTo>
                <a:lnTo>
                  <a:pt x="0" y="649477"/>
                </a:lnTo>
                <a:lnTo>
                  <a:pt x="9282" y="695471"/>
                </a:lnTo>
                <a:lnTo>
                  <a:pt x="34594" y="733012"/>
                </a:lnTo>
                <a:lnTo>
                  <a:pt x="72137" y="758313"/>
                </a:lnTo>
                <a:lnTo>
                  <a:pt x="118109" y="767587"/>
                </a:lnTo>
                <a:lnTo>
                  <a:pt x="9822688" y="767587"/>
                </a:lnTo>
                <a:lnTo>
                  <a:pt x="9868681" y="758313"/>
                </a:lnTo>
                <a:lnTo>
                  <a:pt x="9906222" y="733012"/>
                </a:lnTo>
                <a:lnTo>
                  <a:pt x="9931523" y="695471"/>
                </a:lnTo>
                <a:lnTo>
                  <a:pt x="9940798" y="649477"/>
                </a:lnTo>
                <a:lnTo>
                  <a:pt x="9940798" y="118109"/>
                </a:lnTo>
                <a:lnTo>
                  <a:pt x="9931523" y="72116"/>
                </a:lnTo>
                <a:lnTo>
                  <a:pt x="9906222" y="34575"/>
                </a:lnTo>
                <a:lnTo>
                  <a:pt x="9868681" y="9274"/>
                </a:lnTo>
                <a:lnTo>
                  <a:pt x="9822688" y="0"/>
                </a:lnTo>
                <a:close/>
              </a:path>
            </a:pathLst>
          </a:custGeom>
          <a:solidFill>
            <a:srgbClr val="001E13">
              <a:alpha val="8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0"/>
          <p:cNvSpPr txBox="1"/>
          <p:nvPr/>
        </p:nvSpPr>
        <p:spPr>
          <a:xfrm>
            <a:off x="1307071" y="3675375"/>
            <a:ext cx="2175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718820" lvl="0" marL="7315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02C"/>
              </a:buClr>
              <a:buSzPts val="1800"/>
              <a:buFont typeface="Arial"/>
              <a:buChar char="✓"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Cultura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0"/>
          <p:cNvSpPr txBox="1"/>
          <p:nvPr/>
        </p:nvSpPr>
        <p:spPr>
          <a:xfrm>
            <a:off x="5623940" y="3675379"/>
            <a:ext cx="37846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15 Mi visualizações no Centro Cultural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9" name="Google Shape;609;p30"/>
          <p:cNvSpPr/>
          <p:nvPr/>
        </p:nvSpPr>
        <p:spPr>
          <a:xfrm>
            <a:off x="1097280" y="4344542"/>
            <a:ext cx="9940925" cy="767715"/>
          </a:xfrm>
          <a:custGeom>
            <a:rect b="b" l="l" r="r" t="t"/>
            <a:pathLst>
              <a:path extrusionOk="0" h="767714" w="9940925">
                <a:moveTo>
                  <a:pt x="9822688" y="0"/>
                </a:moveTo>
                <a:lnTo>
                  <a:pt x="118109" y="0"/>
                </a:lnTo>
                <a:lnTo>
                  <a:pt x="72137" y="9292"/>
                </a:lnTo>
                <a:lnTo>
                  <a:pt x="34594" y="34623"/>
                </a:lnTo>
                <a:lnTo>
                  <a:pt x="9282" y="72169"/>
                </a:lnTo>
                <a:lnTo>
                  <a:pt x="0" y="118109"/>
                </a:lnTo>
                <a:lnTo>
                  <a:pt x="0" y="649604"/>
                </a:lnTo>
                <a:lnTo>
                  <a:pt x="9282" y="695598"/>
                </a:lnTo>
                <a:lnTo>
                  <a:pt x="34594" y="733139"/>
                </a:lnTo>
                <a:lnTo>
                  <a:pt x="72137" y="758440"/>
                </a:lnTo>
                <a:lnTo>
                  <a:pt x="118109" y="767714"/>
                </a:lnTo>
                <a:lnTo>
                  <a:pt x="9822688" y="767714"/>
                </a:lnTo>
                <a:lnTo>
                  <a:pt x="9868681" y="758440"/>
                </a:lnTo>
                <a:lnTo>
                  <a:pt x="9906222" y="733139"/>
                </a:lnTo>
                <a:lnTo>
                  <a:pt x="9931523" y="695598"/>
                </a:lnTo>
                <a:lnTo>
                  <a:pt x="9940798" y="649604"/>
                </a:lnTo>
                <a:lnTo>
                  <a:pt x="9940798" y="118109"/>
                </a:lnTo>
                <a:lnTo>
                  <a:pt x="9931523" y="72169"/>
                </a:lnTo>
                <a:lnTo>
                  <a:pt x="9906222" y="34623"/>
                </a:lnTo>
                <a:lnTo>
                  <a:pt x="9868681" y="9292"/>
                </a:lnTo>
                <a:lnTo>
                  <a:pt x="9822688" y="0"/>
                </a:lnTo>
                <a:close/>
              </a:path>
            </a:pathLst>
          </a:custGeom>
          <a:solidFill>
            <a:srgbClr val="001E13">
              <a:alpha val="8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0"/>
          <p:cNvSpPr txBox="1"/>
          <p:nvPr/>
        </p:nvSpPr>
        <p:spPr>
          <a:xfrm>
            <a:off x="1307083" y="4561458"/>
            <a:ext cx="1968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E02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0"/>
          <p:cNvSpPr txBox="1"/>
          <p:nvPr/>
        </p:nvSpPr>
        <p:spPr>
          <a:xfrm>
            <a:off x="2026411" y="4424298"/>
            <a:ext cx="241998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Relacionamento com a Sociedade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0"/>
          <p:cNvSpPr txBox="1"/>
          <p:nvPr/>
        </p:nvSpPr>
        <p:spPr>
          <a:xfrm>
            <a:off x="5623940" y="4561458"/>
            <a:ext cx="3953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69 ativações em 7 estados da Amazônia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3" name="Google Shape;613;p30"/>
          <p:cNvSpPr/>
          <p:nvPr/>
        </p:nvSpPr>
        <p:spPr>
          <a:xfrm>
            <a:off x="1097280" y="5230367"/>
            <a:ext cx="9940925" cy="767715"/>
          </a:xfrm>
          <a:custGeom>
            <a:rect b="b" l="l" r="r" t="t"/>
            <a:pathLst>
              <a:path extrusionOk="0" h="767714" w="9940925">
                <a:moveTo>
                  <a:pt x="9822688" y="0"/>
                </a:moveTo>
                <a:lnTo>
                  <a:pt x="118109" y="0"/>
                </a:lnTo>
                <a:lnTo>
                  <a:pt x="72137" y="9274"/>
                </a:lnTo>
                <a:lnTo>
                  <a:pt x="34594" y="34575"/>
                </a:lnTo>
                <a:lnTo>
                  <a:pt x="9282" y="72116"/>
                </a:lnTo>
                <a:lnTo>
                  <a:pt x="0" y="118109"/>
                </a:lnTo>
                <a:lnTo>
                  <a:pt x="0" y="649554"/>
                </a:lnTo>
                <a:lnTo>
                  <a:pt x="9282" y="695526"/>
                </a:lnTo>
                <a:lnTo>
                  <a:pt x="34594" y="733069"/>
                </a:lnTo>
                <a:lnTo>
                  <a:pt x="72137" y="758382"/>
                </a:lnTo>
                <a:lnTo>
                  <a:pt x="118109" y="767664"/>
                </a:lnTo>
                <a:lnTo>
                  <a:pt x="9822688" y="767664"/>
                </a:lnTo>
                <a:lnTo>
                  <a:pt x="9868681" y="758382"/>
                </a:lnTo>
                <a:lnTo>
                  <a:pt x="9906222" y="733069"/>
                </a:lnTo>
                <a:lnTo>
                  <a:pt x="9931523" y="695526"/>
                </a:lnTo>
                <a:lnTo>
                  <a:pt x="9940798" y="649554"/>
                </a:lnTo>
                <a:lnTo>
                  <a:pt x="9940798" y="118109"/>
                </a:lnTo>
                <a:lnTo>
                  <a:pt x="9931523" y="72116"/>
                </a:lnTo>
                <a:lnTo>
                  <a:pt x="9906222" y="34575"/>
                </a:lnTo>
                <a:lnTo>
                  <a:pt x="9868681" y="9274"/>
                </a:lnTo>
                <a:lnTo>
                  <a:pt x="9822688" y="0"/>
                </a:lnTo>
                <a:close/>
              </a:path>
            </a:pathLst>
          </a:custGeom>
          <a:solidFill>
            <a:srgbClr val="001E13">
              <a:alpha val="8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0"/>
          <p:cNvSpPr txBox="1"/>
          <p:nvPr/>
        </p:nvSpPr>
        <p:spPr>
          <a:xfrm>
            <a:off x="1307073" y="5447475"/>
            <a:ext cx="2327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718820" lvl="0" marL="7315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02C"/>
              </a:buClr>
              <a:buSzPts val="1800"/>
              <a:buFont typeface="Arial"/>
              <a:buChar char="✓"/>
            </a:pPr>
            <a:r>
              <a:rPr b="1" lang="en-US" sz="1800">
                <a:solidFill>
                  <a:srgbClr val="E2FF6A"/>
                </a:solidFill>
                <a:latin typeface="Arial"/>
                <a:ea typeface="Arial"/>
                <a:cs typeface="Arial"/>
                <a:sym typeface="Arial"/>
              </a:rPr>
              <a:t>Reputação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0"/>
          <p:cNvSpPr txBox="1"/>
          <p:nvPr/>
        </p:nvSpPr>
        <p:spPr>
          <a:xfrm>
            <a:off x="5623940" y="5447487"/>
            <a:ext cx="40132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386 matérias · 100% sentimento positivo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6" name="Google Shape;616;p30"/>
          <p:cNvSpPr txBox="1"/>
          <p:nvPr/>
        </p:nvSpPr>
        <p:spPr>
          <a:xfrm>
            <a:off x="1035202" y="6266484"/>
            <a:ext cx="101225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A23"/>
                </a:solidFill>
                <a:latin typeface="Tahoma"/>
                <a:ea typeface="Tahoma"/>
                <a:cs typeface="Tahoma"/>
                <a:sym typeface="Tahoma"/>
              </a:rPr>
              <a:t>Comunicação integrada para fortalecer o desenvolvimento da Amazônia. | GEMAC · DIREX 15/06/2026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